
<file path=[Content_Types].xml><?xml version="1.0" encoding="utf-8"?>
<Types xmlns="http://schemas.openxmlformats.org/package/2006/content-types">
  <Default Extension="jpe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283" r:id="rId5"/>
    <p:sldId id="311" r:id="rId6"/>
    <p:sldId id="314" r:id="rId7"/>
    <p:sldId id="316" r:id="rId8"/>
    <p:sldId id="312" r:id="rId9"/>
    <p:sldId id="319" r:id="rId10"/>
    <p:sldId id="320" r:id="rId11"/>
    <p:sldId id="318" r:id="rId12"/>
    <p:sldId id="321" r:id="rId13"/>
    <p:sldId id="322" r:id="rId14"/>
    <p:sldId id="323" r:id="rId1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16/01/2026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16/01/2026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5417A419-8F44-8173-DEA7-C076DC8F7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835696" y="817014"/>
            <a:ext cx="5472608" cy="60696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804248" y="6287016"/>
            <a:ext cx="2146742" cy="369332"/>
          </a:xfrm>
          <a:prstGeom prst="rect">
            <a:avLst/>
          </a:prstGeom>
        </p:spPr>
        <p:txBody>
          <a:bodyPr wrap="none">
            <a:spAutoFit/>
          </a:bodyPr>
          <a:lstStyle/>
          <a:p>
            <a:pPr algn="ctr"/>
            <a:r>
              <a:rPr lang="fr-FR" i="1" dirty="0">
                <a:latin typeface="Angsana New" pitchFamily="18" charset="-34"/>
                <a:cs typeface="Angsana New" pitchFamily="18" charset="-34"/>
              </a:rPr>
              <a:t>Réalisé par M. Hamid </a:t>
            </a:r>
            <a:r>
              <a:rPr lang="fr-FR" i="1" dirty="0" err="1">
                <a:latin typeface="Angsana New" pitchFamily="18" charset="-34"/>
                <a:cs typeface="Angsana New" pitchFamily="18" charset="-34"/>
              </a:rPr>
              <a:t>Belyazidi</a:t>
            </a:r>
            <a:endParaRPr lang="fr-FR" i="1" dirty="0">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2055615" y="906593"/>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1692914" y="5840727"/>
            <a:ext cx="3277600"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Model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8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400" dirty="0">
                <a:solidFill>
                  <a:srgbClr val="C00000"/>
                </a:solidFill>
                <a:latin typeface="Times New Roman" panose="02020603050405020304" pitchFamily="18" charset="0"/>
                <a:cs typeface="Times New Roman" panose="02020603050405020304" pitchFamily="18" charset="0"/>
              </a:rPr>
              <a:t>Manipuler l’ORM Eloquent</a:t>
            </a:r>
            <a:endParaRPr lang="fr-FR" sz="2200" b="1" dirty="0">
              <a:solidFill>
                <a:srgbClr val="00B050"/>
              </a:solidFill>
              <a:latin typeface="Times New Roman" panose="02020603050405020304" pitchFamily="18" charset="0"/>
              <a:cs typeface="Times New Roman" panose="02020603050405020304" pitchFamily="18" charset="0"/>
            </a:endParaRPr>
          </a:p>
          <a:p>
            <a:pPr marL="685800" lvl="1" indent="-17145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Intérêt de l’Object </a:t>
            </a:r>
            <a:r>
              <a:rPr lang="fr-FR" sz="2200" dirty="0" err="1">
                <a:latin typeface="Times New Roman" panose="02020603050405020304" pitchFamily="18" charset="0"/>
                <a:cs typeface="Times New Roman" panose="02020603050405020304" pitchFamily="18" charset="0"/>
              </a:rPr>
              <a:t>Relational</a:t>
            </a:r>
            <a:r>
              <a:rPr lang="fr-FR" sz="2200" dirty="0">
                <a:latin typeface="Times New Roman" panose="02020603050405020304" pitchFamily="18" charset="0"/>
                <a:cs typeface="Times New Roman" panose="02020603050405020304" pitchFamily="18" charset="0"/>
              </a:rPr>
              <a:t> Mapper ORM Eloquent</a:t>
            </a:r>
          </a:p>
          <a:p>
            <a:pPr marL="685800" lvl="1" indent="-171450">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Manipulation des modèles (Génération, récupération, insertion, suppression…)</a:t>
            </a:r>
          </a:p>
          <a:p>
            <a:pPr marL="685800" lvl="1" indent="-17145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Relations Eloquent</a:t>
            </a:r>
          </a:p>
          <a:p>
            <a:pPr marL="685800" lvl="1" indent="-17145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collections</a:t>
            </a:r>
          </a:p>
          <a:p>
            <a:pPr marL="685800" lvl="1" indent="-17145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Transformation des valeurs d’attributs Eloquent (</a:t>
            </a:r>
            <a:r>
              <a:rPr lang="fr-FR" sz="2200" dirty="0" err="1">
                <a:latin typeface="Times New Roman" panose="02020603050405020304" pitchFamily="18" charset="0"/>
                <a:cs typeface="Times New Roman" panose="02020603050405020304" pitchFamily="18" charset="0"/>
              </a:rPr>
              <a:t>accessor</a:t>
            </a:r>
            <a:r>
              <a:rPr lang="fr-FR" sz="2200" dirty="0">
                <a:latin typeface="Times New Roman" panose="02020603050405020304" pitchFamily="18" charset="0"/>
                <a:cs typeface="Times New Roman" panose="02020603050405020304" pitchFamily="18" charset="0"/>
              </a:rPr>
              <a:t>, </a:t>
            </a:r>
            <a:r>
              <a:rPr lang="fr-FR" sz="2200" dirty="0" err="1">
                <a:latin typeface="Times New Roman" panose="02020603050405020304" pitchFamily="18" charset="0"/>
                <a:cs typeface="Times New Roman" panose="02020603050405020304" pitchFamily="18" charset="0"/>
              </a:rPr>
              <a:t>mutator</a:t>
            </a:r>
            <a:r>
              <a:rPr lang="fr-FR" sz="2200" dirty="0">
                <a:latin typeface="Times New Roman" panose="02020603050405020304" pitchFamily="18" charset="0"/>
                <a:cs typeface="Times New Roman" panose="02020603050405020304" pitchFamily="18" charset="0"/>
              </a:rPr>
              <a:t>, casting)</a:t>
            </a:r>
          </a:p>
          <a:p>
            <a:pPr marL="685800" lvl="1" indent="-17145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Sérialisation</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2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Manipulation des modèles </a:t>
            </a: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Introduction</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Une fois que vous avez terminé la migration de votre base de données, le processus suivant est l’amorçage(</a:t>
            </a:r>
            <a:r>
              <a:rPr lang="fr-FR" sz="2000" b="1" dirty="0" err="1">
                <a:solidFill>
                  <a:schemeClr val="tx1"/>
                </a:solidFill>
                <a:latin typeface="Times New Roman" panose="02020603050405020304" pitchFamily="18" charset="0"/>
                <a:cs typeface="Times New Roman" panose="02020603050405020304" pitchFamily="18" charset="0"/>
              </a:rPr>
              <a:t>seeding</a:t>
            </a:r>
            <a:r>
              <a:rPr lang="fr-FR" sz="2000" b="1" dirty="0">
                <a:solidFill>
                  <a:schemeClr val="tx1"/>
                </a:solidFill>
                <a:latin typeface="Times New Roman" panose="02020603050405020304" pitchFamily="18" charset="0"/>
                <a:cs typeface="Times New Roman" panose="02020603050405020304" pitchFamily="18" charset="0"/>
              </a:rPr>
              <a:t>)</a:t>
            </a:r>
            <a:r>
              <a:rPr lang="fr-FR" sz="20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L’éloquent entre en scène puisque l’amorçage insère des enregistrements dans notre base de données.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Vous devrez donc créer vos modèles avant de pouvoir amorcer la base de données.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Chaque table de base de données a un modèle correspondant qui est utilisé pour interagir avec cette table.</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Les modèles vous permettent de rechercher des données dans vos tables, ainsi que d’insérer de nouveaux enregistrements dans la table.</a:t>
            </a:r>
          </a:p>
        </p:txBody>
      </p:sp>
    </p:spTree>
    <p:extLst>
      <p:ext uri="{BB962C8B-B14F-4D97-AF65-F5344CB8AC3E}">
        <p14:creationId xmlns:p14="http://schemas.microsoft.com/office/powerpoint/2010/main" val="3010774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3"/>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2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200" dirty="0">
                <a:solidFill>
                  <a:srgbClr val="C00000"/>
                </a:solidFill>
                <a:latin typeface="Times New Roman" panose="02020603050405020304" pitchFamily="18" charset="0"/>
                <a:cs typeface="Times New Roman" panose="02020603050405020304" pitchFamily="18" charset="0"/>
              </a:rPr>
              <a:t>Définition</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L’ORM Eloquent inclus avec Laravel fournit un outil simple pour travailler avec la BD.</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A chaque table dans la BD doit correspondre un </a:t>
            </a:r>
            <a:r>
              <a:rPr lang="fr-FR" sz="2000" b="1" dirty="0">
                <a:solidFill>
                  <a:schemeClr val="tx1"/>
                </a:solidFill>
                <a:latin typeface="Times New Roman" panose="02020603050405020304" pitchFamily="18" charset="0"/>
                <a:cs typeface="Times New Roman" panose="02020603050405020304" pitchFamily="18" charset="0"/>
              </a:rPr>
              <a:t>Model</a:t>
            </a:r>
            <a:r>
              <a:rPr lang="fr-FR" sz="2000" dirty="0">
                <a:solidFill>
                  <a:schemeClr val="tx1"/>
                </a:solidFill>
                <a:latin typeface="Times New Roman" panose="02020603050405020304" pitchFamily="18" charset="0"/>
                <a:cs typeface="Times New Roman" panose="02020603050405020304" pitchFamily="18" charset="0"/>
              </a:rPr>
              <a:t> qui sera utilisé pour interagir avec la table.</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Construire  des modèles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 modèle créé est ajouté dans le dossier </a:t>
            </a:r>
            <a:r>
              <a:rPr lang="fr-FR" sz="2000" b="1" dirty="0">
                <a:solidFill>
                  <a:schemeClr val="tx1"/>
                </a:solidFill>
                <a:latin typeface="Times New Roman" panose="02020603050405020304" pitchFamily="18" charset="0"/>
                <a:cs typeface="Times New Roman" panose="02020603050405020304" pitchFamily="18" charset="0"/>
              </a:rPr>
              <a:t>app</a:t>
            </a:r>
            <a:r>
              <a:rPr lang="fr-FR" sz="2000" dirty="0">
                <a:solidFill>
                  <a:schemeClr val="tx1"/>
                </a:solidFill>
                <a:latin typeface="Times New Roman" panose="02020603050405020304" pitchFamily="18" charset="0"/>
                <a:cs typeface="Times New Roman" panose="02020603050405020304" pitchFamily="18" charset="0"/>
              </a:rPr>
              <a:t> de l’application Laravel. Il s’agit pour l’instant d’une classe sans méthodes ni propriétés propres qui hérite de la classe Model.</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Les modèles sont des classes qui héritent de la classe Model. Ils représentent les entités du site. Ils sont enregistrés dans le dossier app.</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B6FF3C52-61F7-4213-A760-E116570001B0}"/>
              </a:ext>
            </a:extLst>
          </p:cNvPr>
          <p:cNvSpPr/>
          <p:nvPr/>
        </p:nvSpPr>
        <p:spPr>
          <a:xfrm>
            <a:off x="971600" y="4437112"/>
            <a:ext cx="7416824" cy="50405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2000" dirty="0" err="1">
                <a:solidFill>
                  <a:srgbClr val="0070C0"/>
                </a:solidFill>
                <a:latin typeface="Source Code Pro"/>
              </a:rPr>
              <a:t>php</a:t>
            </a:r>
            <a:r>
              <a:rPr lang="fr-FR" sz="2000" dirty="0">
                <a:solidFill>
                  <a:srgbClr val="0070C0"/>
                </a:solidFill>
                <a:latin typeface="Source Code Pro"/>
              </a:rPr>
              <a:t> artisan </a:t>
            </a:r>
            <a:r>
              <a:rPr lang="fr-FR" sz="2000" dirty="0" err="1">
                <a:solidFill>
                  <a:srgbClr val="0070C0"/>
                </a:solidFill>
                <a:latin typeface="Source Code Pro"/>
              </a:rPr>
              <a:t>make:model</a:t>
            </a:r>
            <a:r>
              <a:rPr lang="fr-FR" sz="2000" dirty="0">
                <a:solidFill>
                  <a:srgbClr val="0070C0"/>
                </a:solidFill>
                <a:latin typeface="Source Code Pro"/>
              </a:rPr>
              <a:t> </a:t>
            </a:r>
            <a:r>
              <a:rPr lang="fr-FR" sz="2000" dirty="0" err="1">
                <a:solidFill>
                  <a:srgbClr val="00B050"/>
                </a:solidFill>
                <a:latin typeface="Source Code Pro"/>
              </a:rPr>
              <a:t>NomModel</a:t>
            </a:r>
            <a:endParaRPr lang="fr-FR" sz="2000" dirty="0">
              <a:solidFill>
                <a:srgbClr val="00B050"/>
              </a:solidFill>
              <a:latin typeface="Source Code Pro"/>
            </a:endParaRPr>
          </a:p>
        </p:txBody>
      </p:sp>
    </p:spTree>
    <p:extLst>
      <p:ext uri="{BB962C8B-B14F-4D97-AF65-F5344CB8AC3E}">
        <p14:creationId xmlns:p14="http://schemas.microsoft.com/office/powerpoint/2010/main" val="99983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2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2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Générer un nouveau modèle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Générer une migration de base de données lorsque vous générez le modèle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Générer un contrôleur lorsque vous générez le modèle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Générer une migration et un contrôleur lorsque vous générez le modèle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33A278A4-82A7-4F7C-878E-4108DEC5B827}"/>
              </a:ext>
            </a:extLst>
          </p:cNvPr>
          <p:cNvSpPr/>
          <p:nvPr/>
        </p:nvSpPr>
        <p:spPr>
          <a:xfrm>
            <a:off x="863588" y="2893268"/>
            <a:ext cx="7416824" cy="39171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make:model</a:t>
            </a:r>
            <a:r>
              <a:rPr lang="fr-FR" dirty="0">
                <a:solidFill>
                  <a:srgbClr val="0070C0"/>
                </a:solidFill>
                <a:latin typeface="Source Code Pro"/>
              </a:rPr>
              <a:t> </a:t>
            </a:r>
            <a:r>
              <a:rPr lang="fr-FR" dirty="0" err="1">
                <a:solidFill>
                  <a:srgbClr val="00B050"/>
                </a:solidFill>
                <a:latin typeface="Source Code Pro"/>
              </a:rPr>
              <a:t>NomModel</a:t>
            </a:r>
            <a:endParaRPr lang="fr-FR" dirty="0">
              <a:solidFill>
                <a:srgbClr val="00B050"/>
              </a:solidFill>
              <a:latin typeface="Source Code Pro"/>
            </a:endParaRPr>
          </a:p>
        </p:txBody>
      </p:sp>
      <p:sp>
        <p:nvSpPr>
          <p:cNvPr id="6" name="Rectangle : coins arrondis 5">
            <a:extLst>
              <a:ext uri="{FF2B5EF4-FFF2-40B4-BE49-F238E27FC236}">
                <a16:creationId xmlns:a16="http://schemas.microsoft.com/office/drawing/2014/main" id="{E4F5F237-90A4-495A-A799-350B03D24BF9}"/>
              </a:ext>
            </a:extLst>
          </p:cNvPr>
          <p:cNvSpPr/>
          <p:nvPr/>
        </p:nvSpPr>
        <p:spPr>
          <a:xfrm>
            <a:off x="863588" y="3597596"/>
            <a:ext cx="7416824" cy="73908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make:model</a:t>
            </a:r>
            <a:r>
              <a:rPr lang="fr-FR" dirty="0">
                <a:solidFill>
                  <a:srgbClr val="0070C0"/>
                </a:solidFill>
                <a:latin typeface="Source Code Pro"/>
              </a:rPr>
              <a:t> </a:t>
            </a:r>
            <a:r>
              <a:rPr lang="fr-FR" dirty="0" err="1">
                <a:solidFill>
                  <a:srgbClr val="00B050"/>
                </a:solidFill>
                <a:latin typeface="Source Code Pro"/>
              </a:rPr>
              <a:t>NomModel</a:t>
            </a:r>
            <a:r>
              <a:rPr lang="fr-FR" dirty="0">
                <a:solidFill>
                  <a:srgbClr val="00B050"/>
                </a:solidFill>
                <a:latin typeface="Source Code Pro"/>
              </a:rPr>
              <a:t> </a:t>
            </a:r>
            <a:r>
              <a:rPr lang="fr-FR" dirty="0">
                <a:solidFill>
                  <a:srgbClr val="C00000"/>
                </a:solidFill>
                <a:latin typeface="Source Code Pro"/>
              </a:rPr>
              <a:t>--migration</a:t>
            </a:r>
          </a:p>
          <a:p>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make:model</a:t>
            </a:r>
            <a:r>
              <a:rPr lang="fr-FR" dirty="0">
                <a:solidFill>
                  <a:srgbClr val="0070C0"/>
                </a:solidFill>
                <a:latin typeface="Source Code Pro"/>
              </a:rPr>
              <a:t> </a:t>
            </a:r>
            <a:r>
              <a:rPr lang="fr-FR" dirty="0" err="1">
                <a:solidFill>
                  <a:srgbClr val="00B050"/>
                </a:solidFill>
                <a:latin typeface="Source Code Pro"/>
              </a:rPr>
              <a:t>NomModel</a:t>
            </a:r>
            <a:r>
              <a:rPr lang="fr-FR" dirty="0">
                <a:solidFill>
                  <a:srgbClr val="00B050"/>
                </a:solidFill>
                <a:latin typeface="Source Code Pro"/>
              </a:rPr>
              <a:t> </a:t>
            </a:r>
            <a:r>
              <a:rPr lang="fr-FR" dirty="0">
                <a:solidFill>
                  <a:srgbClr val="C00000"/>
                </a:solidFill>
                <a:latin typeface="Source Code Pro"/>
              </a:rPr>
              <a:t>-m</a:t>
            </a:r>
          </a:p>
        </p:txBody>
      </p:sp>
      <p:sp>
        <p:nvSpPr>
          <p:cNvPr id="8" name="Rectangle : coins arrondis 7">
            <a:extLst>
              <a:ext uri="{FF2B5EF4-FFF2-40B4-BE49-F238E27FC236}">
                <a16:creationId xmlns:a16="http://schemas.microsoft.com/office/drawing/2014/main" id="{0B8415D9-66B4-4802-956C-26DD7B254B02}"/>
              </a:ext>
            </a:extLst>
          </p:cNvPr>
          <p:cNvSpPr/>
          <p:nvPr/>
        </p:nvSpPr>
        <p:spPr>
          <a:xfrm>
            <a:off x="863588" y="4799938"/>
            <a:ext cx="7416824" cy="64528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make:model</a:t>
            </a:r>
            <a:r>
              <a:rPr lang="fr-FR" dirty="0">
                <a:solidFill>
                  <a:srgbClr val="0070C0"/>
                </a:solidFill>
                <a:latin typeface="Source Code Pro"/>
              </a:rPr>
              <a:t> </a:t>
            </a:r>
            <a:r>
              <a:rPr lang="fr-FR" dirty="0" err="1">
                <a:solidFill>
                  <a:srgbClr val="00B050"/>
                </a:solidFill>
                <a:latin typeface="Source Code Pro"/>
              </a:rPr>
              <a:t>NomModel</a:t>
            </a:r>
            <a:r>
              <a:rPr lang="fr-FR" dirty="0">
                <a:solidFill>
                  <a:srgbClr val="00B050"/>
                </a:solidFill>
                <a:latin typeface="Source Code Pro"/>
              </a:rPr>
              <a:t> </a:t>
            </a:r>
            <a:r>
              <a:rPr lang="fr-FR" dirty="0">
                <a:solidFill>
                  <a:srgbClr val="C00000"/>
                </a:solidFill>
                <a:latin typeface="Source Code Pro"/>
              </a:rPr>
              <a:t>--</a:t>
            </a:r>
            <a:r>
              <a:rPr lang="fr-FR" dirty="0" err="1">
                <a:solidFill>
                  <a:srgbClr val="C00000"/>
                </a:solidFill>
                <a:latin typeface="Source Code Pro"/>
              </a:rPr>
              <a:t>controller</a:t>
            </a:r>
            <a:endParaRPr lang="fr-FR" dirty="0">
              <a:solidFill>
                <a:srgbClr val="C00000"/>
              </a:solidFill>
              <a:latin typeface="Source Code Pro"/>
            </a:endParaRPr>
          </a:p>
          <a:p>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make:model</a:t>
            </a:r>
            <a:r>
              <a:rPr lang="fr-FR" dirty="0">
                <a:solidFill>
                  <a:srgbClr val="0070C0"/>
                </a:solidFill>
                <a:latin typeface="Source Code Pro"/>
              </a:rPr>
              <a:t> </a:t>
            </a:r>
            <a:r>
              <a:rPr lang="fr-FR" dirty="0" err="1">
                <a:solidFill>
                  <a:srgbClr val="00B050"/>
                </a:solidFill>
                <a:latin typeface="Source Code Pro"/>
              </a:rPr>
              <a:t>NomModel</a:t>
            </a:r>
            <a:r>
              <a:rPr lang="fr-FR" dirty="0">
                <a:solidFill>
                  <a:srgbClr val="00B050"/>
                </a:solidFill>
                <a:latin typeface="Source Code Pro"/>
              </a:rPr>
              <a:t> </a:t>
            </a:r>
            <a:r>
              <a:rPr lang="fr-FR" dirty="0">
                <a:solidFill>
                  <a:srgbClr val="C00000"/>
                </a:solidFill>
                <a:latin typeface="Source Code Pro"/>
              </a:rPr>
              <a:t>-c</a:t>
            </a:r>
          </a:p>
        </p:txBody>
      </p:sp>
      <p:sp>
        <p:nvSpPr>
          <p:cNvPr id="9" name="Rectangle : coins arrondis 8">
            <a:extLst>
              <a:ext uri="{FF2B5EF4-FFF2-40B4-BE49-F238E27FC236}">
                <a16:creationId xmlns:a16="http://schemas.microsoft.com/office/drawing/2014/main" id="{6CEF5DC8-0682-44A6-9369-3BE1A4AF0920}"/>
              </a:ext>
            </a:extLst>
          </p:cNvPr>
          <p:cNvSpPr/>
          <p:nvPr/>
        </p:nvSpPr>
        <p:spPr>
          <a:xfrm>
            <a:off x="863588" y="5824070"/>
            <a:ext cx="7416824" cy="70127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err="1">
                <a:solidFill>
                  <a:srgbClr val="0070C0"/>
                </a:solidFill>
                <a:latin typeface="Source Code Pro"/>
              </a:rPr>
              <a:t>php</a:t>
            </a:r>
            <a:r>
              <a:rPr lang="fr-FR" sz="1600" dirty="0">
                <a:solidFill>
                  <a:srgbClr val="0070C0"/>
                </a:solidFill>
                <a:latin typeface="Source Code Pro"/>
              </a:rPr>
              <a:t> artisan </a:t>
            </a:r>
            <a:r>
              <a:rPr lang="fr-FR" sz="1600" dirty="0" err="1">
                <a:solidFill>
                  <a:srgbClr val="0070C0"/>
                </a:solidFill>
                <a:latin typeface="Source Code Pro"/>
              </a:rPr>
              <a:t>make:model</a:t>
            </a:r>
            <a:r>
              <a:rPr lang="fr-FR" sz="1600" dirty="0">
                <a:solidFill>
                  <a:srgbClr val="0070C0"/>
                </a:solidFill>
                <a:latin typeface="Source Code Pro"/>
              </a:rPr>
              <a:t> </a:t>
            </a:r>
            <a:r>
              <a:rPr lang="fr-FR" sz="1600" dirty="0" err="1">
                <a:solidFill>
                  <a:srgbClr val="00B050"/>
                </a:solidFill>
                <a:latin typeface="Source Code Pro"/>
              </a:rPr>
              <a:t>NomModel</a:t>
            </a:r>
            <a:r>
              <a:rPr lang="fr-FR" sz="1600" dirty="0">
                <a:solidFill>
                  <a:srgbClr val="00B050"/>
                </a:solidFill>
                <a:latin typeface="Source Code Pro"/>
              </a:rPr>
              <a:t> </a:t>
            </a:r>
            <a:r>
              <a:rPr lang="fr-FR" sz="1600" dirty="0">
                <a:solidFill>
                  <a:srgbClr val="C00000"/>
                </a:solidFill>
                <a:latin typeface="Source Code Pro"/>
              </a:rPr>
              <a:t>--migration --</a:t>
            </a:r>
            <a:r>
              <a:rPr lang="fr-FR" sz="1600" dirty="0" err="1">
                <a:solidFill>
                  <a:srgbClr val="C00000"/>
                </a:solidFill>
                <a:latin typeface="Source Code Pro"/>
              </a:rPr>
              <a:t>controller</a:t>
            </a:r>
            <a:r>
              <a:rPr lang="fr-FR" sz="1600" dirty="0">
                <a:solidFill>
                  <a:srgbClr val="C00000"/>
                </a:solidFill>
                <a:latin typeface="Source Code Pro"/>
              </a:rPr>
              <a:t> </a:t>
            </a:r>
          </a:p>
          <a:p>
            <a:r>
              <a:rPr lang="fr-FR" sz="1600" dirty="0" err="1">
                <a:solidFill>
                  <a:srgbClr val="0070C0"/>
                </a:solidFill>
                <a:latin typeface="Source Code Pro"/>
              </a:rPr>
              <a:t>php</a:t>
            </a:r>
            <a:r>
              <a:rPr lang="fr-FR" sz="1600" dirty="0">
                <a:solidFill>
                  <a:srgbClr val="0070C0"/>
                </a:solidFill>
                <a:latin typeface="Source Code Pro"/>
              </a:rPr>
              <a:t> artisan </a:t>
            </a:r>
            <a:r>
              <a:rPr lang="fr-FR" sz="1600" dirty="0" err="1">
                <a:solidFill>
                  <a:srgbClr val="0070C0"/>
                </a:solidFill>
                <a:latin typeface="Source Code Pro"/>
              </a:rPr>
              <a:t>make:model</a:t>
            </a:r>
            <a:r>
              <a:rPr lang="fr-FR" sz="1600" dirty="0">
                <a:solidFill>
                  <a:srgbClr val="0070C0"/>
                </a:solidFill>
                <a:latin typeface="Source Code Pro"/>
              </a:rPr>
              <a:t> </a:t>
            </a:r>
            <a:r>
              <a:rPr lang="fr-FR" sz="1600" dirty="0" err="1">
                <a:solidFill>
                  <a:srgbClr val="00B050"/>
                </a:solidFill>
                <a:latin typeface="Source Code Pro"/>
              </a:rPr>
              <a:t>NomModel</a:t>
            </a:r>
            <a:r>
              <a:rPr lang="fr-FR" sz="1600" dirty="0">
                <a:solidFill>
                  <a:srgbClr val="00B050"/>
                </a:solidFill>
                <a:latin typeface="Source Code Pro"/>
              </a:rPr>
              <a:t> </a:t>
            </a:r>
            <a:r>
              <a:rPr lang="fr-FR" sz="1600" dirty="0">
                <a:solidFill>
                  <a:srgbClr val="C00000"/>
                </a:solidFill>
                <a:latin typeface="Source Code Pro"/>
              </a:rPr>
              <a:t>-mc</a:t>
            </a:r>
          </a:p>
        </p:txBody>
      </p:sp>
    </p:spTree>
    <p:extLst>
      <p:ext uri="{BB962C8B-B14F-4D97-AF65-F5344CB8AC3E}">
        <p14:creationId xmlns:p14="http://schemas.microsoft.com/office/powerpoint/2010/main" val="1314942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1600" dirty="0">
                <a:solidFill>
                  <a:schemeClr val="tx1"/>
                </a:solidFill>
                <a:latin typeface="Times New Roman" panose="02020603050405020304" pitchFamily="18" charset="0"/>
                <a:cs typeface="Times New Roman" panose="02020603050405020304" pitchFamily="18" charset="0"/>
              </a:rPr>
              <a:t>Générer une migration et un contrôleur de type ressource lorsque vous générez le modèle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1600" dirty="0">
                <a:solidFill>
                  <a:schemeClr val="tx1"/>
                </a:solidFill>
                <a:latin typeface="Times New Roman" panose="02020603050405020304" pitchFamily="18" charset="0"/>
                <a:cs typeface="Times New Roman" panose="02020603050405020304" pitchFamily="18" charset="0"/>
              </a:rPr>
              <a:t>Générer divers autres types de classes lors de la génération d'un modèle</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9" name="Rectangle : coins arrondis 8">
            <a:extLst>
              <a:ext uri="{FF2B5EF4-FFF2-40B4-BE49-F238E27FC236}">
                <a16:creationId xmlns:a16="http://schemas.microsoft.com/office/drawing/2014/main" id="{6CEF5DC8-0682-44A6-9369-3BE1A4AF0920}"/>
              </a:ext>
            </a:extLst>
          </p:cNvPr>
          <p:cNvSpPr/>
          <p:nvPr/>
        </p:nvSpPr>
        <p:spPr>
          <a:xfrm>
            <a:off x="863588" y="2663625"/>
            <a:ext cx="7416824" cy="32617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err="1">
                <a:solidFill>
                  <a:srgbClr val="0070C0"/>
                </a:solidFill>
                <a:latin typeface="Source Code Pro"/>
              </a:rPr>
              <a:t>php</a:t>
            </a:r>
            <a:r>
              <a:rPr lang="fr-FR" sz="1600" dirty="0">
                <a:solidFill>
                  <a:srgbClr val="0070C0"/>
                </a:solidFill>
                <a:latin typeface="Source Code Pro"/>
              </a:rPr>
              <a:t> artisan </a:t>
            </a:r>
            <a:r>
              <a:rPr lang="fr-FR" sz="1600" dirty="0" err="1">
                <a:solidFill>
                  <a:srgbClr val="0070C0"/>
                </a:solidFill>
                <a:latin typeface="Source Code Pro"/>
              </a:rPr>
              <a:t>make:model</a:t>
            </a:r>
            <a:r>
              <a:rPr lang="fr-FR" sz="1600" dirty="0">
                <a:solidFill>
                  <a:srgbClr val="0070C0"/>
                </a:solidFill>
                <a:latin typeface="Source Code Pro"/>
              </a:rPr>
              <a:t> </a:t>
            </a:r>
            <a:r>
              <a:rPr lang="fr-FR" sz="1600" dirty="0" err="1">
                <a:solidFill>
                  <a:srgbClr val="00B050"/>
                </a:solidFill>
                <a:latin typeface="Source Code Pro"/>
              </a:rPr>
              <a:t>NomModel</a:t>
            </a:r>
            <a:r>
              <a:rPr lang="fr-FR" sz="1600" dirty="0">
                <a:solidFill>
                  <a:srgbClr val="00B050"/>
                </a:solidFill>
                <a:latin typeface="Source Code Pro"/>
              </a:rPr>
              <a:t> </a:t>
            </a:r>
            <a:r>
              <a:rPr lang="fr-FR" sz="1600" dirty="0">
                <a:solidFill>
                  <a:srgbClr val="C00000"/>
                </a:solidFill>
                <a:latin typeface="Source Code Pro"/>
              </a:rPr>
              <a:t>-</a:t>
            </a:r>
            <a:r>
              <a:rPr lang="fr-FR" sz="1600" dirty="0" err="1">
                <a:solidFill>
                  <a:srgbClr val="C00000"/>
                </a:solidFill>
                <a:latin typeface="Source Code Pro"/>
              </a:rPr>
              <a:t>mcr</a:t>
            </a:r>
            <a:endParaRPr lang="fr-FR" sz="1600" dirty="0">
              <a:solidFill>
                <a:srgbClr val="C00000"/>
              </a:solidFill>
              <a:latin typeface="Source Code Pro"/>
            </a:endParaRPr>
          </a:p>
        </p:txBody>
      </p:sp>
      <p:sp>
        <p:nvSpPr>
          <p:cNvPr id="6" name="Rectangle : coins arrondis 5">
            <a:extLst>
              <a:ext uri="{FF2B5EF4-FFF2-40B4-BE49-F238E27FC236}">
                <a16:creationId xmlns:a16="http://schemas.microsoft.com/office/drawing/2014/main" id="{131B3416-8623-48EF-8E3D-87B3A1E3F833}"/>
              </a:ext>
            </a:extLst>
          </p:cNvPr>
          <p:cNvSpPr/>
          <p:nvPr/>
        </p:nvSpPr>
        <p:spPr>
          <a:xfrm>
            <a:off x="611560" y="3284984"/>
            <a:ext cx="7920880" cy="338437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endParaRPr lang="en-US" sz="1600" dirty="0">
              <a:solidFill>
                <a:srgbClr val="0070C0"/>
              </a:solidFill>
              <a:latin typeface="Source Code Pro"/>
            </a:endParaRP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0070C0"/>
                </a:solidFill>
                <a:latin typeface="Source Code Pro"/>
              </a:rPr>
              <a:t> </a:t>
            </a:r>
            <a:r>
              <a:rPr lang="en-US" sz="1600" dirty="0">
                <a:solidFill>
                  <a:srgbClr val="C00000"/>
                </a:solidFill>
                <a:latin typeface="Source Code Pro"/>
              </a:rPr>
              <a:t>--factory</a:t>
            </a: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0070C0"/>
                </a:solidFill>
                <a:latin typeface="Source Code Pro"/>
              </a:rPr>
              <a:t> </a:t>
            </a:r>
            <a:r>
              <a:rPr lang="en-US" sz="1600" dirty="0">
                <a:solidFill>
                  <a:srgbClr val="C00000"/>
                </a:solidFill>
                <a:latin typeface="Source Code Pro"/>
              </a:rPr>
              <a:t>–f</a:t>
            </a:r>
          </a:p>
          <a:p>
            <a:endParaRPr lang="en-US" sz="1600" dirty="0">
              <a:solidFill>
                <a:srgbClr val="0070C0"/>
              </a:solidFill>
              <a:latin typeface="Source Code Pro"/>
            </a:endParaRP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00B050"/>
                </a:solidFill>
                <a:latin typeface="Source Code Pro"/>
              </a:rPr>
              <a:t> </a:t>
            </a:r>
            <a:r>
              <a:rPr lang="en-US" sz="1600" dirty="0">
                <a:solidFill>
                  <a:srgbClr val="C00000"/>
                </a:solidFill>
                <a:latin typeface="Source Code Pro"/>
              </a:rPr>
              <a:t>--seed</a:t>
            </a: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00B050"/>
                </a:solidFill>
                <a:latin typeface="Source Code Pro"/>
              </a:rPr>
              <a:t> </a:t>
            </a:r>
            <a:r>
              <a:rPr lang="en-US" sz="1600" dirty="0">
                <a:solidFill>
                  <a:srgbClr val="C00000"/>
                </a:solidFill>
                <a:latin typeface="Source Code Pro"/>
              </a:rPr>
              <a:t>–s</a:t>
            </a:r>
          </a:p>
          <a:p>
            <a:endParaRPr lang="en-US" sz="1600" dirty="0">
              <a:solidFill>
                <a:srgbClr val="C00000"/>
              </a:solidFill>
              <a:latin typeface="Source Code Pro"/>
            </a:endParaRP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C00000"/>
                </a:solidFill>
                <a:latin typeface="Source Code Pro"/>
              </a:rPr>
              <a:t> --controller --resource --requests</a:t>
            </a: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C00000"/>
                </a:solidFill>
                <a:latin typeface="Source Code Pro"/>
              </a:rPr>
              <a:t> –</a:t>
            </a:r>
            <a:r>
              <a:rPr lang="en-US" sz="1600" dirty="0" err="1">
                <a:solidFill>
                  <a:srgbClr val="C00000"/>
                </a:solidFill>
                <a:latin typeface="Source Code Pro"/>
              </a:rPr>
              <a:t>crR</a:t>
            </a:r>
            <a:endParaRPr lang="en-US" sz="1600" dirty="0">
              <a:solidFill>
                <a:srgbClr val="C00000"/>
              </a:solidFill>
              <a:latin typeface="Source Code Pro"/>
            </a:endParaRPr>
          </a:p>
          <a:p>
            <a:endParaRPr lang="en-US" sz="1600" dirty="0">
              <a:solidFill>
                <a:srgbClr val="C00000"/>
              </a:solidFill>
              <a:latin typeface="Source Code Pro"/>
            </a:endParaRP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C00000"/>
                </a:solidFill>
                <a:latin typeface="Source Code Pro"/>
              </a:rPr>
              <a:t> –policy</a:t>
            </a: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C00000"/>
                </a:solidFill>
                <a:latin typeface="Source Code Pro"/>
              </a:rPr>
              <a:t> –</a:t>
            </a:r>
            <a:r>
              <a:rPr lang="en-US" sz="1600" dirty="0" err="1">
                <a:solidFill>
                  <a:srgbClr val="C00000"/>
                </a:solidFill>
                <a:latin typeface="Source Code Pro"/>
              </a:rPr>
              <a:t>mfsc</a:t>
            </a:r>
            <a:endParaRPr lang="en-US" sz="1600" dirty="0">
              <a:solidFill>
                <a:srgbClr val="C00000"/>
              </a:solidFill>
              <a:latin typeface="Source Code Pro"/>
            </a:endParaRP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err="1">
                <a:solidFill>
                  <a:srgbClr val="00B050"/>
                </a:solidFill>
                <a:latin typeface="Source Code Pro"/>
              </a:rPr>
              <a:t>NomModel</a:t>
            </a:r>
            <a:r>
              <a:rPr lang="en-US" sz="1600" dirty="0">
                <a:solidFill>
                  <a:srgbClr val="C00000"/>
                </a:solidFill>
                <a:latin typeface="Source Code Pro"/>
              </a:rPr>
              <a:t> --all</a:t>
            </a:r>
          </a:p>
          <a:p>
            <a:r>
              <a:rPr lang="en-US" sz="1600" dirty="0">
                <a:solidFill>
                  <a:srgbClr val="0070C0"/>
                </a:solidFill>
                <a:latin typeface="Source Code Pro"/>
              </a:rPr>
              <a:t>php artisan </a:t>
            </a:r>
            <a:r>
              <a:rPr lang="en-US" sz="1600" dirty="0" err="1">
                <a:solidFill>
                  <a:srgbClr val="0070C0"/>
                </a:solidFill>
                <a:latin typeface="Source Code Pro"/>
              </a:rPr>
              <a:t>make:model</a:t>
            </a:r>
            <a:r>
              <a:rPr lang="en-US" sz="1600" dirty="0">
                <a:solidFill>
                  <a:srgbClr val="0070C0"/>
                </a:solidFill>
                <a:latin typeface="Source Code Pro"/>
              </a:rPr>
              <a:t> </a:t>
            </a:r>
            <a:r>
              <a:rPr lang="en-US" sz="1600" dirty="0">
                <a:solidFill>
                  <a:srgbClr val="00B050"/>
                </a:solidFill>
                <a:latin typeface="Source Code Pro"/>
              </a:rPr>
              <a:t>Member </a:t>
            </a:r>
            <a:r>
              <a:rPr lang="en-US" sz="1600" dirty="0">
                <a:solidFill>
                  <a:srgbClr val="C00000"/>
                </a:solidFill>
                <a:latin typeface="Source Code Pro"/>
              </a:rPr>
              <a:t>--pivot</a:t>
            </a:r>
          </a:p>
          <a:p>
            <a:endParaRPr lang="fr-FR" sz="1600" dirty="0">
              <a:solidFill>
                <a:srgbClr val="C00000"/>
              </a:solidFill>
              <a:latin typeface="Source Code Pro"/>
            </a:endParaRPr>
          </a:p>
        </p:txBody>
      </p:sp>
    </p:spTree>
    <p:extLst>
      <p:ext uri="{BB962C8B-B14F-4D97-AF65-F5344CB8AC3E}">
        <p14:creationId xmlns:p14="http://schemas.microsoft.com/office/powerpoint/2010/main" val="99779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marL="514350" indent="-514350">
              <a:buFont typeface="+mj-lt"/>
              <a:buAutoNum type="alphaUcPeriod" startAt="3"/>
            </a:pPr>
            <a:r>
              <a:rPr lang="fr-FR" sz="8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8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8000" dirty="0">
                <a:solidFill>
                  <a:srgbClr val="C00000"/>
                </a:solidFill>
                <a:latin typeface="Times New Roman" panose="02020603050405020304" pitchFamily="18" charset="0"/>
                <a:cs typeface="Times New Roman" panose="02020603050405020304" pitchFamily="18" charset="0"/>
              </a:rPr>
              <a:t>Manipuler l’ORM Eloquent</a:t>
            </a:r>
            <a:endParaRPr lang="fr-FR" sz="8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8000" b="1" dirty="0">
                <a:solidFill>
                  <a:srgbClr val="0070C0"/>
                </a:solidFill>
                <a:latin typeface="Times New Roman" panose="02020603050405020304" pitchFamily="18" charset="0"/>
                <a:cs typeface="Times New Roman" panose="02020603050405020304" pitchFamily="18" charset="0"/>
              </a:rPr>
              <a:t>Manipulation des modèles </a:t>
            </a:r>
            <a:endParaRPr lang="fr-FR" sz="8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8000" dirty="0">
                <a:solidFill>
                  <a:srgbClr val="C00000"/>
                </a:solidFill>
                <a:latin typeface="Times New Roman" panose="02020603050405020304" pitchFamily="18" charset="0"/>
                <a:cs typeface="Times New Roman" panose="02020603050405020304" pitchFamily="18" charset="0"/>
              </a:rPr>
              <a:t>Les conventions d'Eloquent pour les </a:t>
            </a:r>
            <a:r>
              <a:rPr lang="fr-FR" sz="8000" dirty="0" err="1">
                <a:solidFill>
                  <a:srgbClr val="C00000"/>
                </a:solidFill>
                <a:latin typeface="Times New Roman" panose="02020603050405020304" pitchFamily="18" charset="0"/>
                <a:cs typeface="Times New Roman" panose="02020603050405020304" pitchFamily="18" charset="0"/>
              </a:rPr>
              <a:t>Models</a:t>
            </a:r>
            <a:endParaRPr lang="fr-FR" sz="80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6400" b="1" dirty="0">
                <a:solidFill>
                  <a:schemeClr val="tx1"/>
                </a:solidFill>
                <a:latin typeface="Times New Roman" panose="02020603050405020304" pitchFamily="18" charset="0"/>
                <a:cs typeface="Times New Roman" panose="02020603050405020304" pitchFamily="18" charset="0"/>
              </a:rPr>
              <a:t>Nom de la table</a:t>
            </a:r>
          </a:p>
          <a:p>
            <a:pPr lvl="1" indent="-342900">
              <a:buFont typeface="Wingdings" panose="05000000000000000000" pitchFamily="2" charset="2"/>
              <a:buChar char="ü"/>
            </a:pPr>
            <a:r>
              <a:rPr lang="fr-FR" sz="6400" dirty="0">
                <a:solidFill>
                  <a:schemeClr val="tx1"/>
                </a:solidFill>
                <a:latin typeface="Times New Roman" panose="02020603050405020304" pitchFamily="18" charset="0"/>
                <a:cs typeface="Times New Roman" panose="02020603050405020304" pitchFamily="18" charset="0"/>
              </a:rPr>
              <a:t>Par convention le nom du Model est le singulier du nom de la table qui lui correspond dans la BD. Si le nom de la table est différent, il faut le spécifier dans le model : </a:t>
            </a:r>
          </a:p>
          <a:p>
            <a:pPr marL="400050" lvl="1" indent="0">
              <a:buNone/>
            </a:pPr>
            <a:endParaRPr lang="fr-FR" sz="64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6400" b="1" dirty="0">
                <a:solidFill>
                  <a:schemeClr val="tx1"/>
                </a:solidFill>
                <a:latin typeface="Times New Roman" panose="02020603050405020304" pitchFamily="18" charset="0"/>
                <a:cs typeface="Times New Roman" panose="02020603050405020304" pitchFamily="18" charset="0"/>
              </a:rPr>
              <a:t>Clé primaire</a:t>
            </a:r>
          </a:p>
          <a:p>
            <a:pPr lvl="1" indent="-342900">
              <a:buFont typeface="Wingdings" panose="05000000000000000000" pitchFamily="2" charset="2"/>
              <a:buChar char="ü"/>
            </a:pPr>
            <a:r>
              <a:rPr lang="fr-FR" sz="6400" dirty="0">
                <a:solidFill>
                  <a:schemeClr val="tx1"/>
                </a:solidFill>
                <a:latin typeface="Times New Roman" panose="02020603050405020304" pitchFamily="18" charset="0"/>
                <a:cs typeface="Times New Roman" panose="02020603050405020304" pitchFamily="18" charset="0"/>
              </a:rPr>
              <a:t>Eloquent suppose également que chaque table possède une colonne de clé primaire appelée </a:t>
            </a:r>
            <a:r>
              <a:rPr lang="fr-FR" sz="6400" b="1" dirty="0">
                <a:solidFill>
                  <a:schemeClr val="tx1"/>
                </a:solidFill>
                <a:latin typeface="Times New Roman" panose="02020603050405020304" pitchFamily="18" charset="0"/>
                <a:cs typeface="Times New Roman" panose="02020603050405020304" pitchFamily="18" charset="0"/>
              </a:rPr>
              <a:t>id</a:t>
            </a:r>
            <a:r>
              <a:rPr lang="fr-FR" sz="6400" dirty="0">
                <a:solidFill>
                  <a:schemeClr val="tx1"/>
                </a:solidFill>
                <a:latin typeface="Times New Roman" panose="02020603050405020304" pitchFamily="18" charset="0"/>
                <a:cs typeface="Times New Roman" panose="02020603050405020304" pitchFamily="18" charset="0"/>
              </a:rPr>
              <a:t>. Vous pouvez définir une propriété </a:t>
            </a:r>
            <a:r>
              <a:rPr lang="fr-FR" sz="6400" dirty="0">
                <a:solidFill>
                  <a:srgbClr val="C00000"/>
                </a:solidFill>
                <a:latin typeface="Times New Roman" panose="02020603050405020304" pitchFamily="18" charset="0"/>
                <a:cs typeface="Times New Roman" panose="02020603050405020304" pitchFamily="18" charset="0"/>
              </a:rPr>
              <a:t>$</a:t>
            </a:r>
            <a:r>
              <a:rPr lang="fr-FR" sz="6400" dirty="0" err="1">
                <a:solidFill>
                  <a:srgbClr val="C00000"/>
                </a:solidFill>
                <a:latin typeface="Times New Roman" panose="02020603050405020304" pitchFamily="18" charset="0"/>
                <a:cs typeface="Times New Roman" panose="02020603050405020304" pitchFamily="18" charset="0"/>
              </a:rPr>
              <a:t>primaryKey</a:t>
            </a:r>
            <a:r>
              <a:rPr lang="fr-FR" sz="6400" dirty="0">
                <a:solidFill>
                  <a:srgbClr val="C00000"/>
                </a:solidFill>
                <a:latin typeface="Times New Roman" panose="02020603050405020304" pitchFamily="18" charset="0"/>
                <a:cs typeface="Times New Roman" panose="02020603050405020304" pitchFamily="18" charset="0"/>
              </a:rPr>
              <a:t> </a:t>
            </a:r>
            <a:r>
              <a:rPr lang="fr-FR" sz="6400" dirty="0">
                <a:solidFill>
                  <a:schemeClr val="tx1"/>
                </a:solidFill>
                <a:latin typeface="Times New Roman" panose="02020603050405020304" pitchFamily="18" charset="0"/>
                <a:cs typeface="Times New Roman" panose="02020603050405020304" pitchFamily="18" charset="0"/>
              </a:rPr>
              <a:t>pour remplacer cette convention </a:t>
            </a:r>
            <a:r>
              <a:rPr lang="fr-FR" sz="6400" dirty="0">
                <a:solidFill>
                  <a:srgbClr val="C00000"/>
                </a:solidFill>
                <a:latin typeface="Times New Roman" panose="02020603050405020304" pitchFamily="18" charset="0"/>
                <a:cs typeface="Times New Roman" panose="02020603050405020304" pitchFamily="18" charset="0"/>
              </a:rPr>
              <a:t>:	</a:t>
            </a:r>
          </a:p>
          <a:p>
            <a:pPr marL="400050" lvl="1" indent="0">
              <a:buNone/>
            </a:pPr>
            <a:r>
              <a:rPr lang="fr-FR" sz="6400" dirty="0">
                <a:solidFill>
                  <a:srgbClr val="C00000"/>
                </a:solidFill>
                <a:latin typeface="Times New Roman" panose="02020603050405020304" pitchFamily="18" charset="0"/>
                <a:cs typeface="Times New Roman" panose="02020603050405020304" pitchFamily="18" charset="0"/>
              </a:rPr>
              <a:t>	</a:t>
            </a:r>
          </a:p>
          <a:p>
            <a:pPr lvl="1" indent="-342900">
              <a:buFont typeface="Wingdings" panose="05000000000000000000" pitchFamily="2" charset="2"/>
              <a:buChar char="ü"/>
            </a:pPr>
            <a:r>
              <a:rPr lang="fr-FR" sz="6400" dirty="0">
                <a:solidFill>
                  <a:schemeClr val="tx1"/>
                </a:solidFill>
                <a:latin typeface="Times New Roman" panose="02020603050405020304" pitchFamily="18" charset="0"/>
                <a:cs typeface="Times New Roman" panose="02020603050405020304" pitchFamily="18" charset="0"/>
              </a:rPr>
              <a:t>Eloquent suppose que la clé primaire est une valeur entière incrémentée, ce qui signifie que, par défaut, la clé primaire sera automatiquement convertie en </a:t>
            </a:r>
            <a:r>
              <a:rPr lang="fr-FR" sz="6400" dirty="0" err="1">
                <a:solidFill>
                  <a:srgbClr val="C00000"/>
                </a:solidFill>
                <a:latin typeface="Times New Roman" panose="02020603050405020304" pitchFamily="18" charset="0"/>
                <a:cs typeface="Times New Roman" panose="02020603050405020304" pitchFamily="18" charset="0"/>
              </a:rPr>
              <a:t>int</a:t>
            </a:r>
            <a:r>
              <a:rPr lang="fr-FR" sz="6400" dirty="0">
                <a:solidFill>
                  <a:srgbClr val="C00000"/>
                </a:solidFill>
                <a:latin typeface="Times New Roman" panose="02020603050405020304" pitchFamily="18" charset="0"/>
                <a:cs typeface="Times New Roman" panose="02020603050405020304" pitchFamily="18" charset="0"/>
              </a:rPr>
              <a:t>.</a:t>
            </a:r>
          </a:p>
          <a:p>
            <a:pPr lvl="1" indent="-342900">
              <a:buFont typeface="Wingdings" panose="05000000000000000000" pitchFamily="2" charset="2"/>
              <a:buChar char="ü"/>
            </a:pPr>
            <a:r>
              <a:rPr lang="fr-FR" sz="6400" dirty="0">
                <a:solidFill>
                  <a:schemeClr val="tx1"/>
                </a:solidFill>
                <a:latin typeface="Times New Roman" panose="02020603050405020304" pitchFamily="18" charset="0"/>
                <a:cs typeface="Times New Roman" panose="02020603050405020304" pitchFamily="18" charset="0"/>
              </a:rPr>
              <a:t>Si vous souhaitez utiliser une clé primaire non incrémentée ou non numérique, vous devez définir la propriété publique </a:t>
            </a:r>
            <a:r>
              <a:rPr lang="fr-FR" sz="6400" dirty="0">
                <a:solidFill>
                  <a:srgbClr val="C00000"/>
                </a:solidFill>
                <a:latin typeface="Times New Roman" panose="02020603050405020304" pitchFamily="18" charset="0"/>
                <a:cs typeface="Times New Roman" panose="02020603050405020304" pitchFamily="18" charset="0"/>
              </a:rPr>
              <a:t>$</a:t>
            </a:r>
            <a:r>
              <a:rPr lang="fr-FR" sz="6400" dirty="0" err="1">
                <a:solidFill>
                  <a:srgbClr val="C00000"/>
                </a:solidFill>
                <a:latin typeface="Times New Roman" panose="02020603050405020304" pitchFamily="18" charset="0"/>
                <a:cs typeface="Times New Roman" panose="02020603050405020304" pitchFamily="18" charset="0"/>
              </a:rPr>
              <a:t>incrementing</a:t>
            </a:r>
            <a:r>
              <a:rPr lang="fr-FR" sz="6400" dirty="0">
                <a:solidFill>
                  <a:srgbClr val="C00000"/>
                </a:solidFill>
                <a:latin typeface="Times New Roman" panose="02020603050405020304" pitchFamily="18" charset="0"/>
                <a:cs typeface="Times New Roman" panose="02020603050405020304" pitchFamily="18" charset="0"/>
              </a:rPr>
              <a:t> </a:t>
            </a:r>
            <a:r>
              <a:rPr lang="fr-FR" sz="6400" dirty="0">
                <a:solidFill>
                  <a:schemeClr val="tx1"/>
                </a:solidFill>
                <a:latin typeface="Times New Roman" panose="02020603050405020304" pitchFamily="18" charset="0"/>
                <a:cs typeface="Times New Roman" panose="02020603050405020304" pitchFamily="18" charset="0"/>
              </a:rPr>
              <a:t>sur votre modèle sur </a:t>
            </a:r>
            <a:r>
              <a:rPr lang="fr-FR" sz="6400" b="1" dirty="0">
                <a:solidFill>
                  <a:schemeClr val="tx1"/>
                </a:solidFill>
                <a:latin typeface="Times New Roman" panose="02020603050405020304" pitchFamily="18" charset="0"/>
                <a:cs typeface="Times New Roman" panose="02020603050405020304" pitchFamily="18" charset="0"/>
              </a:rPr>
              <a:t>false.</a:t>
            </a:r>
            <a:r>
              <a:rPr lang="fr-FR" sz="6400" dirty="0">
                <a:solidFill>
                  <a:schemeClr val="tx1"/>
                </a:solidFill>
                <a:latin typeface="Times New Roman" panose="02020603050405020304" pitchFamily="18" charset="0"/>
                <a:cs typeface="Times New Roman" panose="02020603050405020304" pitchFamily="18" charset="0"/>
              </a:rPr>
              <a:t> </a:t>
            </a:r>
          </a:p>
          <a:p>
            <a:pPr marL="400050" lvl="1" indent="0">
              <a:buNone/>
            </a:pPr>
            <a:endParaRPr lang="fr-FR" sz="6400" b="1" dirty="0">
              <a:solidFill>
                <a:srgbClr val="00B050"/>
              </a:solidFill>
              <a:latin typeface="Times New Roman" panose="02020603050405020304" pitchFamily="18" charset="0"/>
              <a:cs typeface="Times New Roman" panose="02020603050405020304" pitchFamily="18" charset="0"/>
            </a:endParaRPr>
          </a:p>
          <a:p>
            <a:pPr marL="400050" lvl="1" indent="0">
              <a:buNone/>
            </a:pPr>
            <a:r>
              <a:rPr lang="fr-FR" sz="6400" b="1" dirty="0">
                <a:solidFill>
                  <a:schemeClr val="tx1"/>
                </a:solidFill>
                <a:latin typeface="Times New Roman" panose="02020603050405020304" pitchFamily="18" charset="0"/>
                <a:cs typeface="Times New Roman" panose="02020603050405020304" pitchFamily="18" charset="0"/>
              </a:rPr>
              <a:t>Timestamps</a:t>
            </a:r>
          </a:p>
          <a:p>
            <a:pPr lvl="1" indent="-342900">
              <a:buFont typeface="Wingdings" panose="05000000000000000000" pitchFamily="2" charset="2"/>
              <a:buChar char="ü"/>
            </a:pPr>
            <a:r>
              <a:rPr lang="fr-FR" sz="6400" dirty="0">
                <a:solidFill>
                  <a:schemeClr val="tx1"/>
                </a:solidFill>
                <a:latin typeface="Times New Roman" panose="02020603050405020304" pitchFamily="18" charset="0"/>
                <a:cs typeface="Times New Roman" panose="02020603050405020304" pitchFamily="18" charset="0"/>
              </a:rPr>
              <a:t>Si vous ne souhaitez pas que </a:t>
            </a:r>
            <a:r>
              <a:rPr lang="en-US" sz="6400" dirty="0">
                <a:solidFill>
                  <a:schemeClr val="tx1"/>
                </a:solidFill>
                <a:latin typeface="Times New Roman" panose="02020603050405020304" pitchFamily="18" charset="0"/>
                <a:cs typeface="Times New Roman" panose="02020603050405020304" pitchFamily="18" charset="0"/>
              </a:rPr>
              <a:t>les </a:t>
            </a:r>
            <a:r>
              <a:rPr lang="en-US" sz="6400" dirty="0" err="1">
                <a:solidFill>
                  <a:schemeClr val="tx1"/>
                </a:solidFill>
                <a:latin typeface="Times New Roman" panose="02020603050405020304" pitchFamily="18" charset="0"/>
                <a:cs typeface="Times New Roman" panose="02020603050405020304" pitchFamily="18" charset="0"/>
              </a:rPr>
              <a:t>colonnes</a:t>
            </a:r>
            <a:r>
              <a:rPr lang="en-US" sz="6400" dirty="0">
                <a:solidFill>
                  <a:schemeClr val="tx1"/>
                </a:solidFill>
                <a:latin typeface="Times New Roman" panose="02020603050405020304" pitchFamily="18" charset="0"/>
                <a:cs typeface="Times New Roman" panose="02020603050405020304" pitchFamily="18" charset="0"/>
              </a:rPr>
              <a:t> </a:t>
            </a:r>
            <a:r>
              <a:rPr lang="en-US" sz="6400" dirty="0" err="1">
                <a:solidFill>
                  <a:srgbClr val="C00000"/>
                </a:solidFill>
                <a:latin typeface="Times New Roman" panose="02020603050405020304" pitchFamily="18" charset="0"/>
                <a:cs typeface="Times New Roman" panose="02020603050405020304" pitchFamily="18" charset="0"/>
              </a:rPr>
              <a:t>created_at</a:t>
            </a:r>
            <a:r>
              <a:rPr lang="en-US" sz="6400" dirty="0">
                <a:solidFill>
                  <a:srgbClr val="C00000"/>
                </a:solidFill>
                <a:latin typeface="Times New Roman" panose="02020603050405020304" pitchFamily="18" charset="0"/>
                <a:cs typeface="Times New Roman" panose="02020603050405020304" pitchFamily="18" charset="0"/>
              </a:rPr>
              <a:t> </a:t>
            </a:r>
            <a:r>
              <a:rPr lang="en-US" sz="6400" dirty="0">
                <a:solidFill>
                  <a:schemeClr val="tx1"/>
                </a:solidFill>
                <a:latin typeface="Times New Roman" panose="02020603050405020304" pitchFamily="18" charset="0"/>
                <a:cs typeface="Times New Roman" panose="02020603050405020304" pitchFamily="18" charset="0"/>
              </a:rPr>
              <a:t>et </a:t>
            </a:r>
            <a:r>
              <a:rPr lang="en-US" sz="6400" dirty="0" err="1">
                <a:solidFill>
                  <a:srgbClr val="C00000"/>
                </a:solidFill>
                <a:latin typeface="Times New Roman" panose="02020603050405020304" pitchFamily="18" charset="0"/>
                <a:cs typeface="Times New Roman" panose="02020603050405020304" pitchFamily="18" charset="0"/>
              </a:rPr>
              <a:t>updated_at</a:t>
            </a:r>
            <a:r>
              <a:rPr lang="en-US" sz="6400" dirty="0">
                <a:solidFill>
                  <a:schemeClr val="tx1"/>
                </a:solidFill>
                <a:latin typeface="Times New Roman" panose="02020603050405020304" pitchFamily="18" charset="0"/>
                <a:cs typeface="Times New Roman" panose="02020603050405020304" pitchFamily="18" charset="0"/>
              </a:rPr>
              <a:t> </a:t>
            </a:r>
            <a:r>
              <a:rPr lang="fr-FR" sz="6400" dirty="0">
                <a:solidFill>
                  <a:schemeClr val="tx1"/>
                </a:solidFill>
                <a:latin typeface="Times New Roman" panose="02020603050405020304" pitchFamily="18" charset="0"/>
                <a:cs typeface="Times New Roman" panose="02020603050405020304" pitchFamily="18" charset="0"/>
              </a:rPr>
              <a:t>soient gérées automatiquement par Eloquent, définissez la propriété </a:t>
            </a:r>
            <a:r>
              <a:rPr lang="fr-FR" sz="6400" dirty="0">
                <a:solidFill>
                  <a:srgbClr val="C00000"/>
                </a:solidFill>
                <a:latin typeface="Times New Roman" panose="02020603050405020304" pitchFamily="18" charset="0"/>
                <a:cs typeface="Times New Roman" panose="02020603050405020304" pitchFamily="18" charset="0"/>
              </a:rPr>
              <a:t>$timestamps </a:t>
            </a:r>
            <a:r>
              <a:rPr lang="fr-FR" sz="6400" dirty="0">
                <a:solidFill>
                  <a:schemeClr val="tx1"/>
                </a:solidFill>
                <a:latin typeface="Times New Roman" panose="02020603050405020304" pitchFamily="18" charset="0"/>
                <a:cs typeface="Times New Roman" panose="02020603050405020304" pitchFamily="18" charset="0"/>
              </a:rPr>
              <a:t>sur votre modèle sur </a:t>
            </a:r>
            <a:r>
              <a:rPr lang="fr-FR" sz="6400" b="1" dirty="0">
                <a:solidFill>
                  <a:schemeClr val="tx1"/>
                </a:solidFill>
                <a:latin typeface="Times New Roman" panose="02020603050405020304" pitchFamily="18" charset="0"/>
                <a:cs typeface="Times New Roman" panose="02020603050405020304" pitchFamily="18" charset="0"/>
              </a:rPr>
              <a:t>false:</a:t>
            </a:r>
            <a:r>
              <a:rPr lang="fr-FR" sz="6400" dirty="0">
                <a:solidFill>
                  <a:schemeClr val="tx1"/>
                </a:solidFill>
                <a:latin typeface="Times New Roman" panose="02020603050405020304" pitchFamily="18" charset="0"/>
                <a:cs typeface="Times New Roman" panose="02020603050405020304" pitchFamily="18" charset="0"/>
              </a:rPr>
              <a:t> </a:t>
            </a:r>
          </a:p>
          <a:p>
            <a:pPr marL="400050" lvl="1" indent="0">
              <a:buNone/>
            </a:pPr>
            <a:endParaRPr lang="fr-FR" sz="64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12" name="Rectangle : coins arrondis 11">
            <a:extLst>
              <a:ext uri="{FF2B5EF4-FFF2-40B4-BE49-F238E27FC236}">
                <a16:creationId xmlns:a16="http://schemas.microsoft.com/office/drawing/2014/main" id="{74DBAFA1-2FF6-45EC-884C-54F6D92D8BFD}"/>
              </a:ext>
            </a:extLst>
          </p:cNvPr>
          <p:cNvSpPr/>
          <p:nvPr/>
        </p:nvSpPr>
        <p:spPr>
          <a:xfrm>
            <a:off x="3021462" y="3200031"/>
            <a:ext cx="3960440" cy="37027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400050" lvl="1" indent="0" algn="ctr">
              <a:buNone/>
            </a:pPr>
            <a:r>
              <a:rPr lang="fr-FR" b="1" dirty="0" err="1">
                <a:solidFill>
                  <a:srgbClr val="0070C0"/>
                </a:solidFill>
                <a:latin typeface="Times New Roman" panose="02020603050405020304" pitchFamily="18" charset="0"/>
                <a:cs typeface="Times New Roman" panose="02020603050405020304" pitchFamily="18" charset="0"/>
              </a:rPr>
              <a:t>protected</a:t>
            </a:r>
            <a:r>
              <a:rPr lang="fr-FR" b="1" dirty="0">
                <a:solidFill>
                  <a:srgbClr val="C00000"/>
                </a:solidFill>
                <a:latin typeface="Times New Roman" panose="02020603050405020304" pitchFamily="18" charset="0"/>
                <a:cs typeface="Times New Roman" panose="02020603050405020304" pitchFamily="18" charset="0"/>
              </a:rPr>
              <a:t> $table = </a:t>
            </a:r>
            <a:r>
              <a:rPr lang="fr-FR" b="1" dirty="0">
                <a:solidFill>
                  <a:srgbClr val="00B050"/>
                </a:solidFill>
                <a:latin typeface="Times New Roman" panose="02020603050405020304" pitchFamily="18" charset="0"/>
                <a:cs typeface="Times New Roman" panose="02020603050405020304" pitchFamily="18" charset="0"/>
              </a:rPr>
              <a:t>'</a:t>
            </a:r>
            <a:r>
              <a:rPr lang="fr-FR" b="1" dirty="0" err="1">
                <a:solidFill>
                  <a:srgbClr val="00B050"/>
                </a:solidFill>
                <a:latin typeface="Times New Roman" panose="02020603050405020304" pitchFamily="18" charset="0"/>
                <a:cs typeface="Times New Roman" panose="02020603050405020304" pitchFamily="18" charset="0"/>
              </a:rPr>
              <a:t>my_clients</a:t>
            </a:r>
            <a:r>
              <a:rPr lang="fr-FR" b="1" dirty="0">
                <a:solidFill>
                  <a:srgbClr val="00B050"/>
                </a:solidFill>
                <a:latin typeface="Times New Roman" panose="02020603050405020304" pitchFamily="18" charset="0"/>
                <a:cs typeface="Times New Roman" panose="02020603050405020304" pitchFamily="18" charset="0"/>
              </a:rPr>
              <a:t>';</a:t>
            </a:r>
          </a:p>
        </p:txBody>
      </p:sp>
      <p:sp>
        <p:nvSpPr>
          <p:cNvPr id="13" name="Rectangle : coins arrondis 12">
            <a:extLst>
              <a:ext uri="{FF2B5EF4-FFF2-40B4-BE49-F238E27FC236}">
                <a16:creationId xmlns:a16="http://schemas.microsoft.com/office/drawing/2014/main" id="{98999A6F-70CE-4CC2-85FD-19C631C432A0}"/>
              </a:ext>
            </a:extLst>
          </p:cNvPr>
          <p:cNvSpPr/>
          <p:nvPr/>
        </p:nvSpPr>
        <p:spPr>
          <a:xfrm>
            <a:off x="3037663" y="4096490"/>
            <a:ext cx="3960440" cy="37027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400050" lvl="1" algn="ctr"/>
            <a:r>
              <a:rPr lang="fr-FR" dirty="0">
                <a:solidFill>
                  <a:srgbClr val="C00000"/>
                </a:solidFill>
                <a:latin typeface="Times New Roman" panose="02020603050405020304" pitchFamily="18" charset="0"/>
                <a:cs typeface="Times New Roman" panose="02020603050405020304" pitchFamily="18" charset="0"/>
              </a:rPr>
              <a:t> </a:t>
            </a:r>
            <a:r>
              <a:rPr lang="fr-FR" b="1" dirty="0" err="1">
                <a:solidFill>
                  <a:srgbClr val="0070C0"/>
                </a:solidFill>
                <a:latin typeface="Times New Roman" panose="02020603050405020304" pitchFamily="18" charset="0"/>
                <a:cs typeface="Times New Roman" panose="02020603050405020304" pitchFamily="18" charset="0"/>
              </a:rPr>
              <a:t>protected</a:t>
            </a:r>
            <a:r>
              <a:rPr lang="fr-FR" b="1" dirty="0">
                <a:solidFill>
                  <a:srgbClr val="C00000"/>
                </a:solidFill>
                <a:latin typeface="Times New Roman" panose="02020603050405020304" pitchFamily="18" charset="0"/>
                <a:cs typeface="Times New Roman" panose="02020603050405020304" pitchFamily="18" charset="0"/>
              </a:rPr>
              <a:t> $</a:t>
            </a:r>
            <a:r>
              <a:rPr lang="fr-FR" b="1" dirty="0" err="1">
                <a:solidFill>
                  <a:srgbClr val="C00000"/>
                </a:solidFill>
                <a:latin typeface="Times New Roman" panose="02020603050405020304" pitchFamily="18" charset="0"/>
                <a:cs typeface="Times New Roman" panose="02020603050405020304" pitchFamily="18" charset="0"/>
              </a:rPr>
              <a:t>primaryKey</a:t>
            </a:r>
            <a:r>
              <a:rPr lang="fr-FR" b="1" dirty="0">
                <a:solidFill>
                  <a:srgbClr val="C00000"/>
                </a:solidFill>
                <a:latin typeface="Times New Roman" panose="02020603050405020304" pitchFamily="18" charset="0"/>
                <a:cs typeface="Times New Roman" panose="02020603050405020304" pitchFamily="18" charset="0"/>
              </a:rPr>
              <a:t> = </a:t>
            </a:r>
            <a:r>
              <a:rPr lang="fr-FR" b="1" dirty="0">
                <a:solidFill>
                  <a:srgbClr val="00B050"/>
                </a:solidFill>
                <a:latin typeface="Times New Roman" panose="02020603050405020304" pitchFamily="18" charset="0"/>
                <a:cs typeface="Times New Roman" panose="02020603050405020304" pitchFamily="18" charset="0"/>
              </a:rPr>
              <a:t>‘</a:t>
            </a:r>
            <a:r>
              <a:rPr lang="fr-FR" b="1" dirty="0" err="1">
                <a:solidFill>
                  <a:srgbClr val="00B050"/>
                </a:solidFill>
                <a:latin typeface="Times New Roman" panose="02020603050405020304" pitchFamily="18" charset="0"/>
                <a:cs typeface="Times New Roman" panose="02020603050405020304" pitchFamily="18" charset="0"/>
              </a:rPr>
              <a:t>ncin</a:t>
            </a:r>
            <a:r>
              <a:rPr lang="fr-FR" b="1" dirty="0">
                <a:solidFill>
                  <a:srgbClr val="00B050"/>
                </a:solidFill>
                <a:latin typeface="Times New Roman" panose="02020603050405020304" pitchFamily="18" charset="0"/>
                <a:cs typeface="Times New Roman" panose="02020603050405020304" pitchFamily="18" charset="0"/>
              </a:rPr>
              <a:t>’ ;</a:t>
            </a:r>
          </a:p>
        </p:txBody>
      </p:sp>
      <p:sp>
        <p:nvSpPr>
          <p:cNvPr id="14" name="Rectangle : coins arrondis 13">
            <a:extLst>
              <a:ext uri="{FF2B5EF4-FFF2-40B4-BE49-F238E27FC236}">
                <a16:creationId xmlns:a16="http://schemas.microsoft.com/office/drawing/2014/main" id="{42158499-38E9-4CCA-A304-1159677FDC10}"/>
              </a:ext>
            </a:extLst>
          </p:cNvPr>
          <p:cNvSpPr/>
          <p:nvPr/>
        </p:nvSpPr>
        <p:spPr>
          <a:xfrm>
            <a:off x="3036488" y="5473033"/>
            <a:ext cx="3960440" cy="37027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400050" lvl="1" algn="ctr"/>
            <a:r>
              <a:rPr lang="fr-FR" b="1" dirty="0">
                <a:solidFill>
                  <a:srgbClr val="0070C0"/>
                </a:solidFill>
                <a:latin typeface="Times New Roman" panose="02020603050405020304" pitchFamily="18" charset="0"/>
                <a:cs typeface="Times New Roman" panose="02020603050405020304" pitchFamily="18" charset="0"/>
              </a:rPr>
              <a:t>public</a:t>
            </a:r>
            <a:r>
              <a:rPr lang="fr-FR" b="1" dirty="0">
                <a:solidFill>
                  <a:srgbClr val="C00000"/>
                </a:solidFill>
                <a:latin typeface="Times New Roman" panose="02020603050405020304" pitchFamily="18" charset="0"/>
                <a:cs typeface="Times New Roman" panose="02020603050405020304" pitchFamily="18" charset="0"/>
              </a:rPr>
              <a:t> $</a:t>
            </a:r>
            <a:r>
              <a:rPr lang="fr-FR" b="1" dirty="0" err="1">
                <a:solidFill>
                  <a:srgbClr val="C00000"/>
                </a:solidFill>
                <a:latin typeface="Times New Roman" panose="02020603050405020304" pitchFamily="18" charset="0"/>
                <a:cs typeface="Times New Roman" panose="02020603050405020304" pitchFamily="18" charset="0"/>
              </a:rPr>
              <a:t>incrementing</a:t>
            </a:r>
            <a:r>
              <a:rPr lang="fr-FR" b="1" dirty="0">
                <a:solidFill>
                  <a:srgbClr val="C00000"/>
                </a:solidFill>
                <a:latin typeface="Times New Roman" panose="02020603050405020304" pitchFamily="18" charset="0"/>
                <a:cs typeface="Times New Roman" panose="02020603050405020304" pitchFamily="18" charset="0"/>
              </a:rPr>
              <a:t> = </a:t>
            </a:r>
            <a:r>
              <a:rPr lang="fr-FR" b="1" dirty="0">
                <a:solidFill>
                  <a:srgbClr val="00B050"/>
                </a:solidFill>
                <a:latin typeface="Times New Roman" panose="02020603050405020304" pitchFamily="18" charset="0"/>
                <a:cs typeface="Times New Roman" panose="02020603050405020304" pitchFamily="18" charset="0"/>
              </a:rPr>
              <a:t>false ;</a:t>
            </a:r>
          </a:p>
        </p:txBody>
      </p:sp>
      <p:sp>
        <p:nvSpPr>
          <p:cNvPr id="15" name="Rectangle : coins arrondis 14">
            <a:extLst>
              <a:ext uri="{FF2B5EF4-FFF2-40B4-BE49-F238E27FC236}">
                <a16:creationId xmlns:a16="http://schemas.microsoft.com/office/drawing/2014/main" id="{C8380D16-AA85-49ED-8E75-4E571CF0082A}"/>
              </a:ext>
            </a:extLst>
          </p:cNvPr>
          <p:cNvSpPr/>
          <p:nvPr/>
        </p:nvSpPr>
        <p:spPr>
          <a:xfrm>
            <a:off x="3036488" y="6337361"/>
            <a:ext cx="3960440" cy="37027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400050" lvl="1" algn="ctr"/>
            <a:r>
              <a:rPr lang="fr-FR" b="1" dirty="0">
                <a:solidFill>
                  <a:srgbClr val="0070C0"/>
                </a:solidFill>
                <a:latin typeface="Times New Roman" panose="02020603050405020304" pitchFamily="18" charset="0"/>
                <a:cs typeface="Times New Roman" panose="02020603050405020304" pitchFamily="18" charset="0"/>
              </a:rPr>
              <a:t>public</a:t>
            </a:r>
            <a:r>
              <a:rPr lang="fr-FR" b="1" dirty="0">
                <a:solidFill>
                  <a:srgbClr val="C00000"/>
                </a:solidFill>
                <a:latin typeface="Times New Roman" panose="02020603050405020304" pitchFamily="18" charset="0"/>
                <a:cs typeface="Times New Roman" panose="02020603050405020304" pitchFamily="18" charset="0"/>
              </a:rPr>
              <a:t> $timestamps = </a:t>
            </a:r>
            <a:r>
              <a:rPr lang="fr-FR" b="1" dirty="0">
                <a:solidFill>
                  <a:srgbClr val="00B050"/>
                </a:solidFill>
                <a:latin typeface="Times New Roman" panose="02020603050405020304" pitchFamily="18" charset="0"/>
                <a:cs typeface="Times New Roman" panose="02020603050405020304" pitchFamily="18" charset="0"/>
              </a:rPr>
              <a:t>false;</a:t>
            </a:r>
          </a:p>
        </p:txBody>
      </p:sp>
    </p:spTree>
    <p:extLst>
      <p:ext uri="{BB962C8B-B14F-4D97-AF65-F5344CB8AC3E}">
        <p14:creationId xmlns:p14="http://schemas.microsoft.com/office/powerpoint/2010/main" val="3224560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Insertion et mise à jour de modèles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Génération  d’une migration et un contrôleur de type ressource avec le modèle :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Création de la route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Création d’un dossier stagiaires : </a:t>
            </a:r>
            <a:r>
              <a:rPr lang="fr-FR" sz="2000" b="1" dirty="0" err="1">
                <a:solidFill>
                  <a:schemeClr val="tx1"/>
                </a:solidFill>
                <a:latin typeface="Times New Roman" panose="02020603050405020304" pitchFamily="18" charset="0"/>
                <a:cs typeface="Times New Roman" panose="02020603050405020304" pitchFamily="18" charset="0"/>
              </a:rPr>
              <a:t>resources</a:t>
            </a:r>
            <a:r>
              <a:rPr lang="fr-FR" sz="2000" b="1" dirty="0">
                <a:solidFill>
                  <a:schemeClr val="tx1"/>
                </a:solidFill>
                <a:latin typeface="Times New Roman" panose="02020603050405020304" pitchFamily="18" charset="0"/>
                <a:cs typeface="Times New Roman" panose="02020603050405020304" pitchFamily="18" charset="0"/>
              </a:rPr>
              <a:t>\</a:t>
            </a:r>
            <a:r>
              <a:rPr lang="fr-FR" sz="2000" b="1" dirty="0" err="1">
                <a:solidFill>
                  <a:schemeClr val="tx1"/>
                </a:solidFill>
                <a:latin typeface="Times New Roman" panose="02020603050405020304" pitchFamily="18" charset="0"/>
                <a:cs typeface="Times New Roman" panose="02020603050405020304" pitchFamily="18" charset="0"/>
              </a:rPr>
              <a:t>views</a:t>
            </a:r>
            <a:r>
              <a:rPr lang="fr-FR" sz="2000" b="1" dirty="0">
                <a:solidFill>
                  <a:schemeClr val="tx1"/>
                </a:solidFill>
                <a:latin typeface="Times New Roman" panose="02020603050405020304" pitchFamily="18" charset="0"/>
                <a:cs typeface="Times New Roman" panose="02020603050405020304" pitchFamily="18" charset="0"/>
              </a:rPr>
              <a:t>\stagiaires</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Création des vues suivantes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4C7D3E1B-50EB-4B28-8F51-010569C044F7}"/>
              </a:ext>
            </a:extLst>
          </p:cNvPr>
          <p:cNvSpPr/>
          <p:nvPr/>
        </p:nvSpPr>
        <p:spPr>
          <a:xfrm>
            <a:off x="2195736" y="3151909"/>
            <a:ext cx="5328592" cy="55418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err="1">
                <a:solidFill>
                  <a:srgbClr val="0070C0"/>
                </a:solidFill>
                <a:latin typeface="Source Code Pro"/>
              </a:rPr>
              <a:t>php</a:t>
            </a:r>
            <a:r>
              <a:rPr lang="fr-FR" dirty="0">
                <a:solidFill>
                  <a:srgbClr val="0070C0"/>
                </a:solidFill>
                <a:latin typeface="Source Code Pro"/>
              </a:rPr>
              <a:t> artisan </a:t>
            </a:r>
            <a:r>
              <a:rPr lang="fr-FR" dirty="0" err="1">
                <a:solidFill>
                  <a:srgbClr val="0070C0"/>
                </a:solidFill>
                <a:latin typeface="Source Code Pro"/>
              </a:rPr>
              <a:t>make:model</a:t>
            </a:r>
            <a:r>
              <a:rPr lang="fr-FR" dirty="0">
                <a:solidFill>
                  <a:srgbClr val="0070C0"/>
                </a:solidFill>
                <a:latin typeface="Source Code Pro"/>
              </a:rPr>
              <a:t> </a:t>
            </a:r>
            <a:r>
              <a:rPr lang="fr-FR" dirty="0">
                <a:solidFill>
                  <a:srgbClr val="00B050"/>
                </a:solidFill>
                <a:latin typeface="Source Code Pro"/>
              </a:rPr>
              <a:t>Stagiaire </a:t>
            </a:r>
            <a:r>
              <a:rPr lang="fr-FR" dirty="0">
                <a:solidFill>
                  <a:srgbClr val="C00000"/>
                </a:solidFill>
                <a:latin typeface="Source Code Pro"/>
              </a:rPr>
              <a:t>-</a:t>
            </a:r>
            <a:r>
              <a:rPr lang="fr-FR" dirty="0" err="1">
                <a:solidFill>
                  <a:srgbClr val="C00000"/>
                </a:solidFill>
                <a:latin typeface="Source Code Pro"/>
              </a:rPr>
              <a:t>mcr</a:t>
            </a:r>
            <a:endParaRPr lang="fr-FR" dirty="0">
              <a:solidFill>
                <a:srgbClr val="C00000"/>
              </a:solidFill>
              <a:latin typeface="Source Code Pro"/>
            </a:endParaRPr>
          </a:p>
        </p:txBody>
      </p:sp>
      <p:sp>
        <p:nvSpPr>
          <p:cNvPr id="7" name="Rectangle : coins arrondis 6">
            <a:extLst>
              <a:ext uri="{FF2B5EF4-FFF2-40B4-BE49-F238E27FC236}">
                <a16:creationId xmlns:a16="http://schemas.microsoft.com/office/drawing/2014/main" id="{650EB566-56B0-46B7-B704-7F86323498A4}"/>
              </a:ext>
            </a:extLst>
          </p:cNvPr>
          <p:cNvSpPr/>
          <p:nvPr/>
        </p:nvSpPr>
        <p:spPr>
          <a:xfrm>
            <a:off x="963964" y="4148652"/>
            <a:ext cx="7488832" cy="55418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b="1" dirty="0">
                <a:solidFill>
                  <a:srgbClr val="7A3E9D"/>
                </a:solidFill>
                <a:latin typeface="Consolas" panose="020B0609020204030204" pitchFamily="49" charset="0"/>
              </a:rPr>
              <a:t>Route</a:t>
            </a:r>
            <a:r>
              <a:rPr lang="fr-FR" dirty="0">
                <a:solidFill>
                  <a:srgbClr val="777777"/>
                </a:solidFill>
                <a:latin typeface="Consolas" panose="020B0609020204030204" pitchFamily="49" charset="0"/>
              </a:rPr>
              <a:t>::</a:t>
            </a:r>
            <a:r>
              <a:rPr lang="fr-FR" b="1" dirty="0" err="1">
                <a:solidFill>
                  <a:srgbClr val="AA3731"/>
                </a:solidFill>
                <a:latin typeface="Consolas" panose="020B0609020204030204" pitchFamily="49" charset="0"/>
              </a:rPr>
              <a:t>resource</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stagiaires</a:t>
            </a:r>
            <a:r>
              <a:rPr lang="fr-FR" dirty="0">
                <a:solidFill>
                  <a:srgbClr val="777777"/>
                </a:solidFill>
                <a:latin typeface="Consolas" panose="020B0609020204030204" pitchFamily="49" charset="0"/>
              </a:rPr>
              <a:t>',</a:t>
            </a:r>
            <a:r>
              <a:rPr lang="fr-FR" b="1" dirty="0" err="1">
                <a:solidFill>
                  <a:srgbClr val="7A3E9D"/>
                </a:solidFill>
                <a:latin typeface="Consolas" panose="020B0609020204030204" pitchFamily="49" charset="0"/>
              </a:rPr>
              <a:t>StagiaireController</a:t>
            </a:r>
            <a:r>
              <a:rPr lang="fr-FR" dirty="0">
                <a:solidFill>
                  <a:srgbClr val="777777"/>
                </a:solidFill>
                <a:latin typeface="Consolas" panose="020B0609020204030204" pitchFamily="49" charset="0"/>
              </a:rPr>
              <a:t>::</a:t>
            </a:r>
            <a:r>
              <a:rPr lang="fr-FR" dirty="0">
                <a:solidFill>
                  <a:srgbClr val="4B69C6"/>
                </a:solidFill>
                <a:latin typeface="Consolas" panose="020B0609020204030204" pitchFamily="49" charset="0"/>
              </a:rPr>
              <a:t>class</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p:txBody>
      </p:sp>
      <p:sp>
        <p:nvSpPr>
          <p:cNvPr id="8" name="Rectangle : coins arrondis 7">
            <a:extLst>
              <a:ext uri="{FF2B5EF4-FFF2-40B4-BE49-F238E27FC236}">
                <a16:creationId xmlns:a16="http://schemas.microsoft.com/office/drawing/2014/main" id="{0A35BF24-8A15-405E-A644-360B92DE9EA1}"/>
              </a:ext>
            </a:extLst>
          </p:cNvPr>
          <p:cNvSpPr/>
          <p:nvPr/>
        </p:nvSpPr>
        <p:spPr>
          <a:xfrm>
            <a:off x="4211960" y="5356769"/>
            <a:ext cx="4104456" cy="89777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FR" dirty="0" err="1">
                <a:solidFill>
                  <a:srgbClr val="0070C0"/>
                </a:solidFill>
                <a:latin typeface="Source Code Pro"/>
              </a:rPr>
              <a:t>create.blade.php</a:t>
            </a:r>
            <a:endParaRPr lang="fr-FR" dirty="0">
              <a:solidFill>
                <a:srgbClr val="0070C0"/>
              </a:solidFill>
              <a:latin typeface="Source Code Pro"/>
            </a:endParaRPr>
          </a:p>
          <a:p>
            <a:pPr algn="ctr"/>
            <a:r>
              <a:rPr lang="fr-FR" dirty="0" err="1">
                <a:solidFill>
                  <a:srgbClr val="0070C0"/>
                </a:solidFill>
                <a:latin typeface="Source Code Pro"/>
              </a:rPr>
              <a:t>edit.blade.php</a:t>
            </a:r>
            <a:endParaRPr lang="fr-FR" dirty="0">
              <a:solidFill>
                <a:srgbClr val="0070C0"/>
              </a:solidFill>
              <a:latin typeface="Source Code Pro"/>
            </a:endParaRPr>
          </a:p>
          <a:p>
            <a:pPr algn="ctr"/>
            <a:r>
              <a:rPr lang="fr-FR" dirty="0" err="1">
                <a:solidFill>
                  <a:srgbClr val="0070C0"/>
                </a:solidFill>
                <a:latin typeface="Source Code Pro"/>
              </a:rPr>
              <a:t>index.blade.php</a:t>
            </a:r>
            <a:endParaRPr lang="fr-FR" dirty="0">
              <a:solidFill>
                <a:srgbClr val="C00000"/>
              </a:solidFill>
              <a:latin typeface="Source Code Pro"/>
            </a:endParaRPr>
          </a:p>
        </p:txBody>
      </p:sp>
    </p:spTree>
    <p:extLst>
      <p:ext uri="{BB962C8B-B14F-4D97-AF65-F5344CB8AC3E}">
        <p14:creationId xmlns:p14="http://schemas.microsoft.com/office/powerpoint/2010/main" val="3003129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Insertion et mise à jour de modèles</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la vue </a:t>
            </a:r>
            <a:r>
              <a:rPr lang="fr-FR" sz="2000" dirty="0">
                <a:solidFill>
                  <a:srgbClr val="C00000"/>
                </a:solidFill>
                <a:latin typeface="Times New Roman" panose="02020603050405020304" pitchFamily="18" charset="0"/>
                <a:cs typeface="Times New Roman" panose="02020603050405020304" pitchFamily="18" charset="0"/>
              </a:rPr>
              <a:t>: </a:t>
            </a:r>
            <a:r>
              <a:rPr lang="fr-FR" sz="2000" dirty="0" err="1">
                <a:solidFill>
                  <a:srgbClr val="00B050"/>
                </a:solidFill>
                <a:latin typeface="Times New Roman" panose="02020603050405020304" pitchFamily="18" charset="0"/>
                <a:cs typeface="Times New Roman" panose="02020603050405020304" pitchFamily="18" charset="0"/>
              </a:rPr>
              <a:t>create.blade.php</a:t>
            </a:r>
            <a:endParaRPr lang="fr-FR" sz="2000" dirty="0">
              <a:solidFill>
                <a:srgbClr val="00B050"/>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12" name="Rectangle : coins arrondis 11">
            <a:extLst>
              <a:ext uri="{FF2B5EF4-FFF2-40B4-BE49-F238E27FC236}">
                <a16:creationId xmlns:a16="http://schemas.microsoft.com/office/drawing/2014/main" id="{74DBAFA1-2FF6-45EC-884C-54F6D92D8BFD}"/>
              </a:ext>
            </a:extLst>
          </p:cNvPr>
          <p:cNvSpPr/>
          <p:nvPr/>
        </p:nvSpPr>
        <p:spPr>
          <a:xfrm>
            <a:off x="629562" y="3284984"/>
            <a:ext cx="7884876" cy="230425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sz="1600" dirty="0">
                <a:solidFill>
                  <a:srgbClr val="4B69C6"/>
                </a:solidFill>
                <a:latin typeface="Consolas" panose="020B0609020204030204" pitchFamily="49" charset="0"/>
              </a:rPr>
              <a:t>h1</a:t>
            </a:r>
            <a:r>
              <a:rPr lang="fr-FR" sz="1600" dirty="0">
                <a:solidFill>
                  <a:srgbClr val="91B3E0"/>
                </a:solidFill>
                <a:latin typeface="Consolas" panose="020B0609020204030204" pitchFamily="49" charset="0"/>
              </a:rPr>
              <a:t>&gt;</a:t>
            </a:r>
            <a:r>
              <a:rPr lang="fr-FR" sz="1600" dirty="0">
                <a:solidFill>
                  <a:srgbClr val="333333"/>
                </a:solidFill>
                <a:latin typeface="Consolas" panose="020B0609020204030204" pitchFamily="49" charset="0"/>
              </a:rPr>
              <a:t>Fiche Stagiaire:</a:t>
            </a:r>
            <a:r>
              <a:rPr lang="fr-FR" sz="1600" dirty="0">
                <a:solidFill>
                  <a:srgbClr val="91B3E0"/>
                </a:solidFill>
                <a:latin typeface="Consolas" panose="020B0609020204030204" pitchFamily="49" charset="0"/>
              </a:rPr>
              <a:t>&lt;/</a:t>
            </a:r>
            <a:r>
              <a:rPr lang="fr-FR" sz="1600" dirty="0">
                <a:solidFill>
                  <a:srgbClr val="4B69C6"/>
                </a:solidFill>
                <a:latin typeface="Consolas" panose="020B0609020204030204" pitchFamily="49" charset="0"/>
              </a:rPr>
              <a:t>h1</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a:p>
            <a:r>
              <a:rPr lang="fr-FR" sz="1600" dirty="0">
                <a:solidFill>
                  <a:srgbClr val="91B3E0"/>
                </a:solidFill>
                <a:latin typeface="Consolas" panose="020B0609020204030204" pitchFamily="49" charset="0"/>
              </a:rPr>
              <a:t>&lt;</a:t>
            </a:r>
            <a:r>
              <a:rPr lang="fr-FR" sz="1600" dirty="0" err="1">
                <a:solidFill>
                  <a:srgbClr val="4B69C6"/>
                </a:solidFill>
                <a:latin typeface="Consolas" panose="020B0609020204030204" pitchFamily="49" charset="0"/>
              </a:rPr>
              <a:t>form</a:t>
            </a:r>
            <a:r>
              <a:rPr lang="fr-FR" sz="1600" dirty="0">
                <a:solidFill>
                  <a:srgbClr val="91B3E0"/>
                </a:solidFill>
                <a:latin typeface="Consolas" panose="020B0609020204030204" pitchFamily="49" charset="0"/>
              </a:rPr>
              <a:t> </a:t>
            </a:r>
            <a:r>
              <a:rPr lang="fr-FR" sz="1600" i="1" dirty="0">
                <a:solidFill>
                  <a:srgbClr val="8190A0"/>
                </a:solidFill>
                <a:latin typeface="Consolas" panose="020B0609020204030204" pitchFamily="49" charset="0"/>
              </a:rPr>
              <a:t>action</a:t>
            </a:r>
            <a:r>
              <a:rPr lang="fr-FR" sz="1600" dirty="0">
                <a:solidFill>
                  <a:srgbClr val="777777"/>
                </a:solidFill>
                <a:latin typeface="Consolas" panose="020B0609020204030204" pitchFamily="49" charset="0"/>
              </a:rPr>
              <a:t>="</a:t>
            </a:r>
            <a:r>
              <a:rPr lang="fr-FR" sz="1600" b="1" dirty="0">
                <a:solidFill>
                  <a:srgbClr val="AA3731"/>
                </a:solidFill>
                <a:latin typeface="Consolas" panose="020B0609020204030204" pitchFamily="49" charset="0"/>
              </a:rPr>
              <a:t>{{</a:t>
            </a:r>
            <a:r>
              <a:rPr lang="fr-FR" sz="1600" dirty="0">
                <a:solidFill>
                  <a:srgbClr val="448C27"/>
                </a:solidFill>
                <a:latin typeface="Consolas" panose="020B0609020204030204" pitchFamily="49" charset="0"/>
              </a:rPr>
              <a:t> </a:t>
            </a:r>
            <a:r>
              <a:rPr lang="fr-FR" sz="1600" b="1" dirty="0">
                <a:solidFill>
                  <a:srgbClr val="AA3731"/>
                </a:solidFill>
                <a:latin typeface="Consolas" panose="020B0609020204030204" pitchFamily="49" charset="0"/>
              </a:rPr>
              <a:t>route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stagiaires.store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 </a:t>
            </a:r>
            <a:r>
              <a:rPr lang="fr-FR" sz="1600" b="1" dirty="0">
                <a:solidFill>
                  <a:srgbClr val="AA3731"/>
                </a:solidFill>
                <a:latin typeface="Consolas" panose="020B0609020204030204" pitchFamily="49" charset="0"/>
              </a:rPr>
              <a:t>}}</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 </a:t>
            </a:r>
            <a:r>
              <a:rPr lang="fr-FR" sz="1600" i="1" dirty="0" err="1">
                <a:solidFill>
                  <a:srgbClr val="8190A0"/>
                </a:solidFill>
                <a:latin typeface="Consolas" panose="020B0609020204030204" pitchFamily="49" charset="0"/>
              </a:rPr>
              <a:t>method</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POST</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4B69C6"/>
                </a:solidFill>
                <a:latin typeface="Consolas" panose="020B0609020204030204" pitchFamily="49" charset="0"/>
              </a:rPr>
              <a:t>@</a:t>
            </a:r>
            <a:r>
              <a:rPr lang="fr-FR" sz="1600" dirty="0" err="1">
                <a:solidFill>
                  <a:srgbClr val="4B69C6"/>
                </a:solidFill>
                <a:latin typeface="Consolas" panose="020B0609020204030204" pitchFamily="49" charset="0"/>
              </a:rPr>
              <a:t>csrf</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Nom Stagiaire :</a:t>
            </a:r>
            <a:r>
              <a:rPr lang="fr-FR" sz="1600" dirty="0">
                <a:solidFill>
                  <a:srgbClr val="91B3E0"/>
                </a:solidFill>
                <a:latin typeface="Consolas" panose="020B0609020204030204" pitchFamily="49" charset="0"/>
              </a:rPr>
              <a:t>&lt;</a:t>
            </a:r>
            <a:r>
              <a:rPr lang="fr-FR" sz="1600" dirty="0">
                <a:solidFill>
                  <a:srgbClr val="4B69C6"/>
                </a:solidFill>
                <a:latin typeface="Consolas" panose="020B0609020204030204" pitchFamily="49" charset="0"/>
              </a:rPr>
              <a:t>input</a:t>
            </a:r>
            <a:r>
              <a:rPr lang="fr-FR" sz="1600" dirty="0">
                <a:solidFill>
                  <a:srgbClr val="91B3E0"/>
                </a:solidFill>
                <a:latin typeface="Consolas" panose="020B0609020204030204" pitchFamily="49" charset="0"/>
              </a:rPr>
              <a:t> </a:t>
            </a:r>
            <a:r>
              <a:rPr lang="fr-FR" sz="1600" i="1" dirty="0">
                <a:solidFill>
                  <a:srgbClr val="8190A0"/>
                </a:solidFill>
                <a:latin typeface="Consolas" panose="020B0609020204030204" pitchFamily="49" charset="0"/>
              </a:rPr>
              <a:t>type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text</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 </a:t>
            </a:r>
            <a:r>
              <a:rPr lang="fr-FR" sz="1600" i="1" dirty="0" err="1">
                <a:solidFill>
                  <a:srgbClr val="8190A0"/>
                </a:solidFill>
                <a:latin typeface="Consolas" panose="020B0609020204030204" pitchFamily="49" charset="0"/>
              </a:rPr>
              <a:t>name</a:t>
            </a:r>
            <a:r>
              <a:rPr lang="fr-FR" sz="1600" dirty="0">
                <a:solidFill>
                  <a:srgbClr val="777777"/>
                </a:solidFill>
                <a:latin typeface="Consolas" panose="020B0609020204030204" pitchFamily="49" charset="0"/>
              </a:rPr>
              <a:t>="</a:t>
            </a:r>
            <a:r>
              <a:rPr lang="fr-FR" sz="1600" dirty="0">
                <a:solidFill>
                  <a:srgbClr val="448C27"/>
                </a:solidFill>
                <a:latin typeface="Consolas" panose="020B0609020204030204" pitchFamily="49" charset="0"/>
              </a:rPr>
              <a:t>nom</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&gt;&lt;</a:t>
            </a:r>
            <a:r>
              <a:rPr lang="fr-FR" sz="1600" dirty="0" err="1">
                <a:solidFill>
                  <a:srgbClr val="4B69C6"/>
                </a:solidFill>
                <a:latin typeface="Consolas" panose="020B0609020204030204" pitchFamily="49" charset="0"/>
              </a:rPr>
              <a:t>br</a:t>
            </a:r>
            <a:r>
              <a:rPr lang="fr-FR" sz="1600" dirty="0">
                <a:solidFill>
                  <a:srgbClr val="91B3E0"/>
                </a:solidFill>
                <a:latin typeface="Consolas" panose="020B0609020204030204" pitchFamily="49" charset="0"/>
              </a:rPr>
              <a:t>&gt;&lt;</a:t>
            </a:r>
            <a:r>
              <a:rPr lang="fr-FR" sz="1600" dirty="0" err="1">
                <a:solidFill>
                  <a:srgbClr val="4B69C6"/>
                </a:solidFill>
                <a:latin typeface="Consolas" panose="020B0609020204030204" pitchFamily="49" charset="0"/>
              </a:rPr>
              <a:t>br</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Prénom Stagiaire :</a:t>
            </a:r>
            <a:r>
              <a:rPr lang="fr-FR" sz="1600" dirty="0">
                <a:solidFill>
                  <a:srgbClr val="91B3E0"/>
                </a:solidFill>
                <a:latin typeface="Consolas" panose="020B0609020204030204" pitchFamily="49" charset="0"/>
              </a:rPr>
              <a:t>&lt;</a:t>
            </a:r>
            <a:r>
              <a:rPr lang="fr-FR" sz="1600" dirty="0">
                <a:solidFill>
                  <a:srgbClr val="4B69C6"/>
                </a:solidFill>
                <a:latin typeface="Consolas" panose="020B0609020204030204" pitchFamily="49" charset="0"/>
              </a:rPr>
              <a:t>input</a:t>
            </a:r>
            <a:r>
              <a:rPr lang="fr-FR" sz="1600" dirty="0">
                <a:solidFill>
                  <a:srgbClr val="91B3E0"/>
                </a:solidFill>
                <a:latin typeface="Consolas" panose="020B0609020204030204" pitchFamily="49" charset="0"/>
              </a:rPr>
              <a:t> </a:t>
            </a:r>
            <a:r>
              <a:rPr lang="fr-FR" sz="1600" i="1" dirty="0">
                <a:solidFill>
                  <a:srgbClr val="8190A0"/>
                </a:solidFill>
                <a:latin typeface="Consolas" panose="020B0609020204030204" pitchFamily="49" charset="0"/>
              </a:rPr>
              <a:t>type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text</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 </a:t>
            </a:r>
            <a:r>
              <a:rPr lang="fr-FR" sz="1600" i="1" dirty="0" err="1">
                <a:solidFill>
                  <a:srgbClr val="8190A0"/>
                </a:solidFill>
                <a:latin typeface="Consolas" panose="020B0609020204030204" pitchFamily="49" charset="0"/>
              </a:rPr>
              <a:t>name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prenom</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&gt;&lt;</a:t>
            </a:r>
            <a:r>
              <a:rPr lang="fr-FR" sz="1600" dirty="0" err="1">
                <a:solidFill>
                  <a:srgbClr val="4B69C6"/>
                </a:solidFill>
                <a:latin typeface="Consolas" panose="020B0609020204030204" pitchFamily="49" charset="0"/>
              </a:rPr>
              <a:t>br</a:t>
            </a:r>
            <a:r>
              <a:rPr lang="fr-FR" sz="1600" dirty="0">
                <a:solidFill>
                  <a:srgbClr val="91B3E0"/>
                </a:solidFill>
                <a:latin typeface="Consolas" panose="020B0609020204030204" pitchFamily="49" charset="0"/>
              </a:rPr>
              <a:t>&gt;&lt;</a:t>
            </a:r>
            <a:r>
              <a:rPr lang="fr-FR" sz="1600" dirty="0" err="1">
                <a:solidFill>
                  <a:srgbClr val="4B69C6"/>
                </a:solidFill>
                <a:latin typeface="Consolas" panose="020B0609020204030204" pitchFamily="49" charset="0"/>
              </a:rPr>
              <a:t>br</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Age Stagiaire :</a:t>
            </a:r>
            <a:r>
              <a:rPr lang="fr-FR" sz="1600" dirty="0">
                <a:solidFill>
                  <a:srgbClr val="91B3E0"/>
                </a:solidFill>
                <a:latin typeface="Consolas" panose="020B0609020204030204" pitchFamily="49" charset="0"/>
              </a:rPr>
              <a:t>&lt;</a:t>
            </a:r>
            <a:r>
              <a:rPr lang="fr-FR" sz="1600" dirty="0">
                <a:solidFill>
                  <a:srgbClr val="4B69C6"/>
                </a:solidFill>
                <a:latin typeface="Consolas" panose="020B0609020204030204" pitchFamily="49" charset="0"/>
              </a:rPr>
              <a:t>input</a:t>
            </a:r>
            <a:r>
              <a:rPr lang="fr-FR" sz="1600" dirty="0">
                <a:solidFill>
                  <a:srgbClr val="91B3E0"/>
                </a:solidFill>
                <a:latin typeface="Consolas" panose="020B0609020204030204" pitchFamily="49" charset="0"/>
              </a:rPr>
              <a:t> </a:t>
            </a:r>
            <a:r>
              <a:rPr lang="fr-FR" sz="1600" i="1" dirty="0">
                <a:solidFill>
                  <a:srgbClr val="8190A0"/>
                </a:solidFill>
                <a:latin typeface="Consolas" panose="020B0609020204030204" pitchFamily="49" charset="0"/>
              </a:rPr>
              <a:t>type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text</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 </a:t>
            </a:r>
            <a:r>
              <a:rPr lang="fr-FR" sz="1600" i="1" dirty="0" err="1">
                <a:solidFill>
                  <a:srgbClr val="8190A0"/>
                </a:solidFill>
                <a:latin typeface="Consolas" panose="020B0609020204030204" pitchFamily="49" charset="0"/>
              </a:rPr>
              <a:t>name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age</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&gt;&lt;</a:t>
            </a:r>
            <a:r>
              <a:rPr lang="fr-FR" sz="1600" dirty="0" err="1">
                <a:solidFill>
                  <a:srgbClr val="4B69C6"/>
                </a:solidFill>
                <a:latin typeface="Consolas" panose="020B0609020204030204" pitchFamily="49" charset="0"/>
              </a:rPr>
              <a:t>br</a:t>
            </a:r>
            <a:r>
              <a:rPr lang="fr-FR" sz="1600" dirty="0">
                <a:solidFill>
                  <a:srgbClr val="91B3E0"/>
                </a:solidFill>
                <a:latin typeface="Consolas" panose="020B0609020204030204" pitchFamily="49" charset="0"/>
              </a:rPr>
              <a:t>&gt;&lt;</a:t>
            </a:r>
            <a:r>
              <a:rPr lang="fr-FR" sz="1600" dirty="0" err="1">
                <a:solidFill>
                  <a:srgbClr val="4B69C6"/>
                </a:solidFill>
                <a:latin typeface="Consolas" panose="020B0609020204030204" pitchFamily="49" charset="0"/>
              </a:rPr>
              <a:t>br</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a:p>
            <a:r>
              <a:rPr lang="fr-FR" sz="1600" dirty="0">
                <a:solidFill>
                  <a:srgbClr val="333333"/>
                </a:solidFill>
                <a:latin typeface="Consolas" panose="020B0609020204030204" pitchFamily="49" charset="0"/>
              </a:rPr>
              <a:t>    </a:t>
            </a:r>
            <a:r>
              <a:rPr lang="fr-FR" sz="1600" dirty="0">
                <a:solidFill>
                  <a:srgbClr val="91B3E0"/>
                </a:solidFill>
                <a:latin typeface="Consolas" panose="020B0609020204030204" pitchFamily="49" charset="0"/>
              </a:rPr>
              <a:t>&lt;</a:t>
            </a:r>
            <a:r>
              <a:rPr lang="fr-FR" sz="1600" dirty="0" err="1">
                <a:solidFill>
                  <a:srgbClr val="4B69C6"/>
                </a:solidFill>
                <a:latin typeface="Consolas" panose="020B0609020204030204" pitchFamily="49" charset="0"/>
              </a:rPr>
              <a:t>button</a:t>
            </a:r>
            <a:r>
              <a:rPr lang="fr-FR" sz="1600" dirty="0">
                <a:solidFill>
                  <a:srgbClr val="91B3E0"/>
                </a:solidFill>
                <a:latin typeface="Consolas" panose="020B0609020204030204" pitchFamily="49" charset="0"/>
              </a:rPr>
              <a:t> </a:t>
            </a:r>
            <a:r>
              <a:rPr lang="fr-FR" sz="1600" i="1" dirty="0">
                <a:solidFill>
                  <a:srgbClr val="8190A0"/>
                </a:solidFill>
                <a:latin typeface="Consolas" panose="020B0609020204030204" pitchFamily="49" charset="0"/>
              </a:rPr>
              <a:t>type</a:t>
            </a:r>
            <a:r>
              <a:rPr lang="fr-FR" sz="1600" dirty="0">
                <a:solidFill>
                  <a:srgbClr val="777777"/>
                </a:solidFill>
                <a:latin typeface="Consolas" panose="020B0609020204030204" pitchFamily="49" charset="0"/>
              </a:rPr>
              <a:t>="</a:t>
            </a:r>
            <a:r>
              <a:rPr lang="fr-FR" sz="1600" dirty="0" err="1">
                <a:solidFill>
                  <a:srgbClr val="448C27"/>
                </a:solidFill>
                <a:latin typeface="Consolas" panose="020B0609020204030204" pitchFamily="49" charset="0"/>
              </a:rPr>
              <a:t>submit</a:t>
            </a:r>
            <a:r>
              <a:rPr lang="fr-FR" sz="1600" dirty="0">
                <a:solidFill>
                  <a:srgbClr val="777777"/>
                </a:solidFill>
                <a:latin typeface="Consolas" panose="020B0609020204030204" pitchFamily="49" charset="0"/>
              </a:rPr>
              <a:t>"</a:t>
            </a:r>
            <a:r>
              <a:rPr lang="fr-FR" sz="1600" dirty="0">
                <a:solidFill>
                  <a:srgbClr val="91B3E0"/>
                </a:solidFill>
                <a:latin typeface="Consolas" panose="020B0609020204030204" pitchFamily="49" charset="0"/>
              </a:rPr>
              <a:t>&gt;</a:t>
            </a:r>
            <a:r>
              <a:rPr lang="fr-FR" sz="1600" dirty="0">
                <a:solidFill>
                  <a:srgbClr val="333333"/>
                </a:solidFill>
                <a:latin typeface="Consolas" panose="020B0609020204030204" pitchFamily="49" charset="0"/>
              </a:rPr>
              <a:t>Ajouter</a:t>
            </a:r>
            <a:r>
              <a:rPr lang="fr-FR" sz="1600" dirty="0">
                <a:solidFill>
                  <a:srgbClr val="91B3E0"/>
                </a:solidFill>
                <a:latin typeface="Consolas" panose="020B0609020204030204" pitchFamily="49" charset="0"/>
              </a:rPr>
              <a:t>&lt;/</a:t>
            </a:r>
            <a:r>
              <a:rPr lang="fr-FR" sz="1600" dirty="0" err="1">
                <a:solidFill>
                  <a:srgbClr val="4B69C6"/>
                </a:solidFill>
                <a:latin typeface="Consolas" panose="020B0609020204030204" pitchFamily="49" charset="0"/>
              </a:rPr>
              <a:t>button</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a:p>
            <a:r>
              <a:rPr lang="fr-FR" sz="1600" dirty="0">
                <a:solidFill>
                  <a:srgbClr val="91B3E0"/>
                </a:solidFill>
                <a:latin typeface="Consolas" panose="020B0609020204030204" pitchFamily="49" charset="0"/>
              </a:rPr>
              <a:t>&lt;/</a:t>
            </a:r>
            <a:r>
              <a:rPr lang="fr-FR" sz="1600" dirty="0" err="1">
                <a:solidFill>
                  <a:srgbClr val="4B69C6"/>
                </a:solidFill>
                <a:latin typeface="Consolas" panose="020B0609020204030204" pitchFamily="49" charset="0"/>
              </a:rPr>
              <a:t>form</a:t>
            </a:r>
            <a:r>
              <a:rPr lang="fr-FR" sz="1600" dirty="0">
                <a:solidFill>
                  <a:srgbClr val="91B3E0"/>
                </a:solidFill>
                <a:latin typeface="Consolas" panose="020B0609020204030204" pitchFamily="49" charset="0"/>
              </a:rPr>
              <a:t>&gt;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1456455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Insertion et mise à jour de modèles</a:t>
            </a:r>
          </a:p>
          <a:p>
            <a:pPr marL="400050" lvl="1" indent="0">
              <a:buNone/>
            </a:pPr>
            <a:r>
              <a:rPr lang="fr-FR" sz="2000" b="1" dirty="0">
                <a:solidFill>
                  <a:prstClr val="black"/>
                </a:solidFill>
                <a:latin typeface="Times New Roman" panose="02020603050405020304" pitchFamily="18" charset="0"/>
                <a:cs typeface="Times New Roman" panose="02020603050405020304" pitchFamily="18" charset="0"/>
              </a:rPr>
              <a:t>1 </a:t>
            </a:r>
            <a:r>
              <a:rPr lang="fr-FR" sz="2000" b="1" baseline="30000" dirty="0">
                <a:solidFill>
                  <a:prstClr val="black"/>
                </a:solidFill>
                <a:latin typeface="Times New Roman" panose="02020603050405020304" pitchFamily="18" charset="0"/>
                <a:cs typeface="Times New Roman" panose="02020603050405020304" pitchFamily="18" charset="0"/>
              </a:rPr>
              <a:t>ère</a:t>
            </a:r>
            <a:r>
              <a:rPr lang="fr-FR" sz="2000" b="1" dirty="0">
                <a:solidFill>
                  <a:prstClr val="black"/>
                </a:solidFill>
                <a:latin typeface="Times New Roman" panose="02020603050405020304" pitchFamily="18" charset="0"/>
                <a:cs typeface="Times New Roman" panose="02020603050405020304" pitchFamily="18" charset="0"/>
              </a:rPr>
              <a:t> Méthode (POO): </a:t>
            </a:r>
            <a:r>
              <a:rPr lang="fr-FR" sz="2000" b="1" dirty="0" err="1">
                <a:solidFill>
                  <a:srgbClr val="C00000"/>
                </a:solidFill>
                <a:latin typeface="Times New Roman" panose="02020603050405020304" pitchFamily="18" charset="0"/>
                <a:cs typeface="Times New Roman" panose="02020603050405020304" pitchFamily="18" charset="0"/>
              </a:rPr>
              <a:t>save</a:t>
            </a:r>
            <a:r>
              <a:rPr lang="fr-FR" sz="2000" b="1" dirty="0">
                <a:solidFill>
                  <a:srgbClr val="C00000"/>
                </a:solidFill>
                <a:latin typeface="Times New Roman" panose="02020603050405020304" pitchFamily="18" charset="0"/>
                <a:cs typeface="Times New Roman" panose="02020603050405020304" pitchFamily="18" charset="0"/>
              </a:rPr>
              <a:t>()</a:t>
            </a:r>
            <a:endParaRPr lang="fr-FR" sz="20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Pour insérer un nouvel enregistrement dans la base de données, vous devez instancier une nouvelle instance de modèle et définir des attributs sur le modèle. Ensuite, appelez la méthode </a:t>
            </a:r>
            <a:r>
              <a:rPr lang="fr-FR" sz="2000" b="1" dirty="0" err="1">
                <a:solidFill>
                  <a:srgbClr val="C00000"/>
                </a:solidFill>
                <a:latin typeface="Times New Roman" panose="02020603050405020304" pitchFamily="18" charset="0"/>
                <a:cs typeface="Times New Roman" panose="02020603050405020304" pitchFamily="18" charset="0"/>
              </a:rPr>
              <a:t>save</a:t>
            </a:r>
            <a:r>
              <a:rPr lang="fr-FR" sz="2000" b="1" dirty="0">
                <a:solidFill>
                  <a:srgbClr val="C00000"/>
                </a:solidFill>
                <a:latin typeface="Times New Roman" panose="02020603050405020304" pitchFamily="18" charset="0"/>
                <a:cs typeface="Times New Roman" panose="02020603050405020304" pitchFamily="18" charset="0"/>
              </a:rPr>
              <a:t>() </a:t>
            </a:r>
            <a:r>
              <a:rPr lang="fr-FR" sz="2000" dirty="0">
                <a:solidFill>
                  <a:schemeClr val="tx1"/>
                </a:solidFill>
                <a:latin typeface="Times New Roman" panose="02020603050405020304" pitchFamily="18" charset="0"/>
                <a:cs typeface="Times New Roman" panose="02020603050405020304" pitchFamily="18" charset="0"/>
              </a:rPr>
              <a:t>sur l'instance de modèle :</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64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12" name="Rectangle : coins arrondis 11">
            <a:extLst>
              <a:ext uri="{FF2B5EF4-FFF2-40B4-BE49-F238E27FC236}">
                <a16:creationId xmlns:a16="http://schemas.microsoft.com/office/drawing/2014/main" id="{74DBAFA1-2FF6-45EC-884C-54F6D92D8BFD}"/>
              </a:ext>
            </a:extLst>
          </p:cNvPr>
          <p:cNvSpPr/>
          <p:nvPr/>
        </p:nvSpPr>
        <p:spPr>
          <a:xfrm>
            <a:off x="647564" y="4127882"/>
            <a:ext cx="7848872" cy="249838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4B69C6"/>
                </a:solidFill>
                <a:latin typeface="Consolas" panose="020B0609020204030204" pitchFamily="49" charset="0"/>
              </a:rPr>
              <a:t>public</a:t>
            </a:r>
            <a:r>
              <a:rPr lang="fr-FR" dirty="0">
                <a:solidFill>
                  <a:srgbClr val="333333"/>
                </a:solidFill>
                <a:latin typeface="Consolas" panose="020B0609020204030204" pitchFamily="49" charset="0"/>
              </a:rPr>
              <a:t> </a:t>
            </a:r>
            <a:r>
              <a:rPr lang="fr-FR" dirty="0" err="1">
                <a:solidFill>
                  <a:srgbClr val="7A3E9D"/>
                </a:solidFill>
                <a:latin typeface="Consolas" panose="020B0609020204030204" pitchFamily="49" charset="0"/>
              </a:rPr>
              <a:t>function</a:t>
            </a:r>
            <a:r>
              <a:rPr lang="fr-FR" dirty="0">
                <a:solidFill>
                  <a:srgbClr val="333333"/>
                </a:solidFill>
                <a:latin typeface="Consolas" panose="020B0609020204030204" pitchFamily="49" charset="0"/>
              </a:rPr>
              <a:t> </a:t>
            </a:r>
            <a:r>
              <a:rPr lang="fr-FR" b="1" dirty="0">
                <a:solidFill>
                  <a:srgbClr val="AA3731"/>
                </a:solidFill>
                <a:latin typeface="Consolas" panose="020B0609020204030204" pitchFamily="49" charset="0"/>
              </a:rPr>
              <a:t>store</a:t>
            </a:r>
            <a:r>
              <a:rPr lang="fr-FR" dirty="0">
                <a:solidFill>
                  <a:srgbClr val="777777"/>
                </a:solidFill>
                <a:latin typeface="Consolas" panose="020B0609020204030204" pitchFamily="49" charset="0"/>
              </a:rPr>
              <a:t>(</a:t>
            </a:r>
            <a:r>
              <a:rPr lang="fr-FR" b="1" dirty="0" err="1">
                <a:solidFill>
                  <a:srgbClr val="7A3E9D"/>
                </a:solidFill>
                <a:latin typeface="Consolas" panose="020B0609020204030204" pitchFamily="49" charset="0"/>
              </a:rPr>
              <a:t>Request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7A3E9D"/>
                </a:solidFill>
                <a:latin typeface="Consolas" panose="020B0609020204030204" pitchFamily="49" charset="0"/>
              </a:rPr>
              <a:t>Stagiaire</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333333"/>
                </a:solidFill>
                <a:latin typeface="Consolas" panose="020B0609020204030204" pitchFamily="49" charset="0"/>
              </a:rPr>
              <a:t> </a:t>
            </a:r>
            <a:r>
              <a:rPr lang="fr-FR" dirty="0">
                <a:solidFill>
                  <a:srgbClr val="4B69C6"/>
                </a:solidFill>
                <a:latin typeface="Consolas" panose="020B0609020204030204" pitchFamily="49" charset="0"/>
              </a:rPr>
              <a:t>new</a:t>
            </a:r>
            <a:r>
              <a:rPr lang="fr-FR" dirty="0">
                <a:solidFill>
                  <a:srgbClr val="333333"/>
                </a:solidFill>
                <a:latin typeface="Consolas" panose="020B0609020204030204" pitchFamily="49" charset="0"/>
              </a:rPr>
              <a:t> </a:t>
            </a:r>
            <a:r>
              <a:rPr lang="fr-FR" b="1"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-&gt;</a:t>
            </a:r>
            <a:r>
              <a:rPr lang="fr-FR" dirty="0">
                <a:solidFill>
                  <a:srgbClr val="7A3E9D"/>
                </a:solidFill>
                <a:latin typeface="Consolas" panose="020B0609020204030204" pitchFamily="49" charset="0"/>
              </a:rPr>
              <a:t>nom</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a:solidFill>
                  <a:srgbClr val="7A3E9D"/>
                </a:solidFill>
                <a:latin typeface="Consolas" panose="020B0609020204030204" pitchFamily="49" charset="0"/>
              </a:rPr>
              <a:t>nom</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prenom</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prenom</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age</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age</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-&gt;</a:t>
            </a:r>
            <a:r>
              <a:rPr lang="fr-FR" b="1" dirty="0" err="1">
                <a:solidFill>
                  <a:srgbClr val="AA3731"/>
                </a:solidFill>
                <a:latin typeface="Consolas" panose="020B0609020204030204" pitchFamily="49" charset="0"/>
              </a:rPr>
              <a:t>save</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4B69C6"/>
                </a:solidFill>
                <a:latin typeface="Consolas" panose="020B0609020204030204" pitchFamily="49" charset="0"/>
              </a:rPr>
              <a:t>return</a:t>
            </a:r>
            <a:r>
              <a:rPr lang="fr-FR" dirty="0">
                <a:solidFill>
                  <a:srgbClr val="333333"/>
                </a:solidFill>
                <a:latin typeface="Consolas" panose="020B0609020204030204" pitchFamily="49" charset="0"/>
              </a:rPr>
              <a:t> </a:t>
            </a:r>
            <a:r>
              <a:rPr lang="fr-FR" b="1" dirty="0" err="1">
                <a:solidFill>
                  <a:srgbClr val="AA3731"/>
                </a:solidFill>
                <a:latin typeface="Consolas" panose="020B0609020204030204" pitchFamily="49" charset="0"/>
              </a:rPr>
              <a:t>response</a:t>
            </a:r>
            <a:r>
              <a:rPr lang="fr-FR" dirty="0">
                <a:solidFill>
                  <a:srgbClr val="777777"/>
                </a:solidFill>
                <a:latin typeface="Consolas" panose="020B0609020204030204" pitchFamily="49" charset="0"/>
              </a:rPr>
              <a:t>(« </a:t>
            </a:r>
            <a:r>
              <a:rPr lang="fr-FR" dirty="0">
                <a:solidFill>
                  <a:srgbClr val="448C27"/>
                </a:solidFill>
                <a:latin typeface="Consolas" panose="020B0609020204030204" pitchFamily="49" charset="0"/>
              </a:rPr>
              <a:t>le stagiaire est ajouter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1230501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Insertion et mise à jour de modèles</a:t>
            </a: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2 </a:t>
            </a:r>
            <a:r>
              <a:rPr lang="fr-FR" sz="2000" b="1" baseline="30000" dirty="0" err="1">
                <a:solidFill>
                  <a:schemeClr val="tx1"/>
                </a:solidFill>
                <a:latin typeface="Times New Roman" panose="02020603050405020304" pitchFamily="18" charset="0"/>
                <a:cs typeface="Times New Roman" panose="02020603050405020304" pitchFamily="18" charset="0"/>
              </a:rPr>
              <a:t>éme</a:t>
            </a:r>
            <a:r>
              <a:rPr lang="fr-FR" sz="2000" b="1" dirty="0">
                <a:solidFill>
                  <a:schemeClr val="tx1"/>
                </a:solidFill>
                <a:latin typeface="Times New Roman" panose="02020603050405020304" pitchFamily="18" charset="0"/>
                <a:cs typeface="Times New Roman" panose="02020603050405020304" pitchFamily="18" charset="0"/>
              </a:rPr>
              <a:t> Méthode : </a:t>
            </a:r>
            <a:r>
              <a:rPr lang="fr-FR" sz="2000" b="1" dirty="0" err="1">
                <a:solidFill>
                  <a:srgbClr val="C00000"/>
                </a:solidFill>
                <a:latin typeface="Times New Roman" panose="02020603050405020304" pitchFamily="18" charset="0"/>
                <a:cs typeface="Times New Roman" panose="02020603050405020304" pitchFamily="18" charset="0"/>
              </a:rPr>
              <a:t>create</a:t>
            </a:r>
            <a:r>
              <a:rPr lang="fr-FR" sz="2000" b="1"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Avant d'utiliser cette méthode, vous devrez spécifier une propriété </a:t>
            </a:r>
            <a:r>
              <a:rPr lang="fr-FR" sz="2000" dirty="0" err="1">
                <a:solidFill>
                  <a:srgbClr val="C00000"/>
                </a:solidFill>
                <a:latin typeface="Times New Roman" panose="02020603050405020304" pitchFamily="18" charset="0"/>
                <a:cs typeface="Times New Roman" panose="02020603050405020304" pitchFamily="18" charset="0"/>
              </a:rPr>
              <a:t>fillable</a:t>
            </a:r>
            <a:r>
              <a:rPr lang="fr-FR" sz="2000" dirty="0">
                <a:solidFill>
                  <a:srgbClr val="C00000"/>
                </a:solidFill>
                <a:latin typeface="Times New Roman" panose="02020603050405020304" pitchFamily="18" charset="0"/>
                <a:cs typeface="Times New Roman" panose="02020603050405020304" pitchFamily="18" charset="0"/>
              </a:rPr>
              <a:t> </a:t>
            </a:r>
            <a:r>
              <a:rPr lang="fr-FR" sz="2000" dirty="0">
                <a:solidFill>
                  <a:schemeClr val="tx1"/>
                </a:solidFill>
                <a:latin typeface="Times New Roman" panose="02020603050405020304" pitchFamily="18" charset="0"/>
                <a:cs typeface="Times New Roman" panose="02020603050405020304" pitchFamily="18" charset="0"/>
              </a:rPr>
              <a:t>ou </a:t>
            </a:r>
            <a:r>
              <a:rPr lang="fr-FR" sz="2000" dirty="0" err="1">
                <a:solidFill>
                  <a:srgbClr val="C00000"/>
                </a:solidFill>
                <a:latin typeface="Times New Roman" panose="02020603050405020304" pitchFamily="18" charset="0"/>
                <a:cs typeface="Times New Roman" panose="02020603050405020304" pitchFamily="18" charset="0"/>
              </a:rPr>
              <a:t>guarded</a:t>
            </a:r>
            <a:r>
              <a:rPr lang="fr-FR" sz="2000" dirty="0">
                <a:solidFill>
                  <a:schemeClr val="tx1"/>
                </a:solidFill>
                <a:latin typeface="Times New Roman" panose="02020603050405020304" pitchFamily="18" charset="0"/>
                <a:cs typeface="Times New Roman" panose="02020603050405020304" pitchFamily="18" charset="0"/>
              </a:rPr>
              <a:t> sur votre classe de modèle.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Ces propriétés sont requises car tous les modèles Eloquent sont protégés par défaut contre les vulnérabilités d'affectation de masse.</a:t>
            </a:r>
            <a:endParaRPr lang="fr-FR" sz="64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12" name="Rectangle : coins arrondis 11">
            <a:extLst>
              <a:ext uri="{FF2B5EF4-FFF2-40B4-BE49-F238E27FC236}">
                <a16:creationId xmlns:a16="http://schemas.microsoft.com/office/drawing/2014/main" id="{74DBAFA1-2FF6-45EC-884C-54F6D92D8BFD}"/>
              </a:ext>
            </a:extLst>
          </p:cNvPr>
          <p:cNvSpPr/>
          <p:nvPr/>
        </p:nvSpPr>
        <p:spPr>
          <a:xfrm>
            <a:off x="866735" y="4509120"/>
            <a:ext cx="7410530" cy="216024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dirty="0">
                <a:solidFill>
                  <a:srgbClr val="7A3E9D"/>
                </a:solidFill>
                <a:latin typeface="Consolas" panose="020B0609020204030204" pitchFamily="49" charset="0"/>
              </a:rPr>
              <a:t>class</a:t>
            </a:r>
            <a:r>
              <a:rPr lang="en-US" dirty="0">
                <a:solidFill>
                  <a:srgbClr val="333333"/>
                </a:solidFill>
                <a:latin typeface="Consolas" panose="020B0609020204030204" pitchFamily="49" charset="0"/>
              </a:rPr>
              <a:t> </a:t>
            </a:r>
            <a:r>
              <a:rPr lang="en-US" b="1" dirty="0">
                <a:solidFill>
                  <a:srgbClr val="7A3E9D"/>
                </a:solidFill>
                <a:latin typeface="Consolas" panose="020B0609020204030204" pitchFamily="49" charset="0"/>
              </a:rPr>
              <a:t>Stagiaire</a:t>
            </a:r>
            <a:r>
              <a:rPr lang="en-US" dirty="0">
                <a:solidFill>
                  <a:srgbClr val="333333"/>
                </a:solidFill>
                <a:latin typeface="Consolas" panose="020B0609020204030204" pitchFamily="49" charset="0"/>
              </a:rPr>
              <a:t> </a:t>
            </a:r>
            <a:r>
              <a:rPr lang="en-US" dirty="0">
                <a:solidFill>
                  <a:srgbClr val="4B69C6"/>
                </a:solidFill>
                <a:latin typeface="Consolas" panose="020B0609020204030204" pitchFamily="49" charset="0"/>
              </a:rPr>
              <a:t>extends</a:t>
            </a:r>
            <a:r>
              <a:rPr lang="en-US" dirty="0">
                <a:solidFill>
                  <a:srgbClr val="333333"/>
                </a:solidFill>
                <a:latin typeface="Consolas" panose="020B0609020204030204" pitchFamily="49" charset="0"/>
              </a:rPr>
              <a:t> </a:t>
            </a:r>
            <a:r>
              <a:rPr lang="en-US" b="1" dirty="0">
                <a:solidFill>
                  <a:srgbClr val="7A3E9D"/>
                </a:solidFill>
                <a:latin typeface="Consolas" panose="020B0609020204030204" pitchFamily="49" charset="0"/>
              </a:rPr>
              <a:t>Model</a:t>
            </a:r>
            <a:endParaRPr lang="en-US" dirty="0">
              <a:solidFill>
                <a:srgbClr val="333333"/>
              </a:solidFill>
              <a:latin typeface="Consolas" panose="020B0609020204030204" pitchFamily="49" charset="0"/>
            </a:endParaRPr>
          </a:p>
          <a:p>
            <a:r>
              <a:rPr lang="en-US"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a:p>
            <a:r>
              <a:rPr lang="en-US" dirty="0">
                <a:solidFill>
                  <a:srgbClr val="333333"/>
                </a:solidFill>
                <a:latin typeface="Consolas" panose="020B0609020204030204" pitchFamily="49" charset="0"/>
              </a:rPr>
              <a:t>    </a:t>
            </a:r>
            <a:r>
              <a:rPr lang="en-US" dirty="0">
                <a:solidFill>
                  <a:srgbClr val="4B69C6"/>
                </a:solidFill>
                <a:latin typeface="Consolas" panose="020B0609020204030204" pitchFamily="49" charset="0"/>
              </a:rPr>
              <a:t>use</a:t>
            </a:r>
            <a:r>
              <a:rPr lang="en-US" dirty="0">
                <a:solidFill>
                  <a:srgbClr val="333333"/>
                </a:solidFill>
                <a:latin typeface="Consolas" panose="020B0609020204030204" pitchFamily="49" charset="0"/>
              </a:rPr>
              <a:t> </a:t>
            </a:r>
            <a:r>
              <a:rPr lang="en-US" b="1" dirty="0" err="1">
                <a:solidFill>
                  <a:srgbClr val="7A3E9D"/>
                </a:solidFill>
                <a:latin typeface="Consolas" panose="020B0609020204030204" pitchFamily="49" charset="0"/>
              </a:rPr>
              <a:t>HasFactory</a:t>
            </a:r>
            <a:r>
              <a:rPr lang="en-US"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a:p>
            <a:r>
              <a:rPr lang="en-US" dirty="0">
                <a:solidFill>
                  <a:srgbClr val="333333"/>
                </a:solidFill>
                <a:latin typeface="Consolas" panose="020B0609020204030204" pitchFamily="49" charset="0"/>
              </a:rPr>
              <a:t>    </a:t>
            </a:r>
            <a:r>
              <a:rPr lang="en-US" dirty="0">
                <a:solidFill>
                  <a:srgbClr val="4B69C6"/>
                </a:solidFill>
                <a:latin typeface="Consolas" panose="020B0609020204030204" pitchFamily="49" charset="0"/>
              </a:rPr>
              <a:t>protected</a:t>
            </a:r>
            <a:r>
              <a:rPr lang="en-US" dirty="0">
                <a:solidFill>
                  <a:srgbClr val="333333"/>
                </a:solidFill>
                <a:latin typeface="Consolas" panose="020B0609020204030204" pitchFamily="49" charset="0"/>
              </a:rPr>
              <a:t> </a:t>
            </a:r>
            <a:r>
              <a:rPr lang="en-US" dirty="0">
                <a:solidFill>
                  <a:srgbClr val="777777"/>
                </a:solidFill>
                <a:latin typeface="Consolas" panose="020B0609020204030204" pitchFamily="49" charset="0"/>
              </a:rPr>
              <a:t>$</a:t>
            </a:r>
            <a:r>
              <a:rPr lang="en-US" dirty="0">
                <a:solidFill>
                  <a:srgbClr val="7A3E9D"/>
                </a:solidFill>
                <a:latin typeface="Consolas" panose="020B0609020204030204" pitchFamily="49" charset="0"/>
              </a:rPr>
              <a:t>fillable</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nom</a:t>
            </a:r>
            <a:r>
              <a:rPr lang="en-US" dirty="0">
                <a:solidFill>
                  <a:srgbClr val="777777"/>
                </a:solidFill>
                <a:latin typeface="Consolas" panose="020B0609020204030204" pitchFamily="49" charset="0"/>
              </a:rPr>
              <a:t>','</a:t>
            </a:r>
            <a:r>
              <a:rPr lang="en-US" dirty="0" err="1">
                <a:solidFill>
                  <a:srgbClr val="448C27"/>
                </a:solidFill>
                <a:latin typeface="Consolas" panose="020B0609020204030204" pitchFamily="49" charset="0"/>
              </a:rPr>
              <a:t>prenom</a:t>
            </a:r>
            <a:r>
              <a:rPr lang="en-US" dirty="0">
                <a:solidFill>
                  <a:srgbClr val="777777"/>
                </a:solidFill>
                <a:latin typeface="Consolas" panose="020B0609020204030204" pitchFamily="49" charset="0"/>
              </a:rPr>
              <a:t>','</a:t>
            </a:r>
            <a:r>
              <a:rPr lang="en-US" dirty="0">
                <a:solidFill>
                  <a:srgbClr val="448C27"/>
                </a:solidFill>
                <a:latin typeface="Consolas" panose="020B0609020204030204" pitchFamily="49" charset="0"/>
              </a:rPr>
              <a:t>age</a:t>
            </a:r>
            <a:r>
              <a:rPr lang="en-US" dirty="0">
                <a:solidFill>
                  <a:srgbClr val="777777"/>
                </a:solidFill>
                <a:latin typeface="Consolas" panose="020B0609020204030204" pitchFamily="49" charset="0"/>
              </a:rPr>
              <a:t>’];</a:t>
            </a:r>
          </a:p>
          <a:p>
            <a:r>
              <a:rPr lang="en-US" dirty="0">
                <a:solidFill>
                  <a:srgbClr val="777777"/>
                </a:solidFill>
                <a:latin typeface="Consolas" panose="020B0609020204030204" pitchFamily="49" charset="0"/>
              </a:rPr>
              <a:t>   // </a:t>
            </a:r>
            <a:r>
              <a:rPr lang="fr-FR" dirty="0" err="1">
                <a:solidFill>
                  <a:srgbClr val="4B69C6"/>
                </a:solidFill>
                <a:latin typeface="Consolas" panose="020B0609020204030204" pitchFamily="49" charset="0"/>
              </a:rPr>
              <a:t>protected</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guarded</a:t>
            </a:r>
            <a:r>
              <a:rPr lang="fr-FR" dirty="0">
                <a:solidFill>
                  <a:srgbClr val="777777"/>
                </a:solidFill>
                <a:latin typeface="Consolas" panose="020B0609020204030204" pitchFamily="49" charset="0"/>
              </a:rPr>
              <a:t>=[];</a:t>
            </a:r>
          </a:p>
          <a:p>
            <a:r>
              <a:rPr lang="fr-FR" dirty="0">
                <a:solidFill>
                  <a:srgbClr val="777777"/>
                </a:solidFill>
                <a:latin typeface="Consolas" panose="020B0609020204030204" pitchFamily="49" charset="0"/>
              </a:rPr>
              <a:t>   // </a:t>
            </a:r>
            <a:r>
              <a:rPr lang="fr-FR" dirty="0" err="1">
                <a:solidFill>
                  <a:srgbClr val="4B69C6"/>
                </a:solidFill>
                <a:latin typeface="Consolas" panose="020B0609020204030204" pitchFamily="49" charset="0"/>
              </a:rPr>
              <a:t>protected</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guarded</a:t>
            </a:r>
            <a:r>
              <a:rPr lang="fr-FR" dirty="0">
                <a:solidFill>
                  <a:srgbClr val="777777"/>
                </a:solidFill>
                <a:latin typeface="Consolas" panose="020B0609020204030204" pitchFamily="49" charset="0"/>
              </a:rPr>
              <a:t>=[‘</a:t>
            </a:r>
            <a:r>
              <a:rPr lang="fr-FR" dirty="0" err="1">
                <a:solidFill>
                  <a:srgbClr val="777777"/>
                </a:solidFill>
                <a:latin typeface="Consolas" panose="020B0609020204030204" pitchFamily="49" charset="0"/>
              </a:rPr>
              <a:t>age</a:t>
            </a:r>
            <a:r>
              <a:rPr lang="fr-FR"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a:p>
            <a:r>
              <a:rPr lang="en-US" dirty="0">
                <a:solidFill>
                  <a:srgbClr val="777777"/>
                </a:solidFill>
                <a:latin typeface="Consolas" panose="020B0609020204030204" pitchFamily="49" charset="0"/>
              </a:rPr>
              <a:t>}</a:t>
            </a:r>
            <a:endParaRPr lang="en-US"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623588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Insertion et mise à jour de modèles</a:t>
            </a: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2 </a:t>
            </a:r>
            <a:r>
              <a:rPr lang="fr-FR" sz="2000" b="1" baseline="30000" dirty="0" err="1">
                <a:solidFill>
                  <a:schemeClr val="tx1"/>
                </a:solidFill>
                <a:latin typeface="Times New Roman" panose="02020603050405020304" pitchFamily="18" charset="0"/>
                <a:cs typeface="Times New Roman" panose="02020603050405020304" pitchFamily="18" charset="0"/>
              </a:rPr>
              <a:t>éme</a:t>
            </a:r>
            <a:r>
              <a:rPr lang="fr-FR" sz="2000" b="1" dirty="0">
                <a:solidFill>
                  <a:schemeClr val="tx1"/>
                </a:solidFill>
                <a:latin typeface="Times New Roman" panose="02020603050405020304" pitchFamily="18" charset="0"/>
                <a:cs typeface="Times New Roman" panose="02020603050405020304" pitchFamily="18" charset="0"/>
              </a:rPr>
              <a:t> Méthode : </a:t>
            </a:r>
            <a:r>
              <a:rPr lang="fr-FR" sz="2000" b="1" dirty="0" err="1">
                <a:solidFill>
                  <a:srgbClr val="C00000"/>
                </a:solidFill>
                <a:latin typeface="Times New Roman" panose="02020603050405020304" pitchFamily="18" charset="0"/>
                <a:cs typeface="Times New Roman" panose="02020603050405020304" pitchFamily="18" charset="0"/>
              </a:rPr>
              <a:t>create</a:t>
            </a:r>
            <a:r>
              <a:rPr lang="fr-FR" sz="2000" b="1"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Vous pouvez également utiliser la méthode </a:t>
            </a:r>
            <a:r>
              <a:rPr lang="fr-FR" sz="2000" b="1" dirty="0" err="1">
                <a:solidFill>
                  <a:srgbClr val="C00000"/>
                </a:solidFill>
                <a:latin typeface="Times New Roman" panose="02020603050405020304" pitchFamily="18" charset="0"/>
                <a:cs typeface="Times New Roman" panose="02020603050405020304" pitchFamily="18" charset="0"/>
              </a:rPr>
              <a:t>create</a:t>
            </a:r>
            <a:r>
              <a:rPr lang="fr-FR" sz="2000" dirty="0">
                <a:solidFill>
                  <a:schemeClr val="tx1"/>
                </a:solidFill>
                <a:latin typeface="Times New Roman" panose="02020603050405020304" pitchFamily="18" charset="0"/>
                <a:cs typeface="Times New Roman" panose="02020603050405020304" pitchFamily="18" charset="0"/>
              </a:rPr>
              <a:t> pour "enregistrer" un nouveau modèle à l'aide d'une seule instruction PHP.</a:t>
            </a:r>
          </a:p>
          <a:p>
            <a:pPr marL="400050" lvl="1"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12" name="Rectangle : coins arrondis 11">
            <a:extLst>
              <a:ext uri="{FF2B5EF4-FFF2-40B4-BE49-F238E27FC236}">
                <a16:creationId xmlns:a16="http://schemas.microsoft.com/office/drawing/2014/main" id="{74DBAFA1-2FF6-45EC-884C-54F6D92D8BFD}"/>
              </a:ext>
            </a:extLst>
          </p:cNvPr>
          <p:cNvSpPr/>
          <p:nvPr/>
        </p:nvSpPr>
        <p:spPr>
          <a:xfrm>
            <a:off x="647564" y="3801244"/>
            <a:ext cx="7848872" cy="272410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4B69C6"/>
                </a:solidFill>
                <a:latin typeface="Consolas" panose="020B0609020204030204" pitchFamily="49" charset="0"/>
              </a:rPr>
              <a:t>public</a:t>
            </a:r>
            <a:r>
              <a:rPr lang="fr-FR" dirty="0">
                <a:solidFill>
                  <a:srgbClr val="333333"/>
                </a:solidFill>
                <a:latin typeface="Consolas" panose="020B0609020204030204" pitchFamily="49" charset="0"/>
              </a:rPr>
              <a:t> </a:t>
            </a:r>
            <a:r>
              <a:rPr lang="fr-FR" dirty="0" err="1">
                <a:solidFill>
                  <a:srgbClr val="7A3E9D"/>
                </a:solidFill>
                <a:latin typeface="Consolas" panose="020B0609020204030204" pitchFamily="49" charset="0"/>
              </a:rPr>
              <a:t>function</a:t>
            </a:r>
            <a:r>
              <a:rPr lang="fr-FR" dirty="0">
                <a:solidFill>
                  <a:srgbClr val="333333"/>
                </a:solidFill>
                <a:latin typeface="Consolas" panose="020B0609020204030204" pitchFamily="49" charset="0"/>
              </a:rPr>
              <a:t> </a:t>
            </a:r>
            <a:r>
              <a:rPr lang="fr-FR" b="1" dirty="0">
                <a:solidFill>
                  <a:srgbClr val="AA3731"/>
                </a:solidFill>
                <a:latin typeface="Consolas" panose="020B0609020204030204" pitchFamily="49" charset="0"/>
              </a:rPr>
              <a:t>store</a:t>
            </a:r>
            <a:r>
              <a:rPr lang="fr-FR" dirty="0">
                <a:solidFill>
                  <a:srgbClr val="777777"/>
                </a:solidFill>
                <a:latin typeface="Consolas" panose="020B0609020204030204" pitchFamily="49" charset="0"/>
              </a:rPr>
              <a:t>(</a:t>
            </a:r>
            <a:r>
              <a:rPr lang="fr-FR" b="1" dirty="0" err="1">
                <a:solidFill>
                  <a:srgbClr val="7A3E9D"/>
                </a:solidFill>
                <a:latin typeface="Consolas" panose="020B0609020204030204" pitchFamily="49" charset="0"/>
              </a:rPr>
              <a:t>Request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b="1"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a:t>
            </a:r>
            <a:r>
              <a:rPr lang="fr-FR" b="1" dirty="0" err="1">
                <a:solidFill>
                  <a:srgbClr val="AA3731"/>
                </a:solidFill>
                <a:latin typeface="Consolas" panose="020B0609020204030204" pitchFamily="49" charset="0"/>
              </a:rPr>
              <a:t>create</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nom</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a:solidFill>
                  <a:srgbClr val="7A3E9D"/>
                </a:solidFill>
                <a:latin typeface="Consolas" panose="020B0609020204030204" pitchFamily="49" charset="0"/>
              </a:rPr>
              <a:t>nom</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448C27"/>
                </a:solidFill>
                <a:latin typeface="Consolas" panose="020B0609020204030204" pitchFamily="49" charset="0"/>
              </a:rPr>
              <a:t>prenom</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prenom</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448C27"/>
                </a:solidFill>
                <a:latin typeface="Consolas" panose="020B0609020204030204" pitchFamily="49" charset="0"/>
              </a:rPr>
              <a:t>age</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age</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4B69C6"/>
                </a:solidFill>
                <a:latin typeface="Consolas" panose="020B0609020204030204" pitchFamily="49" charset="0"/>
              </a:rPr>
              <a:t>return</a:t>
            </a:r>
            <a:r>
              <a:rPr lang="fr-FR" dirty="0">
                <a:solidFill>
                  <a:srgbClr val="333333"/>
                </a:solidFill>
                <a:latin typeface="Consolas" panose="020B0609020204030204" pitchFamily="49" charset="0"/>
              </a:rPr>
              <a:t> </a:t>
            </a:r>
            <a:r>
              <a:rPr lang="fr-FR" b="1" dirty="0" err="1">
                <a:solidFill>
                  <a:srgbClr val="AA3731"/>
                </a:solidFill>
                <a:latin typeface="Consolas" panose="020B0609020204030204" pitchFamily="49" charset="0"/>
              </a:rPr>
              <a:t>response</a:t>
            </a:r>
            <a:r>
              <a:rPr lang="fr-FR" dirty="0">
                <a:solidFill>
                  <a:srgbClr val="777777"/>
                </a:solidFill>
                <a:latin typeface="Consolas" panose="020B0609020204030204" pitchFamily="49" charset="0"/>
              </a:rPr>
              <a:t>(« </a:t>
            </a:r>
            <a:r>
              <a:rPr lang="fr-FR" dirty="0">
                <a:solidFill>
                  <a:srgbClr val="448C27"/>
                </a:solidFill>
                <a:latin typeface="Consolas" panose="020B0609020204030204" pitchFamily="49" charset="0"/>
              </a:rPr>
              <a:t>le stagiaire est ajoute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p:txBody>
      </p:sp>
      <p:sp>
        <p:nvSpPr>
          <p:cNvPr id="6" name="Rectangle : coins arrondis 5">
            <a:extLst>
              <a:ext uri="{FF2B5EF4-FFF2-40B4-BE49-F238E27FC236}">
                <a16:creationId xmlns:a16="http://schemas.microsoft.com/office/drawing/2014/main" id="{35547069-C612-46F2-9F16-D730D3737B64}"/>
              </a:ext>
            </a:extLst>
          </p:cNvPr>
          <p:cNvSpPr/>
          <p:nvPr/>
        </p:nvSpPr>
        <p:spPr>
          <a:xfrm>
            <a:off x="3995936" y="4365104"/>
            <a:ext cx="4333310"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fr-FR" sz="1600" b="1" dirty="0">
                <a:solidFill>
                  <a:srgbClr val="7A3E9D"/>
                </a:solidFill>
                <a:latin typeface="Consolas" panose="020B0609020204030204" pitchFamily="49" charset="0"/>
              </a:rPr>
              <a:t>Stagiaire</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all</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653411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3"/>
            </a:pPr>
            <a:r>
              <a:rPr lang="fr-FR" sz="2000" dirty="0">
                <a:solidFill>
                  <a:srgbClr val="C00000"/>
                </a:solidFill>
                <a:latin typeface="Times New Roman" panose="02020603050405020304" pitchFamily="18" charset="0"/>
                <a:cs typeface="Times New Roman" panose="02020603050405020304" pitchFamily="18" charset="0"/>
              </a:rPr>
              <a:t>Manipuler l’ORM Eloquent</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Manipulation des modèles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Insertion et mise à jour de modèles</a:t>
            </a:r>
          </a:p>
          <a:p>
            <a:pPr marL="400050" lvl="1" indent="0">
              <a:buNone/>
            </a:pPr>
            <a:r>
              <a:rPr lang="fr-FR" sz="2000" b="1" dirty="0">
                <a:solidFill>
                  <a:schemeClr val="tx1"/>
                </a:solidFill>
                <a:latin typeface="Times New Roman" panose="02020603050405020304" pitchFamily="18" charset="0"/>
                <a:cs typeface="Times New Roman" panose="02020603050405020304" pitchFamily="18" charset="0"/>
              </a:rPr>
              <a:t>2 </a:t>
            </a:r>
            <a:r>
              <a:rPr lang="fr-FR" sz="2000" b="1" baseline="30000" dirty="0" err="1">
                <a:solidFill>
                  <a:schemeClr val="tx1"/>
                </a:solidFill>
                <a:latin typeface="Times New Roman" panose="02020603050405020304" pitchFamily="18" charset="0"/>
                <a:cs typeface="Times New Roman" panose="02020603050405020304" pitchFamily="18" charset="0"/>
              </a:rPr>
              <a:t>éme</a:t>
            </a:r>
            <a:r>
              <a:rPr lang="fr-FR" sz="2000" b="1" dirty="0">
                <a:solidFill>
                  <a:schemeClr val="tx1"/>
                </a:solidFill>
                <a:latin typeface="Times New Roman" panose="02020603050405020304" pitchFamily="18" charset="0"/>
                <a:cs typeface="Times New Roman" panose="02020603050405020304" pitchFamily="18" charset="0"/>
              </a:rPr>
              <a:t> Méthode : </a:t>
            </a:r>
            <a:r>
              <a:rPr lang="fr-FR" sz="2000" b="1" dirty="0" err="1">
                <a:solidFill>
                  <a:srgbClr val="C00000"/>
                </a:solidFill>
                <a:latin typeface="Times New Roman" panose="02020603050405020304" pitchFamily="18" charset="0"/>
                <a:cs typeface="Times New Roman" panose="02020603050405020304" pitchFamily="18" charset="0"/>
              </a:rPr>
              <a:t>create</a:t>
            </a:r>
            <a:r>
              <a:rPr lang="fr-FR" sz="2000" b="1"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Vous pouvez également utiliser la méthode </a:t>
            </a:r>
            <a:r>
              <a:rPr lang="fr-FR" sz="2000" b="1" dirty="0" err="1">
                <a:solidFill>
                  <a:srgbClr val="C00000"/>
                </a:solidFill>
                <a:latin typeface="Times New Roman" panose="02020603050405020304" pitchFamily="18" charset="0"/>
                <a:cs typeface="Times New Roman" panose="02020603050405020304" pitchFamily="18" charset="0"/>
              </a:rPr>
              <a:t>create</a:t>
            </a:r>
            <a:r>
              <a:rPr lang="fr-FR" sz="2000" dirty="0">
                <a:solidFill>
                  <a:schemeClr val="tx1"/>
                </a:solidFill>
                <a:latin typeface="Times New Roman" panose="02020603050405020304" pitchFamily="18" charset="0"/>
                <a:cs typeface="Times New Roman" panose="02020603050405020304" pitchFamily="18" charset="0"/>
              </a:rPr>
              <a:t> pour "enregistrer" un nouveau modèle à l'aide d'une seule instruction PHP.</a:t>
            </a:r>
          </a:p>
          <a:p>
            <a:pPr marL="400050" lvl="1"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12" name="Rectangle : coins arrondis 11">
            <a:extLst>
              <a:ext uri="{FF2B5EF4-FFF2-40B4-BE49-F238E27FC236}">
                <a16:creationId xmlns:a16="http://schemas.microsoft.com/office/drawing/2014/main" id="{74DBAFA1-2FF6-45EC-884C-54F6D92D8BFD}"/>
              </a:ext>
            </a:extLst>
          </p:cNvPr>
          <p:cNvSpPr/>
          <p:nvPr/>
        </p:nvSpPr>
        <p:spPr>
          <a:xfrm>
            <a:off x="647564" y="3801244"/>
            <a:ext cx="7848872" cy="272410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fr-FR" dirty="0">
                <a:solidFill>
                  <a:srgbClr val="4B69C6"/>
                </a:solidFill>
                <a:latin typeface="Consolas" panose="020B0609020204030204" pitchFamily="49" charset="0"/>
              </a:rPr>
              <a:t>public</a:t>
            </a:r>
            <a:r>
              <a:rPr lang="fr-FR" dirty="0">
                <a:solidFill>
                  <a:srgbClr val="333333"/>
                </a:solidFill>
                <a:latin typeface="Consolas" panose="020B0609020204030204" pitchFamily="49" charset="0"/>
              </a:rPr>
              <a:t> </a:t>
            </a:r>
            <a:r>
              <a:rPr lang="fr-FR" dirty="0" err="1">
                <a:solidFill>
                  <a:srgbClr val="7A3E9D"/>
                </a:solidFill>
                <a:latin typeface="Consolas" panose="020B0609020204030204" pitchFamily="49" charset="0"/>
              </a:rPr>
              <a:t>function</a:t>
            </a:r>
            <a:r>
              <a:rPr lang="fr-FR" dirty="0">
                <a:solidFill>
                  <a:srgbClr val="333333"/>
                </a:solidFill>
                <a:latin typeface="Consolas" panose="020B0609020204030204" pitchFamily="49" charset="0"/>
              </a:rPr>
              <a:t> </a:t>
            </a:r>
            <a:r>
              <a:rPr lang="fr-FR" b="1" dirty="0">
                <a:solidFill>
                  <a:srgbClr val="AA3731"/>
                </a:solidFill>
                <a:latin typeface="Consolas" panose="020B0609020204030204" pitchFamily="49" charset="0"/>
              </a:rPr>
              <a:t>store</a:t>
            </a:r>
            <a:r>
              <a:rPr lang="fr-FR" dirty="0">
                <a:solidFill>
                  <a:srgbClr val="777777"/>
                </a:solidFill>
                <a:latin typeface="Consolas" panose="020B0609020204030204" pitchFamily="49" charset="0"/>
              </a:rPr>
              <a:t>(</a:t>
            </a:r>
            <a:r>
              <a:rPr lang="fr-FR" b="1" dirty="0" err="1">
                <a:solidFill>
                  <a:srgbClr val="7A3E9D"/>
                </a:solidFill>
                <a:latin typeface="Consolas" panose="020B0609020204030204" pitchFamily="49" charset="0"/>
              </a:rPr>
              <a:t>Request</a:t>
            </a:r>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b="1" dirty="0">
                <a:solidFill>
                  <a:srgbClr val="7A3E9D"/>
                </a:solidFill>
                <a:latin typeface="Consolas" panose="020B0609020204030204" pitchFamily="49" charset="0"/>
              </a:rPr>
              <a:t>Stagiaire</a:t>
            </a:r>
            <a:r>
              <a:rPr lang="fr-FR" dirty="0">
                <a:solidFill>
                  <a:srgbClr val="777777"/>
                </a:solidFill>
                <a:latin typeface="Consolas" panose="020B0609020204030204" pitchFamily="49" charset="0"/>
              </a:rPr>
              <a:t>::</a:t>
            </a:r>
            <a:r>
              <a:rPr lang="fr-FR" b="1" dirty="0" err="1">
                <a:solidFill>
                  <a:srgbClr val="AA3731"/>
                </a:solidFill>
                <a:latin typeface="Consolas" panose="020B0609020204030204" pitchFamily="49" charset="0"/>
              </a:rPr>
              <a:t>create</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a:solidFill>
                  <a:srgbClr val="448C27"/>
                </a:solidFill>
                <a:latin typeface="Consolas" panose="020B0609020204030204" pitchFamily="49" charset="0"/>
              </a:rPr>
              <a:t>nom</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a:solidFill>
                  <a:srgbClr val="7A3E9D"/>
                </a:solidFill>
                <a:latin typeface="Consolas" panose="020B0609020204030204" pitchFamily="49" charset="0"/>
              </a:rPr>
              <a:t>nom</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448C27"/>
                </a:solidFill>
                <a:latin typeface="Consolas" panose="020B0609020204030204" pitchFamily="49" charset="0"/>
              </a:rPr>
              <a:t>prenom</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prenom</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r>
              <a:rPr lang="fr-FR" dirty="0" err="1">
                <a:solidFill>
                  <a:srgbClr val="448C27"/>
                </a:solidFill>
                <a:latin typeface="Consolas" panose="020B0609020204030204" pitchFamily="49" charset="0"/>
              </a:rPr>
              <a:t>age</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request</a:t>
            </a:r>
            <a:r>
              <a:rPr lang="fr-FR" dirty="0">
                <a:solidFill>
                  <a:srgbClr val="777777"/>
                </a:solidFill>
                <a:latin typeface="Consolas" panose="020B0609020204030204" pitchFamily="49" charset="0"/>
              </a:rPr>
              <a:t>-&gt;</a:t>
            </a:r>
            <a:r>
              <a:rPr lang="fr-FR" dirty="0" err="1">
                <a:solidFill>
                  <a:srgbClr val="7A3E9D"/>
                </a:solidFill>
                <a:latin typeface="Consolas" panose="020B0609020204030204" pitchFamily="49" charset="0"/>
              </a:rPr>
              <a:t>age</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4B69C6"/>
                </a:solidFill>
                <a:latin typeface="Consolas" panose="020B0609020204030204" pitchFamily="49" charset="0"/>
              </a:rPr>
              <a:t>return</a:t>
            </a:r>
            <a:r>
              <a:rPr lang="fr-FR" dirty="0">
                <a:solidFill>
                  <a:srgbClr val="333333"/>
                </a:solidFill>
                <a:latin typeface="Consolas" panose="020B0609020204030204" pitchFamily="49" charset="0"/>
              </a:rPr>
              <a:t> </a:t>
            </a:r>
            <a:r>
              <a:rPr lang="fr-FR" b="1" dirty="0" err="1">
                <a:solidFill>
                  <a:srgbClr val="AA3731"/>
                </a:solidFill>
                <a:latin typeface="Consolas" panose="020B0609020204030204" pitchFamily="49" charset="0"/>
              </a:rPr>
              <a:t>response</a:t>
            </a:r>
            <a:r>
              <a:rPr lang="fr-FR" dirty="0">
                <a:solidFill>
                  <a:srgbClr val="777777"/>
                </a:solidFill>
                <a:latin typeface="Consolas" panose="020B0609020204030204" pitchFamily="49" charset="0"/>
              </a:rPr>
              <a:t>(« </a:t>
            </a:r>
            <a:r>
              <a:rPr lang="fr-FR" dirty="0">
                <a:solidFill>
                  <a:srgbClr val="448C27"/>
                </a:solidFill>
                <a:latin typeface="Consolas" panose="020B0609020204030204" pitchFamily="49" charset="0"/>
              </a:rPr>
              <a:t>le stagiaire est ajoute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a:p>
            <a:r>
              <a:rPr lang="fr-FR" dirty="0">
                <a:solidFill>
                  <a:srgbClr val="333333"/>
                </a:solidFill>
                <a:latin typeface="Consolas" panose="020B0609020204030204" pitchFamily="49" charset="0"/>
              </a:rPr>
              <a:t>    </a:t>
            </a:r>
            <a:r>
              <a:rPr lang="fr-FR" dirty="0">
                <a:solidFill>
                  <a:srgbClr val="777777"/>
                </a:solidFill>
                <a:latin typeface="Consolas" panose="020B0609020204030204" pitchFamily="49" charset="0"/>
              </a:rPr>
              <a:t>}</a:t>
            </a:r>
            <a:endParaRPr lang="fr-FR" dirty="0">
              <a:solidFill>
                <a:srgbClr val="333333"/>
              </a:solidFill>
              <a:latin typeface="Consolas" panose="020B0609020204030204" pitchFamily="49" charset="0"/>
            </a:endParaRPr>
          </a:p>
        </p:txBody>
      </p:sp>
      <p:sp>
        <p:nvSpPr>
          <p:cNvPr id="6" name="Rectangle : coins arrondis 5">
            <a:extLst>
              <a:ext uri="{FF2B5EF4-FFF2-40B4-BE49-F238E27FC236}">
                <a16:creationId xmlns:a16="http://schemas.microsoft.com/office/drawing/2014/main" id="{35547069-C612-46F2-9F16-D730D3737B64}"/>
              </a:ext>
            </a:extLst>
          </p:cNvPr>
          <p:cNvSpPr/>
          <p:nvPr/>
        </p:nvSpPr>
        <p:spPr>
          <a:xfrm>
            <a:off x="3995936" y="4365104"/>
            <a:ext cx="4333310" cy="64807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fr-FR" sz="1600" b="1" dirty="0">
                <a:solidFill>
                  <a:srgbClr val="7A3E9D"/>
                </a:solidFill>
                <a:latin typeface="Consolas" panose="020B0609020204030204" pitchFamily="49" charset="0"/>
              </a:rPr>
              <a:t>Stagiaire</a:t>
            </a:r>
            <a:r>
              <a:rPr lang="fr-FR" sz="1600" dirty="0">
                <a:solidFill>
                  <a:srgbClr val="777777"/>
                </a:solidFill>
                <a:latin typeface="Consolas" panose="020B0609020204030204" pitchFamily="49" charset="0"/>
              </a:rPr>
              <a:t>::</a:t>
            </a:r>
            <a:r>
              <a:rPr lang="fr-FR" sz="1600" b="1" dirty="0" err="1">
                <a:solidFill>
                  <a:srgbClr val="AA3731"/>
                </a:solidFill>
                <a:latin typeface="Consolas" panose="020B0609020204030204" pitchFamily="49" charset="0"/>
              </a:rPr>
              <a:t>create</a:t>
            </a:r>
            <a:r>
              <a:rPr lang="fr-FR" sz="1600" dirty="0">
                <a:solidFill>
                  <a:srgbClr val="777777"/>
                </a:solidFill>
                <a:latin typeface="Consolas" panose="020B0609020204030204" pitchFamily="49" charset="0"/>
              </a:rPr>
              <a:t>($</a:t>
            </a:r>
            <a:r>
              <a:rPr lang="fr-FR" sz="1600" dirty="0" err="1">
                <a:solidFill>
                  <a:srgbClr val="7A3E9D"/>
                </a:solidFill>
                <a:latin typeface="Consolas" panose="020B0609020204030204" pitchFamily="49" charset="0"/>
              </a:rPr>
              <a:t>request</a:t>
            </a:r>
            <a:r>
              <a:rPr lang="fr-FR" sz="1600" dirty="0">
                <a:solidFill>
                  <a:srgbClr val="777777"/>
                </a:solidFill>
                <a:latin typeface="Consolas" panose="020B0609020204030204" pitchFamily="49" charset="0"/>
              </a:rPr>
              <a:t>-&gt;</a:t>
            </a:r>
            <a:r>
              <a:rPr lang="fr-FR" sz="1600" b="1" dirty="0">
                <a:solidFill>
                  <a:srgbClr val="AA3731"/>
                </a:solidFill>
                <a:latin typeface="Consolas" panose="020B0609020204030204" pitchFamily="49" charset="0"/>
              </a:rPr>
              <a:t>all</a:t>
            </a:r>
            <a:r>
              <a:rPr lang="fr-FR" sz="1600" dirty="0">
                <a:solidFill>
                  <a:srgbClr val="777777"/>
                </a:solidFill>
                <a:latin typeface="Consolas" panose="020B0609020204030204" pitchFamily="49" charset="0"/>
              </a:rPr>
              <a:t>());</a:t>
            </a:r>
            <a:endParaRPr lang="fr-FR" sz="1600" dirty="0">
              <a:solidFill>
                <a:srgbClr val="333333"/>
              </a:solidFill>
              <a:latin typeface="Consolas" panose="020B0609020204030204" pitchFamily="49" charset="0"/>
            </a:endParaRPr>
          </a:p>
        </p:txBody>
      </p:sp>
    </p:spTree>
    <p:extLst>
      <p:ext uri="{BB962C8B-B14F-4D97-AF65-F5344CB8AC3E}">
        <p14:creationId xmlns:p14="http://schemas.microsoft.com/office/powerpoint/2010/main" val="3058272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2519</TotalTime>
  <Words>1516</Words>
  <Application>Microsoft Office PowerPoint</Application>
  <PresentationFormat>Affichage à l'écran (4:3)</PresentationFormat>
  <Paragraphs>222</Paragraphs>
  <Slides>14</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14</vt:i4>
      </vt:variant>
    </vt:vector>
  </HeadingPairs>
  <TitlesOfParts>
    <vt:vector size="22" baseType="lpstr">
      <vt:lpstr>Angsana New</vt:lpstr>
      <vt:lpstr>Arial</vt:lpstr>
      <vt:lpstr>Calibri</vt:lpstr>
      <vt:lpstr>Consolas</vt:lpstr>
      <vt:lpstr>Source Code 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330</cp:revision>
  <dcterms:created xsi:type="dcterms:W3CDTF">2011-10-01T12:57:10Z</dcterms:created>
  <dcterms:modified xsi:type="dcterms:W3CDTF">2026-01-16T08:04:58Z</dcterms:modified>
</cp:coreProperties>
</file>