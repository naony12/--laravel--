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2" r:id="rId4"/>
    <p:sldId id="283" r:id="rId5"/>
    <p:sldId id="306" r:id="rId6"/>
    <p:sldId id="307" r:id="rId7"/>
    <p:sldId id="308" r:id="rId8"/>
    <p:sldId id="309" r:id="rId9"/>
    <p:sldId id="310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D4C85-A4FC-445A-8CEF-D1C520D6A608}" type="datetimeFigureOut">
              <a:rPr lang="fr-FR" smtClean="0"/>
              <a:pPr/>
              <a:t>16/01/2026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F3625BF-3F7C-E5E9-87EC-84AF89FCC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3837E31-76B9-4358-BD34-E36AC93E87F7}"/>
              </a:ext>
            </a:extLst>
          </p:cNvPr>
          <p:cNvSpPr/>
          <p:nvPr/>
        </p:nvSpPr>
        <p:spPr>
          <a:xfrm>
            <a:off x="1735084" y="776892"/>
            <a:ext cx="5472608" cy="5135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pPr marL="514350" indent="-514350">
              <a:buNone/>
            </a:pPr>
            <a:endParaRPr lang="fr-FR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108DB9-4B51-4327-BAA9-34CE9E2C27A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113"/>
            <a:ext cx="864096" cy="704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70F5631-B51C-4E5A-A708-40AE05543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49119"/>
              </p:ext>
            </p:extLst>
          </p:nvPr>
        </p:nvGraphicFramePr>
        <p:xfrm>
          <a:off x="1259632" y="479438"/>
          <a:ext cx="6124575" cy="314325"/>
        </p:xfrm>
        <a:graphic>
          <a:graphicData uri="http://schemas.openxmlformats.org/drawingml/2006/table">
            <a:tbl>
              <a:tblPr/>
              <a:tblGrid>
                <a:gridCol w="6124575">
                  <a:extLst>
                    <a:ext uri="{9D8B030D-6E8A-4147-A177-3AD203B41FA5}">
                      <a16:colId xmlns:a16="http://schemas.microsoft.com/office/drawing/2014/main" val="3998408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1400" b="1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Direction Régionale Rabat – Salé - Kénitra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34073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89DDFF2-F8CB-41BE-B914-4AF57B786865}"/>
              </a:ext>
            </a:extLst>
          </p:cNvPr>
          <p:cNvSpPr/>
          <p:nvPr/>
        </p:nvSpPr>
        <p:spPr>
          <a:xfrm>
            <a:off x="6804248" y="6287016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>
                <a:latin typeface="Angsana New" pitchFamily="18" charset="-34"/>
                <a:cs typeface="Angsana New" pitchFamily="18" charset="-34"/>
              </a:rPr>
              <a:t>Réalisé par M. Hamid </a:t>
            </a:r>
            <a:r>
              <a:rPr lang="fr-FR" i="1" dirty="0" err="1">
                <a:latin typeface="Angsana New" pitchFamily="18" charset="-34"/>
                <a:cs typeface="Angsana New" pitchFamily="18" charset="-34"/>
              </a:rPr>
              <a:t>Belyazidi</a:t>
            </a:r>
            <a:endParaRPr lang="fr-FR" i="1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213D3-8E98-4129-BEC2-FBE648C34139}"/>
              </a:ext>
            </a:extLst>
          </p:cNvPr>
          <p:cNvSpPr/>
          <p:nvPr/>
        </p:nvSpPr>
        <p:spPr>
          <a:xfrm>
            <a:off x="6784214" y="148206"/>
            <a:ext cx="2186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i="1" dirty="0">
                <a:latin typeface="Angsana New" pitchFamily="18" charset="-34"/>
                <a:cs typeface="Angsana New" pitchFamily="18" charset="-34"/>
              </a:rPr>
              <a:t>Année de formation :2025/2026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9E4E8-707B-4C64-92ED-A5F3701B082E}"/>
              </a:ext>
            </a:extLst>
          </p:cNvPr>
          <p:cNvSpPr/>
          <p:nvPr/>
        </p:nvSpPr>
        <p:spPr>
          <a:xfrm>
            <a:off x="1807092" y="822405"/>
            <a:ext cx="5328592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Développer en back-end</a:t>
            </a:r>
            <a:endParaRPr lang="fr-FR" sz="24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F5AEB-5EF8-495E-97C3-D51D6A6A9F31}"/>
              </a:ext>
            </a:extLst>
          </p:cNvPr>
          <p:cNvSpPr/>
          <p:nvPr/>
        </p:nvSpPr>
        <p:spPr>
          <a:xfrm>
            <a:off x="1807092" y="5410074"/>
            <a:ext cx="3277600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dirty="0"/>
              <a:t>Eloquent ORM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 Framework PHP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les notions fondamentales des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PHP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Préparer l’environnement de Laravel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Maîtriser le Framework Laravel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Gérer la sécurité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en charge les tests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Administrer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éléments essentiels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Personnaliser graphiquement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outils avancés d’un CMS</a:t>
            </a:r>
          </a:p>
          <a:p>
            <a:pPr marL="0" lvl="1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457200">
              <a:buFont typeface="+mj-lt"/>
              <a:buAutoNum type="alphaUcPeriod"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7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Intérêt de l’Object </a:t>
            </a:r>
            <a:r>
              <a:rPr lang="fr-FR" sz="2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Mapper ORM Eloquent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modèles (Génération, récupération, insertion, suppression…)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Eloquent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collections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des valeurs d’attributs Eloquent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mutator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casting)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Sérialisation</a:t>
            </a:r>
          </a:p>
          <a:p>
            <a:pPr marL="0" lvl="0" indent="0">
              <a:buNone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485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 </a:t>
            </a:r>
            <a:r>
              <a:rPr lang="fr-FR" sz="2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2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</a:t>
            </a:r>
            <a:r>
              <a:rPr lang="fr-FR" sz="2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apping</a:t>
            </a:r>
            <a:r>
              <a:rPr lang="fr-FR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(Eloquent ORM)</a:t>
            </a:r>
          </a:p>
          <a:p>
            <a:pPr marL="400050" lvl="1" indent="0">
              <a:buNone/>
            </a:pPr>
            <a:r>
              <a:rPr lang="fr-FR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00050" lvl="1" indent="0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Votre application Web Laravel pourrait communiquer directement avec les tables de la base de données. Cependant, il sera plus intéressant d'utiliser des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c'est-à-dire une représentation objet de chacune des tables.</a:t>
            </a:r>
          </a:p>
          <a:p>
            <a:pPr marL="400050" lvl="1" indent="0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Lorsqu'on utilise une telle couche, placée entre le code et la base de données, on dira qu'on fait du mapping objet-relationnel, souvent référé comme </a:t>
            </a:r>
            <a:r>
              <a:rPr lang="fr-FR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 (</a:t>
            </a:r>
            <a:r>
              <a:rPr lang="fr-FR" sz="2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object-relational</a:t>
            </a:r>
            <a:r>
              <a:rPr lang="fr-FR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mapping).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livré avec Laravel s'appelle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Eloquent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lvl="1" indent="0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 a donné le nom Eloquent à son ORM puisque le code est éloquent, c'est-à-dire qu'une simple lecture du code permet de comprendre ce qu'il fait.</a:t>
            </a:r>
          </a:p>
        </p:txBody>
      </p:sp>
    </p:spTree>
    <p:extLst>
      <p:ext uri="{BB962C8B-B14F-4D97-AF65-F5344CB8AC3E}">
        <p14:creationId xmlns:p14="http://schemas.microsoft.com/office/powerpoint/2010/main" val="301077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 </a:t>
            </a:r>
            <a:r>
              <a:rPr lang="fr-FR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</a:t>
            </a:r>
            <a:r>
              <a:rPr lang="fr-FR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apping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(Eloquent ORM)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avons vu que Laravel utilise une architecture en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fr-FR" sz="20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FR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Controller)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Dans cette architecture c’est le Model qui fait office d’intermédiaire entre le Contrôleur et la base de données.</a:t>
            </a:r>
          </a:p>
          <a:p>
            <a:pPr marL="400050" lvl="1" indent="0"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6381E13-CDD8-4E4E-99C9-BAA2ABFD4920}"/>
              </a:ext>
            </a:extLst>
          </p:cNvPr>
          <p:cNvSpPr/>
          <p:nvPr/>
        </p:nvSpPr>
        <p:spPr>
          <a:xfrm>
            <a:off x="611560" y="3698021"/>
            <a:ext cx="7848872" cy="28496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A15537A-E201-4C50-9E40-8C295936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27" y="3661482"/>
            <a:ext cx="6749535" cy="264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4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 </a:t>
            </a:r>
            <a:r>
              <a:rPr lang="fr-FR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</a:t>
            </a:r>
            <a:r>
              <a:rPr lang="fr-FR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apping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(Eloquent ORM)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Dès que votre base de données est modélisée, vous devez créer un modèle pour vos tables.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fichier dans lequel le modèle est défini sera généré à l'aide de la commande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N.B :Pour suivre les standards de Laravel, le nom du modèle doit débuter par une majuscule et être au singulier.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703767C-0833-4544-85B1-13E6845D7307}"/>
              </a:ext>
            </a:extLst>
          </p:cNvPr>
          <p:cNvSpPr/>
          <p:nvPr/>
        </p:nvSpPr>
        <p:spPr>
          <a:xfrm>
            <a:off x="1043608" y="4293096"/>
            <a:ext cx="7416824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php</a:t>
            </a:r>
            <a:r>
              <a:rPr lang="fr-FR" sz="2000" dirty="0">
                <a:solidFill>
                  <a:srgbClr val="0070C0"/>
                </a:solidFill>
                <a:latin typeface="Source Code Pro"/>
              </a:rPr>
              <a:t> artisan </a:t>
            </a:r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make:model</a:t>
            </a:r>
            <a:r>
              <a:rPr lang="fr-FR" sz="2000" dirty="0">
                <a:solidFill>
                  <a:srgbClr val="0070C0"/>
                </a:solidFill>
                <a:latin typeface="Source Code Pro"/>
              </a:rPr>
              <a:t> </a:t>
            </a:r>
            <a:r>
              <a:rPr lang="fr-FR" sz="2000" dirty="0" err="1">
                <a:solidFill>
                  <a:srgbClr val="00B050"/>
                </a:solidFill>
                <a:latin typeface="Source Code Pro"/>
              </a:rPr>
              <a:t>NomModel</a:t>
            </a:r>
            <a:endParaRPr lang="fr-FR" sz="2000" dirty="0">
              <a:solidFill>
                <a:srgbClr val="00B050"/>
              </a:solidFill>
              <a:latin typeface="Source Code Pro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C243E26-9A9A-4168-B569-F126B2AAD457}"/>
              </a:ext>
            </a:extLst>
          </p:cNvPr>
          <p:cNvSpPr/>
          <p:nvPr/>
        </p:nvSpPr>
        <p:spPr>
          <a:xfrm>
            <a:off x="1027624" y="5935550"/>
            <a:ext cx="7416824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php</a:t>
            </a:r>
            <a:r>
              <a:rPr lang="fr-FR" sz="2000" dirty="0">
                <a:solidFill>
                  <a:srgbClr val="0070C0"/>
                </a:solidFill>
                <a:latin typeface="Source Code Pro"/>
              </a:rPr>
              <a:t> artisan </a:t>
            </a:r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make:model</a:t>
            </a:r>
            <a:r>
              <a:rPr lang="fr-FR" sz="2000" dirty="0">
                <a:solidFill>
                  <a:srgbClr val="0070C0"/>
                </a:solidFill>
                <a:latin typeface="Source Code Pro"/>
              </a:rPr>
              <a:t> </a:t>
            </a:r>
            <a:r>
              <a:rPr lang="fr-FR" sz="2000" dirty="0">
                <a:solidFill>
                  <a:srgbClr val="00B050"/>
                </a:solidFill>
                <a:latin typeface="Source Code Pro"/>
              </a:rPr>
              <a:t>Stagiaire</a:t>
            </a:r>
          </a:p>
        </p:txBody>
      </p:sp>
    </p:spTree>
    <p:extLst>
      <p:ext uri="{BB962C8B-B14F-4D97-AF65-F5344CB8AC3E}">
        <p14:creationId xmlns:p14="http://schemas.microsoft.com/office/powerpoint/2010/main" val="426827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 </a:t>
            </a:r>
            <a:r>
              <a:rPr lang="fr-FR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</a:t>
            </a:r>
            <a:r>
              <a:rPr lang="fr-FR" sz="20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apping</a:t>
            </a: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(Eloquent ORM)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est rarement utile de créer un modèle pour les tables pivot (tables intermédiaires dans les relations de plusieurs à plusieurs) et ce, même si la table pivot contient des informations autres que les clés étrangères. Eloquent vous offrira d'autres alternatives pour accéder à ces informations.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commande précédente créera un fichier nommé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Stagiaire.php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placé directement dans le dossier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sous le dossier de votre projet.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Voici le contenu initial du modèle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C243E26-9A9A-4168-B569-F126B2AAD457}"/>
              </a:ext>
            </a:extLst>
          </p:cNvPr>
          <p:cNvSpPr/>
          <p:nvPr/>
        </p:nvSpPr>
        <p:spPr>
          <a:xfrm>
            <a:off x="4296368" y="5043871"/>
            <a:ext cx="4320480" cy="15552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 err="1">
                <a:solidFill>
                  <a:srgbClr val="0070C0"/>
                </a:solidFill>
              </a:rPr>
              <a:t>namespace</a:t>
            </a:r>
            <a:r>
              <a:rPr lang="fr-FR" dirty="0"/>
              <a:t> App;</a:t>
            </a:r>
          </a:p>
          <a:p>
            <a:r>
              <a:rPr lang="fr-FR" dirty="0">
                <a:solidFill>
                  <a:srgbClr val="0070C0"/>
                </a:solidFill>
              </a:rPr>
              <a:t>use</a:t>
            </a:r>
            <a:r>
              <a:rPr lang="fr-FR" dirty="0"/>
              <a:t> </a:t>
            </a:r>
            <a:r>
              <a:rPr lang="fr-FR" dirty="0" err="1"/>
              <a:t>Illuminate</a:t>
            </a:r>
            <a:r>
              <a:rPr lang="fr-FR" dirty="0"/>
              <a:t>\</a:t>
            </a:r>
            <a:r>
              <a:rPr lang="fr-FR" dirty="0" err="1"/>
              <a:t>Database</a:t>
            </a:r>
            <a:r>
              <a:rPr lang="fr-FR" dirty="0"/>
              <a:t>\Eloquent\Model;</a:t>
            </a:r>
          </a:p>
          <a:p>
            <a:r>
              <a:rPr lang="fr-FR" dirty="0">
                <a:solidFill>
                  <a:srgbClr val="0070C0"/>
                </a:solidFill>
              </a:rPr>
              <a:t>class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Stagiaire</a:t>
            </a:r>
            <a:r>
              <a:rPr lang="fr-FR" dirty="0"/>
              <a:t> </a:t>
            </a:r>
            <a:r>
              <a:rPr lang="fr-FR" dirty="0" err="1">
                <a:solidFill>
                  <a:srgbClr val="C00000"/>
                </a:solidFill>
              </a:rPr>
              <a:t>extends</a:t>
            </a:r>
            <a:r>
              <a:rPr lang="fr-FR" dirty="0"/>
              <a:t> </a:t>
            </a:r>
            <a:r>
              <a:rPr lang="fr-FR" dirty="0">
                <a:solidFill>
                  <a:srgbClr val="0070C0"/>
                </a:solidFill>
              </a:rPr>
              <a:t>Model</a:t>
            </a:r>
          </a:p>
          <a:p>
            <a:r>
              <a:rPr lang="fr-FR" dirty="0"/>
              <a:t>{</a:t>
            </a:r>
          </a:p>
          <a:p>
            <a:r>
              <a:rPr lang="fr-FR" dirty="0"/>
              <a:t>    //</a:t>
            </a:r>
          </a:p>
          <a:p>
            <a:r>
              <a:rPr lang="fr-FR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016096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 </a:t>
            </a:r>
            <a:r>
              <a:rPr lang="fr-FR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</a:t>
            </a:r>
            <a:r>
              <a:rPr lang="fr-FR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apping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(Eloquent ORM)</a:t>
            </a:r>
          </a:p>
          <a:p>
            <a:pPr marL="400050" lvl="1" indent="0">
              <a:buNone/>
            </a:pPr>
            <a:r>
              <a:rPr lang="fr-FR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modèle </a:t>
            </a:r>
            <a:r>
              <a:rPr lang="fr-FR" sz="3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</a:t>
            </a: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automatiquement lié à la table </a:t>
            </a:r>
            <a:r>
              <a:rPr lang="fr-FR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stagiaires</a:t>
            </a: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Laravel saura faire ce lien si le nom de la table est exactement le nom du modèle, tout en lettre minuscules avec en plus un </a:t>
            </a:r>
            <a:r>
              <a:rPr lang="fr-FR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final.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Dès que le modèle est créé, même si la classe est vide, Laravel saura l'utiliser dans ses requêtes, à condition d'avoir suivi les standards de Laravel </a:t>
            </a:r>
            <a:r>
              <a:rPr lang="fr-FR" sz="3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 : nom du modèle = nom de la table sans le s).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une raison ou pour une autre, un standard n'a pas été respecté, Laravel vous permettra de lui indiquer comment travailler en ajoutant des propriétés et des méthodes.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Parmi les plus intéressantes, notons :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nom de la table liée au modèle, lorsque son nom n'est pas obtenu en ajoutant un 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 nom du modèle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entre les tables (méthodes retournant une instance de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HasMany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BelongsToMany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HasManyThrough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HasOne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accesseurs et mutateurs (méthodes dont le nom débute par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par 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se termine par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modificateurs de portée pour les requêtes (méthodes dont le nom débute par 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0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3"/>
            </a:pPr>
            <a:r>
              <a:rPr lang="fr-FR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bject </a:t>
            </a:r>
            <a:r>
              <a:rPr lang="fr-FR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</a:t>
            </a:r>
            <a:r>
              <a:rPr lang="fr-FR" sz="3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apping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(Eloquent ORM)</a:t>
            </a:r>
          </a:p>
          <a:p>
            <a:pPr marL="400050" lvl="1" indent="0">
              <a:buNone/>
            </a:pPr>
            <a:r>
              <a:rPr lang="fr-FR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modèle </a:t>
            </a:r>
            <a:r>
              <a:rPr lang="fr-FR" sz="3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</a:t>
            </a: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automatiquement lié à la table </a:t>
            </a:r>
            <a:r>
              <a:rPr lang="fr-FR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stagiaires</a:t>
            </a: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Laravel saura faire ce lien si le nom de la table est exactement le nom du modèle, tout en lettre minuscules avec en plus un </a:t>
            </a:r>
            <a:r>
              <a:rPr lang="fr-FR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final.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Dès que le modèle est créé, même si la classe est vide, Laravel saura l'utiliser dans ses requêtes, à condition d'avoir suivi les standards de Laravel </a:t>
            </a:r>
            <a:r>
              <a:rPr lang="fr-FR" sz="3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 : nom du modèle = nom de la table sans le s).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une raison ou pour une autre, un standard n'a pas été respecté, Laravel vous permettra de lui indiquer comment travailler en ajoutant des propriétés et des méthodes.</a:t>
            </a:r>
          </a:p>
          <a:p>
            <a:pPr marL="400050" lvl="1" indent="0">
              <a:buNone/>
            </a:pPr>
            <a:r>
              <a:rPr lang="fr-FR" sz="3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Parmi les plus intéressantes, notons :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nom de la table liée au modèle, lorsque son nom n'est pas obtenu en ajoutant un 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 nom du modèle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entre les tables (méthodes retournant une instance de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HasMany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BelongsToMany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HasManyThrough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HasOne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accesseurs et mutateurs (méthodes dont le nom débute par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par 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se termine par </a:t>
            </a:r>
            <a:r>
              <a:rPr lang="fr-FR" sz="2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indent="-342900">
              <a:buFont typeface="Wingdings" panose="05000000000000000000" pitchFamily="2" charset="2"/>
              <a:buChar char="ü"/>
            </a:pP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modificateurs de portée pour les requêtes (méthodes dont le nom débute par </a:t>
            </a:r>
            <a:r>
              <a:rPr lang="fr-FR" sz="2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fr-FR" sz="2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5363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2030</TotalTime>
  <Words>1018</Words>
  <Application>Microsoft Office PowerPoint</Application>
  <PresentationFormat>Affichage à l'écran (4:3)</PresentationFormat>
  <Paragraphs>101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7" baseType="lpstr">
      <vt:lpstr>Angsana New</vt:lpstr>
      <vt:lpstr>Arial</vt:lpstr>
      <vt:lpstr>Calibri</vt:lpstr>
      <vt:lpstr>Consolas</vt:lpstr>
      <vt:lpstr>Source Code Pro</vt:lpstr>
      <vt:lpstr>Times New Roman</vt:lpstr>
      <vt:lpstr>Wingdings</vt:lpstr>
      <vt:lpstr>Thème Office</vt:lpstr>
      <vt:lpstr>Présentation PowerPoint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DOT NET Langage VB.NET Réalisé par M. Hamid Belyazidi Année Scolaire 2011/2012 </dc:title>
  <dc:creator>Belyazidi</dc:creator>
  <cp:lastModifiedBy>HAMID BELYAZIDI</cp:lastModifiedBy>
  <cp:revision>284</cp:revision>
  <dcterms:created xsi:type="dcterms:W3CDTF">2011-10-01T12:57:10Z</dcterms:created>
  <dcterms:modified xsi:type="dcterms:W3CDTF">2026-01-16T08:03:55Z</dcterms:modified>
</cp:coreProperties>
</file>