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2" r:id="rId4"/>
    <p:sldId id="323" r:id="rId5"/>
    <p:sldId id="324" r:id="rId6"/>
    <p:sldId id="334" r:id="rId7"/>
    <p:sldId id="335" r:id="rId8"/>
    <p:sldId id="336" r:id="rId9"/>
    <p:sldId id="337" r:id="rId10"/>
    <p:sldId id="339" r:id="rId11"/>
    <p:sldId id="338" r:id="rId12"/>
    <p:sldId id="340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D4C85-A4FC-445A-8CEF-D1C520D6A608}" type="datetimeFigureOut">
              <a:rPr lang="fr-FR" smtClean="0"/>
              <a:pPr/>
              <a:t>17/01/2026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5F3625BF-3F7C-E5E9-87EC-84AF89FCC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3837E31-76B9-4358-BD34-E36AC93E87F7}"/>
              </a:ext>
            </a:extLst>
          </p:cNvPr>
          <p:cNvSpPr/>
          <p:nvPr/>
        </p:nvSpPr>
        <p:spPr>
          <a:xfrm>
            <a:off x="1879100" y="733117"/>
            <a:ext cx="5472608" cy="504977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/>
          <a:lstStyle/>
          <a:p>
            <a:pPr marL="514350" indent="-514350">
              <a:buNone/>
            </a:pPr>
            <a:endParaRPr lang="fr-FR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108DB9-4B51-4327-BAA9-34CE9E2C27A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5113"/>
            <a:ext cx="864096" cy="704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70F5631-B51C-4E5A-A708-40AE05543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449119"/>
              </p:ext>
            </p:extLst>
          </p:nvPr>
        </p:nvGraphicFramePr>
        <p:xfrm>
          <a:off x="1259632" y="479438"/>
          <a:ext cx="6124575" cy="314325"/>
        </p:xfrm>
        <a:graphic>
          <a:graphicData uri="http://schemas.openxmlformats.org/drawingml/2006/table">
            <a:tbl>
              <a:tblPr/>
              <a:tblGrid>
                <a:gridCol w="6124575">
                  <a:extLst>
                    <a:ext uri="{9D8B030D-6E8A-4147-A177-3AD203B41FA5}">
                      <a16:colId xmlns:a16="http://schemas.microsoft.com/office/drawing/2014/main" val="3998408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1400" b="1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Direction Régionale Rabat – Salé - Kénitra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34073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89DDFF2-F8CB-41BE-B914-4AF57B786865}"/>
              </a:ext>
            </a:extLst>
          </p:cNvPr>
          <p:cNvSpPr/>
          <p:nvPr/>
        </p:nvSpPr>
        <p:spPr>
          <a:xfrm>
            <a:off x="6804248" y="6287016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i="1" dirty="0">
                <a:latin typeface="Angsana New" pitchFamily="18" charset="-34"/>
                <a:cs typeface="Angsana New" pitchFamily="18" charset="-34"/>
              </a:rPr>
              <a:t>Réalisé par M. Hamid </a:t>
            </a:r>
            <a:r>
              <a:rPr lang="fr-FR" i="1" dirty="0" err="1">
                <a:latin typeface="Angsana New" pitchFamily="18" charset="-34"/>
                <a:cs typeface="Angsana New" pitchFamily="18" charset="-34"/>
              </a:rPr>
              <a:t>Belyazidi</a:t>
            </a:r>
            <a:endParaRPr lang="fr-FR" i="1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E213D3-8E98-4129-BEC2-FBE648C34139}"/>
              </a:ext>
            </a:extLst>
          </p:cNvPr>
          <p:cNvSpPr/>
          <p:nvPr/>
        </p:nvSpPr>
        <p:spPr>
          <a:xfrm>
            <a:off x="6784214" y="148206"/>
            <a:ext cx="2186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i="1" dirty="0">
                <a:latin typeface="Angsana New" pitchFamily="18" charset="-34"/>
                <a:cs typeface="Angsana New" pitchFamily="18" charset="-34"/>
              </a:rPr>
              <a:t>Année de formation :2025/2026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9E4E8-707B-4C64-92ED-A5F3701B082E}"/>
              </a:ext>
            </a:extLst>
          </p:cNvPr>
          <p:cNvSpPr/>
          <p:nvPr/>
        </p:nvSpPr>
        <p:spPr>
          <a:xfrm>
            <a:off x="1846601" y="770017"/>
            <a:ext cx="5328592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Développer en back-end</a:t>
            </a:r>
            <a:endParaRPr lang="fr-FR" sz="24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F5AEB-5EF8-495E-97C3-D51D6A6A9F31}"/>
              </a:ext>
            </a:extLst>
          </p:cNvPr>
          <p:cNvSpPr/>
          <p:nvPr/>
        </p:nvSpPr>
        <p:spPr>
          <a:xfrm>
            <a:off x="2051720" y="5477530"/>
            <a:ext cx="2850852" cy="5232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dirty="0"/>
              <a:t>Validation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 Framework PHP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les notions fondamentales des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PHP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Préparer l’environnement de Laravel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Maîtriser le Framework Laravel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Gérer la sécurité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Prendre en charge les tests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Administrer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éléments essentiels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Personnaliser graphiquement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outils avancés d’un CMS</a:t>
            </a:r>
          </a:p>
          <a:p>
            <a:pPr marL="0" lvl="1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457200">
              <a:buFont typeface="+mj-lt"/>
              <a:buAutoNum type="alphaUcPeriod"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74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dirty="0"/>
              <a:t> </a:t>
            </a: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du routage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des Middleware (définition, enregistrement, paramétrage, terminate)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CSRF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contrôleurs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requêtes http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réponses http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vues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Template Blade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d’URL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sessions HTTP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des données d’entrée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des erreurs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Journalisation (logging)</a:t>
            </a:r>
          </a:p>
          <a:p>
            <a:pPr lvl="2">
              <a:buFont typeface="Wingdings" panose="05000000000000000000" pitchFamily="2" charset="2"/>
              <a:buChar char="ü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+mj-lt"/>
              <a:buAutoNum type="arabicPeriod"/>
            </a:pPr>
            <a:endParaRPr lang="fr-FR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4851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sz="2000" dirty="0"/>
              <a:t>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0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00B0F0"/>
                </a:solidFill>
              </a:rPr>
              <a:t>Introduction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validation est l'aspect le plus important lors de la conception d'une application. Il valide les données entrantes. En général on procède à une première validation </a:t>
            </a:r>
            <a:r>
              <a:rPr lang="fr-F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client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éviter de faire des allers-retours avec le serveur. Mais quelle que soit la pertinence de cette validation côté client elle n’exonère pas d’une validation </a:t>
            </a:r>
            <a:r>
              <a:rPr lang="fr-F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côté serveur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vérifiera toujours les erreurs dans les données de session et les liera automatiquement à la vue si elles sont disponibles. Il est donc important de noter qu'une variable 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sera toujours disponible dans toutes vos vues à chaque requête, ce qui vous permet de supposer facilement que la variable 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errors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toujours définie et peut être utilisée en toute sécurité.</a:t>
            </a:r>
          </a:p>
          <a:p>
            <a:pPr lvl="1" indent="-342900">
              <a:buFont typeface="+mj-lt"/>
              <a:buAutoNum type="arabicPeriod"/>
            </a:pPr>
            <a:endParaRPr lang="fr-FR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31826B-291A-4F1B-A1CB-DAE9FD27E5DC}"/>
              </a:ext>
            </a:extLst>
          </p:cNvPr>
          <p:cNvSpPr/>
          <p:nvPr/>
        </p:nvSpPr>
        <p:spPr>
          <a:xfrm>
            <a:off x="2843808" y="5949280"/>
            <a:ext cx="5688632" cy="5183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400050" lvl="1" indent="0" algn="ctr">
              <a:buNone/>
            </a:pPr>
            <a:r>
              <a:rPr lang="fr-FR" sz="1600" b="1" i="1" dirty="0">
                <a:solidFill>
                  <a:srgbClr val="002060"/>
                </a:solidFill>
              </a:rPr>
              <a:t>On ne doit jamais faire confiance à des données qui arrivent sur le serveur </a:t>
            </a:r>
          </a:p>
        </p:txBody>
      </p:sp>
    </p:spTree>
    <p:extLst>
      <p:ext uri="{BB962C8B-B14F-4D97-AF65-F5344CB8AC3E}">
        <p14:creationId xmlns:p14="http://schemas.microsoft.com/office/powerpoint/2010/main" val="1712648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sz="2000" dirty="0"/>
              <a:t>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0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00B0F0"/>
                </a:solidFill>
              </a:rPr>
              <a:t>Les messages en français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défaut les messages sont en anglais.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avoir ces textes en français commencez par cette installation :</a:t>
            </a: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Puis installez le français :</a:t>
            </a:r>
          </a:p>
          <a:p>
            <a:pPr marL="400050" lvl="1" indent="0">
              <a:buNone/>
            </a:pPr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DE2CAE-BFA0-494F-9384-11547DFCA322}"/>
              </a:ext>
            </a:extLst>
          </p:cNvPr>
          <p:cNvSpPr/>
          <p:nvPr/>
        </p:nvSpPr>
        <p:spPr>
          <a:xfrm>
            <a:off x="611560" y="3789040"/>
            <a:ext cx="7920880" cy="8640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indent="-57150"/>
            <a:r>
              <a:rPr lang="fr-FR" dirty="0">
                <a:solidFill>
                  <a:srgbClr val="C00000"/>
                </a:solidFill>
                <a:latin typeface="Source Code Pro"/>
              </a:rPr>
              <a:t>composer 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require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laravel-lang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/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publisher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laravel-lang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/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lang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laravel-lang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/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attributes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 --dev</a:t>
            </a:r>
          </a:p>
          <a:p>
            <a:pPr marL="400050" lvl="1" indent="0">
              <a:buNone/>
            </a:pPr>
            <a:endParaRPr lang="fr-FR" sz="1600" dirty="0">
              <a:solidFill>
                <a:srgbClr val="00B0F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18B47A-DC51-42BA-9C15-8804EE2B18E7}"/>
              </a:ext>
            </a:extLst>
          </p:cNvPr>
          <p:cNvSpPr/>
          <p:nvPr/>
        </p:nvSpPr>
        <p:spPr>
          <a:xfrm>
            <a:off x="611560" y="5157192"/>
            <a:ext cx="7920880" cy="5760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indent="-57150"/>
            <a:r>
              <a:rPr lang="fr-FR" dirty="0">
                <a:solidFill>
                  <a:srgbClr val="C00000"/>
                </a:solidFill>
                <a:latin typeface="Source Code Pro"/>
              </a:rPr>
              <a:t>php artisan 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lang:add</a:t>
            </a:r>
            <a:r>
              <a:rPr lang="fr-FR" dirty="0">
                <a:solidFill>
                  <a:srgbClr val="C00000"/>
                </a:solidFill>
                <a:latin typeface="Source Code Pro"/>
              </a:rPr>
              <a:t> </a:t>
            </a:r>
            <a:r>
              <a:rPr lang="fr-FR" dirty="0" err="1">
                <a:solidFill>
                  <a:srgbClr val="C00000"/>
                </a:solidFill>
                <a:latin typeface="Source Code Pro"/>
              </a:rPr>
              <a:t>fr</a:t>
            </a:r>
            <a:endParaRPr lang="fr-FR" dirty="0">
              <a:solidFill>
                <a:srgbClr val="C0000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83581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dirty="0"/>
              <a:t> </a:t>
            </a: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4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méthode :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914400" lvl="2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1DA2F9-3ED6-4D80-8899-930CF37C2EF2}"/>
              </a:ext>
            </a:extLst>
          </p:cNvPr>
          <p:cNvSpPr/>
          <p:nvPr/>
        </p:nvSpPr>
        <p:spPr>
          <a:xfrm>
            <a:off x="719572" y="3140968"/>
            <a:ext cx="7704856" cy="33266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insert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6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){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validate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([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required|unique:stagiaires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required|max:40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required|between:17,30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]);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DB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stagiaires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')-&gt;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insert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([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'=&gt;$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'=&gt;$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prenom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'=&gt;$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]);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redirect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()-&gt;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route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stagiaire.index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063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dirty="0"/>
              <a:t> </a:t>
            </a: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4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requête :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StagiaireRequest</a:t>
            </a:r>
          </a:p>
          <a:p>
            <a:pPr marL="400050" lvl="1" indent="0">
              <a:buNone/>
            </a:pP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1DA2F9-3ED6-4D80-8899-930CF37C2EF2}"/>
              </a:ext>
            </a:extLst>
          </p:cNvPr>
          <p:cNvSpPr/>
          <p:nvPr/>
        </p:nvSpPr>
        <p:spPr>
          <a:xfrm>
            <a:off x="719572" y="3789040"/>
            <a:ext cx="7704856" cy="7343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authorize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(){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</a:rPr>
              <a:t>true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DD328CAC-DF0A-493D-826B-1176FBACFC52}"/>
              </a:ext>
            </a:extLst>
          </p:cNvPr>
          <p:cNvSpPr/>
          <p:nvPr/>
        </p:nvSpPr>
        <p:spPr>
          <a:xfrm>
            <a:off x="728631" y="3109156"/>
            <a:ext cx="7704856" cy="5358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0070C0"/>
                </a:solidFill>
                <a:latin typeface="Consolas" panose="020B0609020204030204" pitchFamily="49" charset="0"/>
              </a:rPr>
              <a:t>php artisan </a:t>
            </a:r>
            <a:r>
              <a:rPr lang="fr-FR" dirty="0">
                <a:solidFill>
                  <a:srgbClr val="C00000"/>
                </a:solidFill>
                <a:latin typeface="Consolas" panose="020B0609020204030204" pitchFamily="49" charset="0"/>
              </a:rPr>
              <a:t>make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:</a:t>
            </a:r>
            <a:r>
              <a:rPr lang="fr-FR" dirty="0">
                <a:solidFill>
                  <a:srgbClr val="C00000"/>
                </a:solidFill>
                <a:latin typeface="Consolas" panose="020B0609020204030204" pitchFamily="49" charset="0"/>
              </a:rPr>
              <a:t>request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00B050"/>
                </a:solidFill>
                <a:latin typeface="Consolas" panose="020B0609020204030204" pitchFamily="49" charset="0"/>
              </a:rPr>
              <a:t>StagiaireRequest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7C49E95-05AA-4E4E-9D4C-FD6B983ADDB0}"/>
              </a:ext>
            </a:extLst>
          </p:cNvPr>
          <p:cNvSpPr/>
          <p:nvPr/>
        </p:nvSpPr>
        <p:spPr>
          <a:xfrm>
            <a:off x="693324" y="4667436"/>
            <a:ext cx="7704856" cy="18002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rules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(){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required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required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</a:rPr>
              <a:t>required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];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72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dirty="0"/>
              <a:t> </a:t>
            </a: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4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requête :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StagiaireRequest</a:t>
            </a:r>
          </a:p>
          <a:p>
            <a:pPr marL="400050" lvl="1" indent="0">
              <a:buNone/>
            </a:pP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1DA2F9-3ED6-4D80-8899-930CF37C2EF2}"/>
              </a:ext>
            </a:extLst>
          </p:cNvPr>
          <p:cNvSpPr/>
          <p:nvPr/>
        </p:nvSpPr>
        <p:spPr>
          <a:xfrm>
            <a:off x="719572" y="3284984"/>
            <a:ext cx="7704856" cy="230425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insert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StagiaireRequest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){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        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DB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stagiaires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')-&gt;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insert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([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'=&gt;$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'=&gt;$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prenom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'=&gt;$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request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age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]);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redirect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()-&gt;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route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stagiaire.index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07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dirty="0"/>
              <a:t> </a:t>
            </a: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4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méthode :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messages</a:t>
            </a:r>
          </a:p>
          <a:p>
            <a:pPr marL="400050" lvl="1" indent="0">
              <a:buNone/>
            </a:pP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1DA2F9-3ED6-4D80-8899-930CF37C2EF2}"/>
              </a:ext>
            </a:extLst>
          </p:cNvPr>
          <p:cNvSpPr/>
          <p:nvPr/>
        </p:nvSpPr>
        <p:spPr>
          <a:xfrm>
            <a:off x="719572" y="3284984"/>
            <a:ext cx="7704856" cy="21602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messages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nom.required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Veuillez Entrez Le :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attribute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prenom.required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Veuillez Entrez le :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attribute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age.required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'=&gt;"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Veuillez Entrez l':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attribute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"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];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499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sz="2000" dirty="0"/>
              <a:t>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0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vue :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create.blade.php</a:t>
            </a: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1DA2F9-3ED6-4D80-8899-930CF37C2EF2}"/>
              </a:ext>
            </a:extLst>
          </p:cNvPr>
          <p:cNvSpPr/>
          <p:nvPr/>
        </p:nvSpPr>
        <p:spPr>
          <a:xfrm>
            <a:off x="611560" y="2852936"/>
            <a:ext cx="7920880" cy="345638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Fiche Nouveau Stagiaire :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h5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"w-100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-info mt-2 p-2"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fr-F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Route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stagiaire.insert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"POST"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@csrf</a:t>
            </a:r>
            <a:endParaRPr lang="fr-F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mb-3"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CCCCCC"/>
                </a:solidFill>
                <a:latin typeface="Consolas" panose="020B0609020204030204" pitchFamily="49" charset="0"/>
              </a:rPr>
              <a:t>  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inputnom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"col-sm-2 col-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-label"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Entrez votre Nom :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"col-sm-5"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-control"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required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('nom') 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fr-F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('nom')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is-invalid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@enderror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@error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'nom'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-danger"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$message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@enderror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1300136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dirty="0"/>
              <a:t> </a:t>
            </a: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4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vue :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create.blade.php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(suite)</a:t>
            </a:r>
          </a:p>
          <a:p>
            <a:pPr marL="400050" lvl="1" indent="0">
              <a:buNone/>
            </a:pP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1DA2F9-3ED6-4D80-8899-930CF37C2EF2}"/>
              </a:ext>
            </a:extLst>
          </p:cNvPr>
          <p:cNvSpPr/>
          <p:nvPr/>
        </p:nvSpPr>
        <p:spPr>
          <a:xfrm>
            <a:off x="611560" y="3140968"/>
            <a:ext cx="7704856" cy="316835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mb-3"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inputprenom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"col-sm-2 col-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-label"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Entrez votre Prénom :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"col-sm-5"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-control"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prenom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prenom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 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fr-F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prenom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is-invalid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@enderror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@error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'prenom'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-danger"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$message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@enderror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500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2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</a:t>
            </a:r>
            <a:r>
              <a:rPr lang="fr-FR" dirty="0"/>
              <a:t> </a:t>
            </a: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 algn="ctr">
              <a:buNone/>
            </a:pPr>
            <a:r>
              <a:rPr lang="fr-FR" sz="2400" dirty="0">
                <a:solidFill>
                  <a:srgbClr val="00B0F0"/>
                </a:solidFill>
              </a:rPr>
              <a:t>Validation des données d’entrée</a:t>
            </a:r>
          </a:p>
          <a:p>
            <a:pPr marL="400050" lvl="1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vue :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create.blade.php</a:t>
            </a:r>
            <a:r>
              <a:rPr lang="fr-FR" sz="200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(fin)</a:t>
            </a: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 typeface="Wingdings" panose="05000000000000000000" pitchFamily="2" charset="2"/>
              <a:buChar char="ü"/>
            </a:pPr>
            <a:endParaRPr lang="fr-FR" sz="2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61DA2F9-3ED6-4D80-8899-930CF37C2EF2}"/>
              </a:ext>
            </a:extLst>
          </p:cNvPr>
          <p:cNvSpPr/>
          <p:nvPr/>
        </p:nvSpPr>
        <p:spPr>
          <a:xfrm>
            <a:off x="570384" y="3140968"/>
            <a:ext cx="8116416" cy="33266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row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mb-3"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inputage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"col-sm-2 col-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-label"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Entrez votre Age :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"col-sm-3"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-control"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old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 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</a:t>
            </a:r>
            <a:r>
              <a:rPr lang="fr-F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('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')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is-invalid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@enderror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@error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-danger"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{{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$message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}}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@enderror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"col-12"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r-F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btn-primary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Ajouter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r-FR" sz="1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fr-FR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&gt;</a:t>
            </a:r>
            <a:endParaRPr lang="fr-FR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1955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1632</TotalTime>
  <Words>1182</Words>
  <Application>Microsoft Office PowerPoint</Application>
  <PresentationFormat>Affichage à l'écran (4:3)</PresentationFormat>
  <Paragraphs>178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20" baseType="lpstr">
      <vt:lpstr>Angsana New</vt:lpstr>
      <vt:lpstr>Arial</vt:lpstr>
      <vt:lpstr>Calibri</vt:lpstr>
      <vt:lpstr>Consolas</vt:lpstr>
      <vt:lpstr>Source Code Pro</vt:lpstr>
      <vt:lpstr>Times New Roman</vt:lpstr>
      <vt:lpstr>Wingdings</vt:lpstr>
      <vt:lpstr>Thème Office</vt:lpstr>
      <vt:lpstr>Présentation PowerPoint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DOT NET Langage VB.NET Réalisé par M. Hamid Belyazidi Année Scolaire 2011/2012 </dc:title>
  <dc:creator>Belyazidi</dc:creator>
  <cp:lastModifiedBy>HAMID BELYAZIDI</cp:lastModifiedBy>
  <cp:revision>207</cp:revision>
  <dcterms:created xsi:type="dcterms:W3CDTF">2011-10-01T12:57:10Z</dcterms:created>
  <dcterms:modified xsi:type="dcterms:W3CDTF">2026-01-17T11:51:21Z</dcterms:modified>
</cp:coreProperties>
</file>