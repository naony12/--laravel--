
<file path=[Content_Types].xml><?xml version="1.0" encoding="utf-8"?>
<Types xmlns="http://schemas.openxmlformats.org/package/2006/content-types">
  <Default Extension="jpeg" ContentType="image/jpe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78" r:id="rId2"/>
    <p:sldId id="279" r:id="rId3"/>
    <p:sldId id="282" r:id="rId4"/>
    <p:sldId id="323" r:id="rId5"/>
    <p:sldId id="345" r:id="rId6"/>
    <p:sldId id="346" r:id="rId7"/>
    <p:sldId id="340" r:id="rId8"/>
    <p:sldId id="347" r:id="rId9"/>
    <p:sldId id="341" r:id="rId10"/>
    <p:sldId id="342" r:id="rId11"/>
    <p:sldId id="343" r:id="rId12"/>
    <p:sldId id="344" r:id="rId13"/>
    <p:sldId id="348" r:id="rId14"/>
    <p:sldId id="349" r:id="rId15"/>
    <p:sldId id="351" r:id="rId16"/>
    <p:sldId id="352" r:id="rId17"/>
    <p:sldId id="353" r:id="rId18"/>
    <p:sldId id="350" r:id="rId19"/>
    <p:sldId id="354" r:id="rId20"/>
    <p:sldId id="355" r:id="rId21"/>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91" autoAdjust="0"/>
  </p:normalViewPr>
  <p:slideViewPr>
    <p:cSldViewPr>
      <p:cViewPr varScale="1">
        <p:scale>
          <a:sx n="70" d="100"/>
          <a:sy n="70" d="100"/>
        </p:scale>
        <p:origin x="1386"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4B65285-CDE4-465A-9EEF-527D458A64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C9E17115-8481-4FE2-8B56-3A50C517A3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77799C-AEA1-413C-B475-1B9D47145956}" type="datetimeFigureOut">
              <a:rPr lang="fr-FR" smtClean="0"/>
              <a:t>09/10/2025</a:t>
            </a:fld>
            <a:endParaRPr lang="fr-FR"/>
          </a:p>
        </p:txBody>
      </p:sp>
      <p:sp>
        <p:nvSpPr>
          <p:cNvPr id="4" name="Espace réservé du pied de page 3">
            <a:extLst>
              <a:ext uri="{FF2B5EF4-FFF2-40B4-BE49-F238E27FC236}">
                <a16:creationId xmlns:a16="http://schemas.microsoft.com/office/drawing/2014/main" id="{D19750DF-5C88-4973-8E8B-2D46EF67B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A893EC9C-1153-42A4-BE1A-03913AC91B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11C9C34-6C1A-4200-920A-1D4AECFD5CE6}" type="slidenum">
              <a:rPr lang="fr-FR" smtClean="0"/>
              <a:t>‹N°›</a:t>
            </a:fld>
            <a:endParaRPr lang="fr-FR"/>
          </a:p>
        </p:txBody>
      </p:sp>
    </p:spTree>
    <p:extLst>
      <p:ext uri="{BB962C8B-B14F-4D97-AF65-F5344CB8AC3E}">
        <p14:creationId xmlns:p14="http://schemas.microsoft.com/office/powerpoint/2010/main" val="24615772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D953B3-9B62-4FB3-9AD6-8CD7FBF255E2}" type="datetimeFigureOut">
              <a:rPr lang="fr-FR" smtClean="0"/>
              <a:t>09/10/2025</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D08132-DE09-4C7F-9B09-447DC10D5F88}" type="slidenum">
              <a:rPr lang="fr-FR" smtClean="0"/>
              <a:t>‹N°›</a:t>
            </a:fld>
            <a:endParaRPr lang="fr-FR"/>
          </a:p>
        </p:txBody>
      </p:sp>
    </p:spTree>
    <p:extLst>
      <p:ext uri="{BB962C8B-B14F-4D97-AF65-F5344CB8AC3E}">
        <p14:creationId xmlns:p14="http://schemas.microsoft.com/office/powerpoint/2010/main" val="25198387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42356FFE-A0DF-4266-979D-D68DD5CAE0DF}" type="datetime1">
              <a:rPr lang="fr-FR" smtClean="0"/>
              <a:t>09/10/2025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1004018-D774-42C9-BD71-7BCB069DC5A6}" type="datetime1">
              <a:rPr lang="fr-FR" smtClean="0"/>
              <a:t>09/10/2025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6C5B4BFF-8F5E-4ADF-B531-C2D84B0BC67D}" type="datetime1">
              <a:rPr lang="fr-FR" smtClean="0"/>
              <a:t>09/10/2025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C3CFF76-E003-41BC-B1E3-3799611CBA9D}" type="datetime1">
              <a:rPr lang="fr-FR" smtClean="0"/>
              <a:t>09/10/2025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1AA68681-B20B-4C12-83E1-58124216C510}" type="datetime1">
              <a:rPr lang="fr-FR" smtClean="0"/>
              <a:t>09/10/2025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E76924AB-B6F9-4E7D-B917-FDC5E99C305C}" type="datetime1">
              <a:rPr lang="fr-FR" smtClean="0"/>
              <a:t>09/10/2025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B95691B-DFA5-4EBA-A66D-BF476A0753FC}" type="datetime1">
              <a:rPr lang="fr-FR" smtClean="0"/>
              <a:t>09/10/2025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F20E2A4-DFC2-4392-B406-3EBAFC19C983}" type="datetime1">
              <a:rPr lang="fr-FR" smtClean="0"/>
              <a:t>09/10/2025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43C75ED8-5C9F-454C-B001-EFC5B588208F}" type="datetime1">
              <a:rPr lang="fr-FR" smtClean="0"/>
              <a:t>09/10/2025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F1766C2-5CB5-46EE-9F07-26FE07309590}" type="datetime1">
              <a:rPr lang="fr-FR" smtClean="0"/>
              <a:t>09/10/2025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1EF613B0-B135-40D3-B572-18764DD11168}" type="datetime1">
              <a:rPr lang="fr-FR" smtClean="0"/>
              <a:t>09/10/2025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ABB748-A59E-41B0-887A-1FC63D0CACDB}" type="datetime1">
              <a:rPr lang="fr-FR" smtClean="0"/>
              <a:t>09/10/2025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027249-2045-409D-A865-90E3C3AB8354}"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CC8FE52E-C8A6-526A-FE8D-9E903455EB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12" name="Rectangle : coins arrondis 11">
            <a:extLst>
              <a:ext uri="{FF2B5EF4-FFF2-40B4-BE49-F238E27FC236}">
                <a16:creationId xmlns:a16="http://schemas.microsoft.com/office/drawing/2014/main" id="{83837E31-76B9-4358-BD34-E36AC93E87F7}"/>
              </a:ext>
            </a:extLst>
          </p:cNvPr>
          <p:cNvSpPr/>
          <p:nvPr/>
        </p:nvSpPr>
        <p:spPr>
          <a:xfrm>
            <a:off x="1863648" y="857250"/>
            <a:ext cx="5472608" cy="504825"/>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428596" y="1500174"/>
            <a:ext cx="8229600" cy="4525963"/>
          </a:xfrm>
        </p:spPr>
        <p:txBody>
          <a:bodyPr/>
          <a:lstStyle/>
          <a:p>
            <a:pPr marL="514350" indent="-514350">
              <a:buNone/>
            </a:pPr>
            <a:endParaRPr lang="fr-FR" u="sng" dirty="0">
              <a:solidFill>
                <a:schemeClr val="tx1">
                  <a:lumMod val="95000"/>
                  <a:lumOff val="5000"/>
                </a:schemeClr>
              </a:solidFill>
            </a:endParaRPr>
          </a:p>
          <a:p>
            <a:pPr>
              <a:buNone/>
            </a:pPr>
            <a:endParaRPr lang="fr-FR" dirty="0"/>
          </a:p>
        </p:txBody>
      </p:sp>
      <p:pic>
        <p:nvPicPr>
          <p:cNvPr id="9" name="Image 8">
            <a:extLst>
              <a:ext uri="{FF2B5EF4-FFF2-40B4-BE49-F238E27FC236}">
                <a16:creationId xmlns:a16="http://schemas.microsoft.com/office/drawing/2014/main" id="{27108DB9-4B51-4327-BAA9-34CE9E2C27A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165113"/>
            <a:ext cx="864096" cy="704850"/>
          </a:xfrm>
          <a:prstGeom prst="rect">
            <a:avLst/>
          </a:prstGeom>
          <a:noFill/>
          <a:ln>
            <a:noFill/>
          </a:ln>
        </p:spPr>
      </p:pic>
      <p:graphicFrame>
        <p:nvGraphicFramePr>
          <p:cNvPr id="7" name="Tableau 6">
            <a:extLst>
              <a:ext uri="{FF2B5EF4-FFF2-40B4-BE49-F238E27FC236}">
                <a16:creationId xmlns:a16="http://schemas.microsoft.com/office/drawing/2014/main" id="{670F5631-B51C-4E5A-A708-40AE055435D7}"/>
              </a:ext>
            </a:extLst>
          </p:cNvPr>
          <p:cNvGraphicFramePr>
            <a:graphicFrameLocks noGrp="1"/>
          </p:cNvGraphicFramePr>
          <p:nvPr>
            <p:extLst>
              <p:ext uri="{D42A27DB-BD31-4B8C-83A1-F6EECF244321}">
                <p14:modId xmlns:p14="http://schemas.microsoft.com/office/powerpoint/2010/main" val="3075449119"/>
              </p:ext>
            </p:extLst>
          </p:nvPr>
        </p:nvGraphicFramePr>
        <p:xfrm>
          <a:off x="1259632" y="479438"/>
          <a:ext cx="6124575" cy="314325"/>
        </p:xfrm>
        <a:graphic>
          <a:graphicData uri="http://schemas.openxmlformats.org/drawingml/2006/table">
            <a:tbl>
              <a:tblPr/>
              <a:tblGrid>
                <a:gridCol w="6124575">
                  <a:extLst>
                    <a:ext uri="{9D8B030D-6E8A-4147-A177-3AD203B41FA5}">
                      <a16:colId xmlns:a16="http://schemas.microsoft.com/office/drawing/2014/main" val="399840801"/>
                    </a:ext>
                  </a:extLst>
                </a:gridCol>
              </a:tblGrid>
              <a:tr h="314325">
                <a:tc>
                  <a:txBody>
                    <a:bodyPr/>
                    <a:lstStyle/>
                    <a:p>
                      <a:pPr algn="ctr">
                        <a:lnSpc>
                          <a:spcPct val="115000"/>
                        </a:lnSpc>
                        <a:spcBef>
                          <a:spcPts val="1200"/>
                        </a:spcBef>
                        <a:spcAft>
                          <a:spcPts val="1200"/>
                        </a:spcAft>
                      </a:pPr>
                      <a:r>
                        <a:rPr lang="fr-FR" sz="1400" b="1" i="1" dirty="0">
                          <a:effectLst/>
                          <a:latin typeface="Calibri" panose="020F0502020204030204" pitchFamily="34" charset="0"/>
                          <a:ea typeface="Times New Roman" panose="02020603050405020304" pitchFamily="18" charset="0"/>
                          <a:cs typeface="Arial" panose="020B0604020202020204" pitchFamily="34" charset="0"/>
                        </a:rPr>
                        <a:t>Direction Régionale Rabat – Salé - Kénitra</a:t>
                      </a:r>
                      <a:endParaRPr lang="fr-FR" sz="1000" dirty="0">
                        <a:effectLst/>
                        <a:latin typeface="Times New Roman" panose="02020603050405020304" pitchFamily="18" charset="0"/>
                        <a:ea typeface="Times New Roman" panose="02020603050405020304" pitchFamily="18" charset="0"/>
                      </a:endParaRPr>
                    </a:p>
                  </a:txBody>
                  <a:tcPr marL="44450" marR="4445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3340731"/>
                  </a:ext>
                </a:extLst>
              </a:tr>
            </a:tbl>
          </a:graphicData>
        </a:graphic>
      </p:graphicFrame>
      <p:sp>
        <p:nvSpPr>
          <p:cNvPr id="8" name="Rectangle 7">
            <a:extLst>
              <a:ext uri="{FF2B5EF4-FFF2-40B4-BE49-F238E27FC236}">
                <a16:creationId xmlns:a16="http://schemas.microsoft.com/office/drawing/2014/main" id="{389DDFF2-F8CB-41BE-B914-4AF57B786865}"/>
              </a:ext>
            </a:extLst>
          </p:cNvPr>
          <p:cNvSpPr/>
          <p:nvPr/>
        </p:nvSpPr>
        <p:spPr>
          <a:xfrm>
            <a:off x="6783409" y="6287016"/>
            <a:ext cx="2188420" cy="369332"/>
          </a:xfrm>
          <a:prstGeom prst="rect">
            <a:avLst/>
          </a:prstGeom>
        </p:spPr>
        <p:txBody>
          <a:bodyPr wrap="none">
            <a:spAutoFit/>
          </a:bodyPr>
          <a:lstStyle/>
          <a:p>
            <a:pPr algn="ctr"/>
            <a:r>
              <a:rPr lang="fr-FR" b="1" i="1" dirty="0">
                <a:solidFill>
                  <a:srgbClr val="FF0000"/>
                </a:solidFill>
                <a:latin typeface="Angsana New" pitchFamily="18" charset="-34"/>
                <a:cs typeface="Angsana New" pitchFamily="18" charset="-34"/>
              </a:rPr>
              <a:t>Réalisé par M. Hamid </a:t>
            </a:r>
            <a:r>
              <a:rPr lang="fr-FR" b="1" i="1" dirty="0" err="1">
                <a:solidFill>
                  <a:srgbClr val="FF0000"/>
                </a:solidFill>
                <a:latin typeface="Angsana New" pitchFamily="18" charset="-34"/>
                <a:cs typeface="Angsana New" pitchFamily="18" charset="-34"/>
              </a:rPr>
              <a:t>Belyazidi</a:t>
            </a:r>
            <a:endParaRPr lang="fr-FR" b="1" i="1" dirty="0">
              <a:solidFill>
                <a:srgbClr val="FF0000"/>
              </a:solidFill>
              <a:latin typeface="Angsana New" pitchFamily="18" charset="-34"/>
              <a:cs typeface="Angsana New" pitchFamily="18" charset="-34"/>
            </a:endParaRPr>
          </a:p>
        </p:txBody>
      </p:sp>
      <p:sp>
        <p:nvSpPr>
          <p:cNvPr id="10" name="Rectangle 9">
            <a:extLst>
              <a:ext uri="{FF2B5EF4-FFF2-40B4-BE49-F238E27FC236}">
                <a16:creationId xmlns:a16="http://schemas.microsoft.com/office/drawing/2014/main" id="{43E213D3-8E98-4129-BEC2-FBE648C34139}"/>
              </a:ext>
            </a:extLst>
          </p:cNvPr>
          <p:cNvSpPr/>
          <p:nvPr/>
        </p:nvSpPr>
        <p:spPr>
          <a:xfrm>
            <a:off x="6784214" y="148206"/>
            <a:ext cx="2186817" cy="369332"/>
          </a:xfrm>
          <a:prstGeom prst="rect">
            <a:avLst/>
          </a:prstGeom>
        </p:spPr>
        <p:txBody>
          <a:bodyPr wrap="none">
            <a:spAutoFit/>
          </a:bodyPr>
          <a:lstStyle/>
          <a:p>
            <a:pPr algn="ctr"/>
            <a:r>
              <a:rPr lang="fr-FR" b="1" i="1" dirty="0">
                <a:latin typeface="Angsana New" pitchFamily="18" charset="-34"/>
                <a:cs typeface="Angsana New" pitchFamily="18" charset="-34"/>
              </a:rPr>
              <a:t>Année de formation :2025/2026</a:t>
            </a:r>
          </a:p>
        </p:txBody>
      </p:sp>
      <p:sp>
        <p:nvSpPr>
          <p:cNvPr id="11" name="Rectangle 10">
            <a:extLst>
              <a:ext uri="{FF2B5EF4-FFF2-40B4-BE49-F238E27FC236}">
                <a16:creationId xmlns:a16="http://schemas.microsoft.com/office/drawing/2014/main" id="{B7A9E4E8-707B-4C64-92ED-A5F3701B082E}"/>
              </a:ext>
            </a:extLst>
          </p:cNvPr>
          <p:cNvSpPr/>
          <p:nvPr/>
        </p:nvSpPr>
        <p:spPr>
          <a:xfrm>
            <a:off x="1863648" y="812813"/>
            <a:ext cx="5328592" cy="468077"/>
          </a:xfrm>
          <a:prstGeom prst="rect">
            <a:avLst/>
          </a:prstGeom>
        </p:spPr>
        <p:txBody>
          <a:bodyPr wrap="square">
            <a:spAutoFit/>
          </a:bodyPr>
          <a:lstStyle/>
          <a:p>
            <a:pPr algn="ctr">
              <a:lnSpc>
                <a:spcPct val="107000"/>
              </a:lnSpc>
              <a:spcAft>
                <a:spcPts val="800"/>
              </a:spcAft>
            </a:pPr>
            <a:r>
              <a:rPr lang="fr-FR" sz="2400" b="1" dirty="0">
                <a:solidFill>
                  <a:schemeClr val="accent1">
                    <a:lumMod val="75000"/>
                  </a:schemeClr>
                </a:solidFill>
                <a:latin typeface="Times New Roman" panose="02020603050405020304" pitchFamily="18" charset="0"/>
                <a:ea typeface="Calibri" panose="020F0502020204030204" pitchFamily="34" charset="0"/>
                <a:cs typeface="Arial" panose="020B0604020202020204" pitchFamily="34" charset="0"/>
              </a:rPr>
              <a:t>Développer en back-end</a:t>
            </a:r>
            <a:endParaRPr lang="fr-FR" sz="2400" dirty="0">
              <a:solidFill>
                <a:schemeClr val="accent1">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46F5AEB-5EF8-495E-97C3-D51D6A6A9F31}"/>
              </a:ext>
            </a:extLst>
          </p:cNvPr>
          <p:cNvSpPr/>
          <p:nvPr/>
        </p:nvSpPr>
        <p:spPr>
          <a:xfrm>
            <a:off x="428596" y="6164236"/>
            <a:ext cx="3600400" cy="523220"/>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r>
              <a:rPr lang="fr-FR" sz="2800" dirty="0"/>
              <a:t>Manipulation des Vues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fr-FR" sz="2400" b="1" dirty="0">
                <a:solidFill>
                  <a:srgbClr val="002060"/>
                </a:solidFill>
                <a:latin typeface="Times New Roman" panose="02020603050405020304" pitchFamily="18" charset="0"/>
                <a:cs typeface="Times New Roman" panose="02020603050405020304" pitchFamily="18" charset="0"/>
              </a:rPr>
              <a:t>Introduction</a:t>
            </a: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Découvrir les notions fondamentales des </a:t>
            </a:r>
            <a:r>
              <a:rPr lang="fr-FR" sz="1600" dirty="0" err="1">
                <a:solidFill>
                  <a:schemeClr val="tx1"/>
                </a:solidFill>
                <a:latin typeface="Times New Roman" panose="02020603050405020304" pitchFamily="18" charset="0"/>
                <a:cs typeface="Times New Roman" panose="02020603050405020304" pitchFamily="18" charset="0"/>
              </a:rPr>
              <a:t>Frameworks</a:t>
            </a:r>
            <a:r>
              <a:rPr lang="fr-FR" sz="1600" dirty="0">
                <a:solidFill>
                  <a:schemeClr val="tx1"/>
                </a:solidFill>
                <a:latin typeface="Times New Roman" panose="02020603050405020304" pitchFamily="18" charset="0"/>
                <a:cs typeface="Times New Roman" panose="02020603050405020304" pitchFamily="18" charset="0"/>
              </a:rPr>
              <a:t> PHP</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Préparer l’environnement de Laravel</a:t>
            </a:r>
            <a:endParaRPr lang="fr-FR" sz="2400" dirty="0">
              <a:solidFill>
                <a:schemeClr val="tx1"/>
              </a:solidFill>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Programmer avec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Connaître les fondements du modèle MVC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Maîtriser le Framework Laravel</a:t>
            </a:r>
            <a:endParaRPr lang="fr-FR" sz="2400" dirty="0">
              <a:latin typeface="Times New Roman" panose="02020603050405020304" pitchFamily="18" charset="0"/>
              <a:cs typeface="Times New Roman" panose="02020603050405020304" pitchFamily="18" charset="0"/>
            </a:endParaRP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Gérer la sécurité</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Interagir avec la base de données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l’ORM Eloquent</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Prendre en charge les tests</a:t>
            </a:r>
            <a:endParaRPr lang="fr-FR" sz="2400" dirty="0">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Administrer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éléments essentiels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Personnaliser graphiquement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outils avancés d’un CMS</a:t>
            </a:r>
          </a:p>
          <a:p>
            <a:pPr marL="0" lvl="1" indent="0">
              <a:buNone/>
            </a:pPr>
            <a:r>
              <a:rPr lang="fr-FR" sz="2400" b="1" dirty="0">
                <a:solidFill>
                  <a:srgbClr val="002060"/>
                </a:solidFill>
                <a:latin typeface="Times New Roman" panose="02020603050405020304" pitchFamily="18" charset="0"/>
                <a:cs typeface="Times New Roman" panose="02020603050405020304" pitchFamily="18" charset="0"/>
              </a:rPr>
              <a:t>Conclusion</a:t>
            </a:r>
          </a:p>
          <a:p>
            <a:pPr marL="457200" lvl="0" indent="-457200">
              <a:buFont typeface="+mj-lt"/>
              <a:buAutoNum type="alphaUcPeriod"/>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4874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Gestion du routage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Utilisation des Middleware (définition, enregistrement, paramétrage, terminate)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Protection CSRF</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contrôleurs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requêtes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réponses http</a:t>
            </a:r>
          </a:p>
          <a:p>
            <a:pPr lvl="2">
              <a:buFont typeface="Wingdings" panose="05000000000000000000" pitchFamily="2" charset="2"/>
              <a:buChar char="ü"/>
            </a:pPr>
            <a:r>
              <a:rPr lang="fr-FR" sz="2200" b="1" dirty="0">
                <a:solidFill>
                  <a:srgbClr val="00B050"/>
                </a:solidFill>
                <a:latin typeface="Times New Roman" panose="02020603050405020304" pitchFamily="18" charset="0"/>
                <a:cs typeface="Times New Roman" panose="02020603050405020304" pitchFamily="18" charset="0"/>
              </a:rPr>
              <a:t>Manipulation des vues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Création des template Blade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Génération d’URL</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sessions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Validation des données d’entrée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Gestion des erreurs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Journalisation (</a:t>
            </a:r>
            <a:r>
              <a:rPr lang="fr-FR" sz="2200" dirty="0" err="1">
                <a:latin typeface="Times New Roman" panose="02020603050405020304" pitchFamily="18" charset="0"/>
                <a:cs typeface="Times New Roman" panose="02020603050405020304" pitchFamily="18" charset="0"/>
              </a:rPr>
              <a:t>logging</a:t>
            </a:r>
            <a:r>
              <a:rPr lang="fr-FR" sz="2200"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ü"/>
            </a:pPr>
            <a:endParaRPr lang="fr-FR" sz="2000" dirty="0">
              <a:latin typeface="Times New Roman" panose="02020603050405020304" pitchFamily="18" charset="0"/>
              <a:cs typeface="Times New Roman" panose="02020603050405020304" pitchFamily="18" charset="0"/>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7485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Manipulation des Vues </a:t>
            </a:r>
          </a:p>
          <a:p>
            <a:pPr lvl="1">
              <a:buFont typeface="Wingdings" panose="05000000000000000000" pitchFamily="2" charset="2"/>
              <a:buChar char="ü"/>
            </a:pPr>
            <a:r>
              <a:rPr lang="fr-FR" sz="2000" dirty="0">
                <a:solidFill>
                  <a:srgbClr val="00B0F0"/>
                </a:solidFill>
              </a:rPr>
              <a:t>Définition</a:t>
            </a:r>
            <a:endParaRPr lang="fr-FR" sz="2000" b="1" i="1" dirty="0">
              <a:solidFill>
                <a:schemeClr val="tx1"/>
              </a:solidFill>
            </a:endParaRPr>
          </a:p>
          <a:p>
            <a:pPr marL="0" indent="0">
              <a:buNone/>
            </a:pPr>
            <a:r>
              <a:rPr lang="fr-FR" sz="1800" dirty="0">
                <a:latin typeface="Times New Roman" panose="02020603050405020304" pitchFamily="18" charset="0"/>
                <a:cs typeface="Times New Roman" panose="02020603050405020304" pitchFamily="18" charset="0"/>
              </a:rPr>
              <a:t>les vues offrent un moyen pratique de placer tout notre code HTML dans des fichiers séparés. Les vues séparent la logique de votre contrôleur d’application avec votre logique de présentation et sont stockées dans le répertoire </a:t>
            </a:r>
            <a:r>
              <a:rPr lang="fr-FR" sz="1800" b="1" dirty="0">
                <a:latin typeface="Times New Roman" panose="02020603050405020304" pitchFamily="18" charset="0"/>
                <a:cs typeface="Times New Roman" panose="02020603050405020304" pitchFamily="18" charset="0"/>
              </a:rPr>
              <a:t>resources/views</a:t>
            </a:r>
            <a:r>
              <a:rPr lang="fr-FR" sz="1800" dirty="0">
                <a:latin typeface="Times New Roman" panose="02020603050405020304" pitchFamily="18" charset="0"/>
                <a:cs typeface="Times New Roman" panose="02020603050405020304" pitchFamily="18" charset="0"/>
              </a:rPr>
              <a:t>. Une vue simple pourrait ressembler à ceci :</a:t>
            </a:r>
          </a:p>
          <a:p>
            <a:pPr marL="400050" lvl="1" indent="0">
              <a:buNone/>
            </a:pPr>
            <a:endParaRPr lang="fr-FR" sz="2000" dirty="0">
              <a:latin typeface="Times New Roman" panose="02020603050405020304" pitchFamily="18" charset="0"/>
              <a:cs typeface="Times New Roman" panose="02020603050405020304" pitchFamily="18" charset="0"/>
            </a:endParaRPr>
          </a:p>
          <a:p>
            <a:pPr marL="400050" lvl="1" indent="0">
              <a:buNone/>
            </a:pPr>
            <a:r>
              <a:rPr lang="fr-FR" sz="2000" b="1" dirty="0">
                <a:solidFill>
                  <a:schemeClr val="accent6"/>
                </a:solidFill>
                <a:latin typeface="Times New Roman" panose="02020603050405020304" pitchFamily="18" charset="0"/>
                <a:cs typeface="Times New Roman" panose="02020603050405020304" pitchFamily="18" charset="0"/>
              </a:rPr>
              <a:t>	</a:t>
            </a: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r>
              <a:rPr lang="fr-FR" sz="1800" dirty="0">
                <a:solidFill>
                  <a:prstClr val="black"/>
                </a:solidFill>
                <a:latin typeface="Times New Roman" panose="02020603050405020304" pitchFamily="18" charset="0"/>
                <a:cs typeface="Times New Roman" panose="02020603050405020304" pitchFamily="18" charset="0"/>
              </a:rPr>
              <a:t>Étant donné que cette vue est stockée dans </a:t>
            </a:r>
            <a:r>
              <a:rPr lang="fr-FR" sz="1800" b="1" i="1" dirty="0">
                <a:solidFill>
                  <a:prstClr val="black"/>
                </a:solidFill>
                <a:latin typeface="Times New Roman" panose="02020603050405020304" pitchFamily="18" charset="0"/>
                <a:cs typeface="Times New Roman" panose="02020603050405020304" pitchFamily="18" charset="0"/>
              </a:rPr>
              <a:t>resources/views/exemple.blade.php</a:t>
            </a:r>
            <a:r>
              <a:rPr lang="fr-FR" sz="1800" dirty="0">
                <a:solidFill>
                  <a:prstClr val="black"/>
                </a:solidFill>
                <a:latin typeface="Times New Roman" panose="02020603050405020304" pitchFamily="18" charset="0"/>
                <a:cs typeface="Times New Roman" panose="02020603050405020304" pitchFamily="18" charset="0"/>
              </a:rPr>
              <a:t>, nous pouvons la renvoyer en utilisant le </a:t>
            </a:r>
            <a:r>
              <a:rPr lang="fr-FR" sz="1800" b="1" dirty="0">
                <a:solidFill>
                  <a:prstClr val="black"/>
                </a:solidFill>
                <a:latin typeface="Times New Roman" panose="02020603050405020304" pitchFamily="18" charset="0"/>
                <a:cs typeface="Times New Roman" panose="02020603050405020304" pitchFamily="18" charset="0"/>
              </a:rPr>
              <a:t>helper</a:t>
            </a:r>
            <a:r>
              <a:rPr lang="fr-FR" sz="1800" dirty="0">
                <a:solidFill>
                  <a:prstClr val="black"/>
                </a:solidFill>
                <a:latin typeface="Times New Roman" panose="02020603050405020304" pitchFamily="18" charset="0"/>
                <a:cs typeface="Times New Roman" panose="02020603050405020304" pitchFamily="18" charset="0"/>
              </a:rPr>
              <a:t> global </a:t>
            </a:r>
            <a:r>
              <a:rPr lang="fr-FR" sz="1800" b="1" i="1" dirty="0" err="1">
                <a:solidFill>
                  <a:prstClr val="black"/>
                </a:solidFill>
                <a:latin typeface="Times New Roman" panose="02020603050405020304" pitchFamily="18" charset="0"/>
                <a:cs typeface="Times New Roman" panose="02020603050405020304" pitchFamily="18" charset="0"/>
              </a:rPr>
              <a:t>view</a:t>
            </a:r>
            <a:r>
              <a:rPr lang="fr-FR" sz="1800" dirty="0">
                <a:solidFill>
                  <a:prstClr val="black"/>
                </a:solidFill>
                <a:latin typeface="Times New Roman" panose="02020603050405020304" pitchFamily="18" charset="0"/>
                <a:cs typeface="Times New Roman" panose="02020603050405020304" pitchFamily="18" charset="0"/>
              </a:rPr>
              <a:t> comme ceci :</a:t>
            </a: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a:p>
            <a:pPr marL="0" indent="0">
              <a:buNone/>
            </a:pPr>
            <a:endParaRPr lang="fr-FR" dirty="0"/>
          </a:p>
        </p:txBody>
      </p:sp>
      <p:sp>
        <p:nvSpPr>
          <p:cNvPr id="5" name="Rectangle : coins arrondis 4">
            <a:extLst>
              <a:ext uri="{FF2B5EF4-FFF2-40B4-BE49-F238E27FC236}">
                <a16:creationId xmlns:a16="http://schemas.microsoft.com/office/drawing/2014/main" id="{FA41EA9B-9082-4BED-81F9-9D4E685D790F}"/>
              </a:ext>
            </a:extLst>
          </p:cNvPr>
          <p:cNvSpPr/>
          <p:nvPr/>
        </p:nvSpPr>
        <p:spPr>
          <a:xfrm>
            <a:off x="3707904" y="3717032"/>
            <a:ext cx="4824536" cy="144016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i="1" dirty="0">
                <a:solidFill>
                  <a:srgbClr val="5C6370"/>
                </a:solidFill>
                <a:latin typeface="SFMono-Regular"/>
              </a:rPr>
              <a:t>&lt;!-- View placé dans resources/views/exemple.blade.php --&gt;</a:t>
            </a:r>
            <a:br>
              <a:rPr lang="fr-FR" sz="1400" dirty="0"/>
            </a:br>
            <a:r>
              <a:rPr lang="fr-FR" sz="1400" dirty="0">
                <a:solidFill>
                  <a:srgbClr val="ABB2BF"/>
                </a:solidFill>
                <a:latin typeface="SFMono-Regular"/>
              </a:rPr>
              <a:t>&lt;</a:t>
            </a:r>
            <a:r>
              <a:rPr lang="fr-FR" sz="1400" dirty="0">
                <a:solidFill>
                  <a:srgbClr val="E06C75"/>
                </a:solidFill>
                <a:latin typeface="SFMono-Regular"/>
              </a:rPr>
              <a:t>html</a:t>
            </a:r>
            <a:r>
              <a:rPr lang="fr-FR" sz="1400" dirty="0">
                <a:solidFill>
                  <a:srgbClr val="ABB2BF"/>
                </a:solidFill>
                <a:latin typeface="SFMono-Regular"/>
              </a:rPr>
              <a:t>&gt;</a:t>
            </a:r>
            <a:br>
              <a:rPr lang="fr-FR" sz="1400" dirty="0"/>
            </a:br>
            <a:r>
              <a:rPr lang="fr-FR" sz="1400" dirty="0">
                <a:solidFill>
                  <a:srgbClr val="ABB2BF"/>
                </a:solidFill>
                <a:latin typeface="SFMono-Regular"/>
              </a:rPr>
              <a:t>    &lt;</a:t>
            </a:r>
            <a:r>
              <a:rPr lang="fr-FR" sz="1400" dirty="0">
                <a:solidFill>
                  <a:srgbClr val="E06C75"/>
                </a:solidFill>
                <a:latin typeface="SFMono-Regular"/>
              </a:rPr>
              <a:t>body</a:t>
            </a:r>
            <a:r>
              <a:rPr lang="fr-FR" sz="1400" dirty="0">
                <a:solidFill>
                  <a:srgbClr val="ABB2BF"/>
                </a:solidFill>
                <a:latin typeface="SFMono-Regular"/>
              </a:rPr>
              <a:t>&gt;</a:t>
            </a:r>
            <a:br>
              <a:rPr lang="fr-FR" sz="1400" dirty="0"/>
            </a:br>
            <a:r>
              <a:rPr lang="fr-FR" sz="1400" dirty="0">
                <a:solidFill>
                  <a:srgbClr val="ABB2BF"/>
                </a:solidFill>
                <a:latin typeface="SFMono-Regular"/>
              </a:rPr>
              <a:t>        &lt;</a:t>
            </a:r>
            <a:r>
              <a:rPr lang="fr-FR" sz="1400" dirty="0">
                <a:solidFill>
                  <a:srgbClr val="E06C75"/>
                </a:solidFill>
                <a:latin typeface="SFMono-Regular"/>
              </a:rPr>
              <a:t>h1</a:t>
            </a:r>
            <a:r>
              <a:rPr lang="fr-FR" sz="1400" dirty="0">
                <a:solidFill>
                  <a:srgbClr val="ABB2BF"/>
                </a:solidFill>
                <a:latin typeface="SFMono-Regular"/>
              </a:rPr>
              <a:t>&gt;Hello, {{ $name }}&lt;/</a:t>
            </a:r>
            <a:r>
              <a:rPr lang="fr-FR" sz="1400" dirty="0">
                <a:solidFill>
                  <a:srgbClr val="E06C75"/>
                </a:solidFill>
                <a:latin typeface="SFMono-Regular"/>
              </a:rPr>
              <a:t>h1</a:t>
            </a:r>
            <a:r>
              <a:rPr lang="fr-FR" sz="1400" dirty="0">
                <a:solidFill>
                  <a:srgbClr val="ABB2BF"/>
                </a:solidFill>
                <a:latin typeface="SFMono-Regular"/>
              </a:rPr>
              <a:t>&gt;</a:t>
            </a:r>
            <a:br>
              <a:rPr lang="fr-FR" sz="1400" dirty="0"/>
            </a:br>
            <a:r>
              <a:rPr lang="fr-FR" sz="1400" dirty="0">
                <a:solidFill>
                  <a:srgbClr val="ABB2BF"/>
                </a:solidFill>
                <a:latin typeface="SFMono-Regular"/>
              </a:rPr>
              <a:t>    &lt;/</a:t>
            </a:r>
            <a:r>
              <a:rPr lang="fr-FR" sz="1400" dirty="0">
                <a:solidFill>
                  <a:srgbClr val="E06C75"/>
                </a:solidFill>
                <a:latin typeface="SFMono-Regular"/>
              </a:rPr>
              <a:t>body</a:t>
            </a:r>
            <a:r>
              <a:rPr lang="fr-FR" sz="1400" dirty="0">
                <a:solidFill>
                  <a:srgbClr val="ABB2BF"/>
                </a:solidFill>
                <a:latin typeface="SFMono-Regular"/>
              </a:rPr>
              <a:t>&gt;</a:t>
            </a:r>
            <a:br>
              <a:rPr lang="fr-FR" sz="1400" dirty="0"/>
            </a:br>
            <a:r>
              <a:rPr lang="fr-FR" sz="1400" dirty="0">
                <a:solidFill>
                  <a:srgbClr val="ABB2BF"/>
                </a:solidFill>
                <a:latin typeface="SFMono-Regular"/>
              </a:rPr>
              <a:t>&lt;/</a:t>
            </a:r>
            <a:r>
              <a:rPr lang="fr-FR" sz="1400" dirty="0">
                <a:solidFill>
                  <a:srgbClr val="E06C75"/>
                </a:solidFill>
                <a:latin typeface="SFMono-Regular"/>
              </a:rPr>
              <a:t>html</a:t>
            </a:r>
            <a:r>
              <a:rPr lang="fr-FR" sz="1400" dirty="0">
                <a:solidFill>
                  <a:srgbClr val="ABB2BF"/>
                </a:solidFill>
                <a:latin typeface="SFMono-Regular"/>
              </a:rPr>
              <a:t>&gt;</a:t>
            </a:r>
            <a:endParaRPr lang="fr-FR" sz="14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7" name="Rectangle : coins arrondis 6">
            <a:extLst>
              <a:ext uri="{FF2B5EF4-FFF2-40B4-BE49-F238E27FC236}">
                <a16:creationId xmlns:a16="http://schemas.microsoft.com/office/drawing/2014/main" id="{9840A6EB-3902-42AD-B87F-E98B7A15E9C0}"/>
              </a:ext>
            </a:extLst>
          </p:cNvPr>
          <p:cNvSpPr/>
          <p:nvPr/>
        </p:nvSpPr>
        <p:spPr>
          <a:xfrm>
            <a:off x="3707904" y="5762718"/>
            <a:ext cx="4824536" cy="68975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rgbClr val="ABB2BF"/>
                </a:solidFill>
                <a:latin typeface="SFMono-Regular"/>
              </a:rPr>
              <a:t>Route::get(</a:t>
            </a:r>
            <a:r>
              <a:rPr lang="en-US" sz="1400" dirty="0">
                <a:solidFill>
                  <a:srgbClr val="98C379"/>
                </a:solidFill>
                <a:latin typeface="SFMono-Regular"/>
              </a:rPr>
              <a:t>'/'</a:t>
            </a:r>
            <a:r>
              <a:rPr lang="en-US" sz="1400" dirty="0">
                <a:solidFill>
                  <a:srgbClr val="ABB2BF"/>
                </a:solidFill>
                <a:latin typeface="SFMono-Regular"/>
              </a:rPr>
              <a:t>, </a:t>
            </a:r>
            <a:r>
              <a:rPr lang="en-US" sz="1400" dirty="0">
                <a:solidFill>
                  <a:srgbClr val="C678DD"/>
                </a:solidFill>
                <a:latin typeface="SFMono-Regular"/>
              </a:rPr>
              <a:t>function</a:t>
            </a:r>
            <a:r>
              <a:rPr lang="en-US" sz="1400" dirty="0">
                <a:solidFill>
                  <a:srgbClr val="ABB2BF"/>
                </a:solidFill>
                <a:latin typeface="SFMono-Regular"/>
              </a:rPr>
              <a:t> () {</a:t>
            </a:r>
            <a:br>
              <a:rPr lang="en-US" sz="1400" dirty="0"/>
            </a:br>
            <a:r>
              <a:rPr lang="en-US" sz="1400" dirty="0">
                <a:solidFill>
                  <a:srgbClr val="ABB2BF"/>
                </a:solidFill>
                <a:latin typeface="SFMono-Regular"/>
              </a:rPr>
              <a:t>    </a:t>
            </a:r>
            <a:r>
              <a:rPr lang="en-US" sz="1400" dirty="0">
                <a:solidFill>
                  <a:srgbClr val="C678DD"/>
                </a:solidFill>
                <a:latin typeface="SFMono-Regular"/>
              </a:rPr>
              <a:t>return</a:t>
            </a:r>
            <a:r>
              <a:rPr lang="en-US" sz="1400" dirty="0">
                <a:solidFill>
                  <a:srgbClr val="ABB2BF"/>
                </a:solidFill>
                <a:latin typeface="SFMono-Regular"/>
              </a:rPr>
              <a:t> view(</a:t>
            </a:r>
            <a:r>
              <a:rPr lang="en-US" sz="1400" dirty="0">
                <a:solidFill>
                  <a:srgbClr val="98C379"/>
                </a:solidFill>
                <a:latin typeface="SFMono-Regular"/>
              </a:rPr>
              <a:t>‘</a:t>
            </a:r>
            <a:r>
              <a:rPr lang="en-US" sz="1400" dirty="0" err="1">
                <a:solidFill>
                  <a:srgbClr val="98C379"/>
                </a:solidFill>
                <a:latin typeface="SFMono-Regular"/>
              </a:rPr>
              <a:t>exemple</a:t>
            </a:r>
            <a:r>
              <a:rPr lang="en-US" sz="1400" dirty="0">
                <a:solidFill>
                  <a:srgbClr val="98C379"/>
                </a:solidFill>
                <a:latin typeface="SFMono-Regular"/>
              </a:rPr>
              <a:t>'</a:t>
            </a:r>
            <a:r>
              <a:rPr lang="en-US" sz="1400" dirty="0">
                <a:solidFill>
                  <a:srgbClr val="ABB2BF"/>
                </a:solidFill>
                <a:latin typeface="SFMono-Regular"/>
              </a:rPr>
              <a:t>, [</a:t>
            </a:r>
            <a:r>
              <a:rPr lang="en-US" sz="1400" dirty="0">
                <a:solidFill>
                  <a:srgbClr val="98C379"/>
                </a:solidFill>
                <a:latin typeface="SFMono-Regular"/>
              </a:rPr>
              <a:t>'name'</a:t>
            </a:r>
            <a:r>
              <a:rPr lang="en-US" sz="1400" dirty="0">
                <a:solidFill>
                  <a:srgbClr val="ABB2BF"/>
                </a:solidFill>
                <a:latin typeface="SFMono-Regular"/>
              </a:rPr>
              <a:t> =&gt; </a:t>
            </a:r>
            <a:r>
              <a:rPr lang="en-US" sz="1400" dirty="0">
                <a:solidFill>
                  <a:srgbClr val="98C379"/>
                </a:solidFill>
                <a:latin typeface="SFMono-Regular"/>
              </a:rPr>
              <a:t>‘Hamid'</a:t>
            </a:r>
            <a:r>
              <a:rPr lang="en-US" sz="1400" dirty="0">
                <a:solidFill>
                  <a:srgbClr val="ABB2BF"/>
                </a:solidFill>
                <a:latin typeface="SFMono-Regular"/>
              </a:rPr>
              <a:t>]);</a:t>
            </a:r>
            <a:br>
              <a:rPr lang="en-US" sz="1400" dirty="0"/>
            </a:br>
            <a:r>
              <a:rPr lang="en-US" sz="1400" dirty="0">
                <a:solidFill>
                  <a:srgbClr val="ABB2BF"/>
                </a:solidFill>
                <a:latin typeface="SFMono-Regular"/>
              </a:rPr>
              <a:t>});</a:t>
            </a:r>
            <a:endParaRPr lang="fr-FR" sz="1400"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2648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1">
              <a:buFont typeface="Wingdings" panose="05000000000000000000" pitchFamily="2" charset="2"/>
              <a:buChar char="ü"/>
            </a:pPr>
            <a:r>
              <a:rPr lang="fr-FR" sz="2000" dirty="0">
                <a:solidFill>
                  <a:srgbClr val="00B0F0"/>
                </a:solidFill>
              </a:rPr>
              <a:t>Création et rendu des vues</a:t>
            </a:r>
            <a:endParaRPr lang="fr-FR" sz="2000" b="1" i="1" dirty="0">
              <a:solidFill>
                <a:schemeClr val="tx1"/>
              </a:solidFill>
            </a:endParaRPr>
          </a:p>
          <a:p>
            <a:pPr marL="0" indent="0">
              <a:buNone/>
            </a:pPr>
            <a:r>
              <a:rPr lang="fr-FR" sz="2000" dirty="0">
                <a:latin typeface="Times New Roman" panose="02020603050405020304" pitchFamily="18" charset="0"/>
                <a:cs typeface="Times New Roman" panose="02020603050405020304" pitchFamily="18" charset="0"/>
              </a:rPr>
              <a:t>Vous pouvez créer une vue en plaçant un fichier avec l'extension </a:t>
            </a:r>
            <a:r>
              <a:rPr lang="fr-FR" sz="2000" b="1" dirty="0">
                <a:latin typeface="Times New Roman" panose="02020603050405020304" pitchFamily="18" charset="0"/>
                <a:cs typeface="Times New Roman" panose="02020603050405020304" pitchFamily="18" charset="0"/>
              </a:rPr>
              <a:t>.</a:t>
            </a:r>
            <a:r>
              <a:rPr lang="fr-FR" sz="2000" b="1" dirty="0" err="1">
                <a:latin typeface="Times New Roman" panose="02020603050405020304" pitchFamily="18" charset="0"/>
                <a:cs typeface="Times New Roman" panose="02020603050405020304" pitchFamily="18" charset="0"/>
              </a:rPr>
              <a:t>blade.php</a:t>
            </a:r>
            <a:r>
              <a:rPr lang="fr-FR" sz="2000" b="1"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dans le répertoire </a:t>
            </a:r>
            <a:r>
              <a:rPr lang="fr-FR" sz="2000" b="1" i="1" dirty="0">
                <a:latin typeface="Times New Roman" panose="02020603050405020304" pitchFamily="18" charset="0"/>
                <a:cs typeface="Times New Roman" panose="02020603050405020304" pitchFamily="18" charset="0"/>
              </a:rPr>
              <a:t>resources/views </a:t>
            </a:r>
            <a:r>
              <a:rPr lang="fr-FR" sz="2000" dirty="0">
                <a:latin typeface="Times New Roman" panose="02020603050405020304" pitchFamily="18" charset="0"/>
                <a:cs typeface="Times New Roman" panose="02020603050405020304" pitchFamily="18" charset="0"/>
              </a:rPr>
              <a:t>de votre application.</a:t>
            </a:r>
          </a:p>
          <a:p>
            <a:pPr marL="0" indent="0">
              <a:buNone/>
            </a:pPr>
            <a:r>
              <a:rPr lang="fr-FR" sz="2000" dirty="0">
                <a:latin typeface="Times New Roman" panose="02020603050405020304" pitchFamily="18" charset="0"/>
                <a:cs typeface="Times New Roman" panose="02020603050405020304" pitchFamily="18" charset="0"/>
              </a:rPr>
              <a:t> L'extension </a:t>
            </a:r>
            <a:r>
              <a:rPr lang="fr-FR" sz="2000" b="1" dirty="0">
                <a:latin typeface="Times New Roman" panose="02020603050405020304" pitchFamily="18" charset="0"/>
                <a:cs typeface="Times New Roman" panose="02020603050405020304" pitchFamily="18" charset="0"/>
              </a:rPr>
              <a:t>.</a:t>
            </a:r>
            <a:r>
              <a:rPr lang="fr-FR" sz="2000" b="1" dirty="0" err="1">
                <a:latin typeface="Times New Roman" panose="02020603050405020304" pitchFamily="18" charset="0"/>
                <a:cs typeface="Times New Roman" panose="02020603050405020304" pitchFamily="18" charset="0"/>
              </a:rPr>
              <a:t>blade.php</a:t>
            </a:r>
            <a:r>
              <a:rPr lang="fr-FR" sz="2000" b="1"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informe le Framework que le fichier contient un modèle Blade. Les modèles blade contiennent du HTML ainsi que des directives Blade qui vous permettent de faire facilement écho des valeurs, de créer des instructions "if", d'itérer sur les données, etc.</a:t>
            </a:r>
          </a:p>
          <a:p>
            <a:pPr marL="0" indent="0">
              <a:buNone/>
            </a:pPr>
            <a:r>
              <a:rPr lang="fr-FR" sz="2000" dirty="0">
                <a:latin typeface="Times New Roman" panose="02020603050405020304" pitchFamily="18" charset="0"/>
                <a:cs typeface="Times New Roman" panose="02020603050405020304" pitchFamily="18" charset="0"/>
              </a:rPr>
              <a:t>Une fois que vous avez créé une vue, vous pouvez la renvoyer à partir de l'une des routes ou des contrôleurs de votre application à l'aide de l'assistant global </a:t>
            </a:r>
            <a:r>
              <a:rPr lang="fr-FR" sz="2000" b="1" dirty="0" err="1">
                <a:latin typeface="Times New Roman" panose="02020603050405020304" pitchFamily="18" charset="0"/>
                <a:cs typeface="Times New Roman" panose="02020603050405020304" pitchFamily="18" charset="0"/>
              </a:rPr>
              <a:t>view</a:t>
            </a:r>
            <a:r>
              <a:rPr lang="fr-FR" sz="2000" dirty="0">
                <a:latin typeface="Times New Roman" panose="02020603050405020304" pitchFamily="18" charset="0"/>
                <a:cs typeface="Times New Roman" panose="02020603050405020304" pitchFamily="18" charset="0"/>
              </a:rPr>
              <a:t>:</a:t>
            </a:r>
            <a:r>
              <a:rPr lang="fr-FR" sz="2000" b="1" dirty="0">
                <a:solidFill>
                  <a:schemeClr val="accent6"/>
                </a:solidFill>
                <a:latin typeface="Times New Roman" panose="02020603050405020304" pitchFamily="18" charset="0"/>
                <a:cs typeface="Times New Roman" panose="02020603050405020304" pitchFamily="18" charset="0"/>
              </a:rPr>
              <a:t>	</a:t>
            </a:r>
          </a:p>
          <a:p>
            <a:pPr marL="400050" lvl="1" indent="0">
              <a:buNone/>
            </a:pPr>
            <a:endParaRPr lang="fr-FR" sz="2000" b="1" dirty="0">
              <a:solidFill>
                <a:schemeClr val="accent6"/>
              </a:solidFill>
              <a:latin typeface="Times New Roman" panose="02020603050405020304" pitchFamily="18" charset="0"/>
              <a:cs typeface="Times New Roman" panose="02020603050405020304" pitchFamily="18" charset="0"/>
            </a:endParaRPr>
          </a:p>
          <a:p>
            <a:pPr marL="400050" lvl="1" indent="0">
              <a:buNone/>
            </a:pPr>
            <a:endParaRPr lang="fr-FR" sz="2200" dirty="0">
              <a:solidFill>
                <a:srgbClr val="00B0F0"/>
              </a:solidFill>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pPr marL="0" indent="0">
              <a:buNone/>
            </a:pPr>
            <a:endParaRPr lang="fr-FR" dirty="0"/>
          </a:p>
        </p:txBody>
      </p:sp>
      <p:sp>
        <p:nvSpPr>
          <p:cNvPr id="5" name="Rectangle : coins arrondis 4">
            <a:extLst>
              <a:ext uri="{FF2B5EF4-FFF2-40B4-BE49-F238E27FC236}">
                <a16:creationId xmlns:a16="http://schemas.microsoft.com/office/drawing/2014/main" id="{FA41EA9B-9082-4BED-81F9-9D4E685D790F}"/>
              </a:ext>
            </a:extLst>
          </p:cNvPr>
          <p:cNvSpPr/>
          <p:nvPr/>
        </p:nvSpPr>
        <p:spPr>
          <a:xfrm>
            <a:off x="2555776" y="5566429"/>
            <a:ext cx="5383113" cy="8715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ABB2BF"/>
                </a:solidFill>
                <a:latin typeface="SFMono-Regular"/>
              </a:rPr>
              <a:t>Route::get(</a:t>
            </a:r>
            <a:r>
              <a:rPr lang="en-US" dirty="0">
                <a:solidFill>
                  <a:srgbClr val="98C379"/>
                </a:solidFill>
                <a:latin typeface="SFMono-Regular"/>
              </a:rPr>
              <a:t>'/'</a:t>
            </a:r>
            <a:r>
              <a:rPr lang="en-US" dirty="0">
                <a:solidFill>
                  <a:srgbClr val="ABB2BF"/>
                </a:solidFill>
                <a:latin typeface="SFMono-Regular"/>
              </a:rPr>
              <a:t>, </a:t>
            </a:r>
            <a:r>
              <a:rPr lang="en-US" dirty="0">
                <a:solidFill>
                  <a:srgbClr val="C678DD"/>
                </a:solidFill>
                <a:latin typeface="SFMono-Regular"/>
              </a:rPr>
              <a:t>function</a:t>
            </a:r>
            <a:r>
              <a:rPr lang="en-US" dirty="0">
                <a:solidFill>
                  <a:srgbClr val="ABB2BF"/>
                </a:solidFill>
                <a:latin typeface="SFMono-Regular"/>
              </a:rPr>
              <a:t> () {</a:t>
            </a:r>
            <a:br>
              <a:rPr lang="en-US" dirty="0"/>
            </a:br>
            <a:r>
              <a:rPr lang="en-US" dirty="0">
                <a:solidFill>
                  <a:srgbClr val="ABB2BF"/>
                </a:solidFill>
                <a:latin typeface="SFMono-Regular"/>
              </a:rPr>
              <a:t>    </a:t>
            </a:r>
            <a:r>
              <a:rPr lang="en-US" dirty="0">
                <a:solidFill>
                  <a:srgbClr val="C678DD"/>
                </a:solidFill>
                <a:latin typeface="SFMono-Regular"/>
              </a:rPr>
              <a:t>return</a:t>
            </a:r>
            <a:r>
              <a:rPr lang="en-US" dirty="0">
                <a:solidFill>
                  <a:srgbClr val="ABB2BF"/>
                </a:solidFill>
                <a:latin typeface="SFMono-Regular"/>
              </a:rPr>
              <a:t> view(</a:t>
            </a:r>
            <a:r>
              <a:rPr lang="en-US" dirty="0">
                <a:solidFill>
                  <a:srgbClr val="98C379"/>
                </a:solidFill>
                <a:latin typeface="SFMono-Regular"/>
              </a:rPr>
              <a:t>‘</a:t>
            </a:r>
            <a:r>
              <a:rPr lang="en-US" dirty="0" err="1">
                <a:solidFill>
                  <a:srgbClr val="98C379"/>
                </a:solidFill>
                <a:latin typeface="SFMono-Regular"/>
              </a:rPr>
              <a:t>exemple</a:t>
            </a:r>
            <a:r>
              <a:rPr lang="en-US" dirty="0">
                <a:solidFill>
                  <a:srgbClr val="98C379"/>
                </a:solidFill>
                <a:latin typeface="SFMono-Regular"/>
              </a:rPr>
              <a:t>'</a:t>
            </a:r>
            <a:r>
              <a:rPr lang="en-US" dirty="0">
                <a:solidFill>
                  <a:srgbClr val="ABB2BF"/>
                </a:solidFill>
                <a:latin typeface="SFMono-Regular"/>
              </a:rPr>
              <a:t>, [</a:t>
            </a:r>
            <a:r>
              <a:rPr lang="en-US" dirty="0">
                <a:solidFill>
                  <a:srgbClr val="98C379"/>
                </a:solidFill>
                <a:latin typeface="SFMono-Regular"/>
              </a:rPr>
              <a:t>'name'</a:t>
            </a:r>
            <a:r>
              <a:rPr lang="en-US" dirty="0">
                <a:solidFill>
                  <a:srgbClr val="ABB2BF"/>
                </a:solidFill>
                <a:latin typeface="SFMono-Regular"/>
              </a:rPr>
              <a:t> =&gt; </a:t>
            </a:r>
            <a:r>
              <a:rPr lang="en-US" dirty="0">
                <a:solidFill>
                  <a:srgbClr val="98C379"/>
                </a:solidFill>
                <a:latin typeface="SFMono-Regular"/>
              </a:rPr>
              <a:t>‘Hamid'</a:t>
            </a:r>
            <a:r>
              <a:rPr lang="en-US" dirty="0">
                <a:solidFill>
                  <a:srgbClr val="ABB2BF"/>
                </a:solidFill>
                <a:latin typeface="SFMono-Regular"/>
              </a:rPr>
              <a:t>]);</a:t>
            </a:r>
            <a:br>
              <a:rPr lang="en-US" dirty="0"/>
            </a:br>
            <a:r>
              <a:rPr lang="en-US" dirty="0">
                <a:solidFill>
                  <a:srgbClr val="ABB2BF"/>
                </a:solidFill>
                <a:latin typeface="SFMono-Regular"/>
              </a:rPr>
              <a:t>});</a:t>
            </a:r>
            <a:endParaRPr lang="fr-FR"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3780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1">
              <a:buFont typeface="Wingdings" panose="05000000000000000000" pitchFamily="2" charset="2"/>
              <a:buChar char="ü"/>
            </a:pPr>
            <a:r>
              <a:rPr lang="fr-FR" sz="2000" dirty="0">
                <a:solidFill>
                  <a:srgbClr val="00B0F0"/>
                </a:solidFill>
              </a:rPr>
              <a:t>Création et rendu des vues(suite)</a:t>
            </a:r>
            <a:endParaRPr lang="fr-FR" sz="2000" b="1" i="1" dirty="0">
              <a:solidFill>
                <a:schemeClr val="tx1"/>
              </a:solidFill>
            </a:endParaRPr>
          </a:p>
          <a:p>
            <a:pPr marL="0" indent="0">
              <a:buNone/>
            </a:pPr>
            <a:r>
              <a:rPr lang="fr-FR" sz="2000" dirty="0">
                <a:latin typeface="Times New Roman" panose="02020603050405020304" pitchFamily="18" charset="0"/>
                <a:cs typeface="Times New Roman" panose="02020603050405020304" pitchFamily="18" charset="0"/>
              </a:rPr>
              <a:t>Les vues peuvent également être renvoyées à l'aide de la façade </a:t>
            </a:r>
            <a:r>
              <a:rPr lang="fr-FR" sz="2000" b="1" dirty="0">
                <a:latin typeface="Times New Roman" panose="02020603050405020304" pitchFamily="18" charset="0"/>
                <a:cs typeface="Times New Roman" panose="02020603050405020304" pitchFamily="18" charset="0"/>
              </a:rPr>
              <a:t>View</a:t>
            </a:r>
            <a:r>
              <a:rPr lang="fr-FR" sz="2000" dirty="0">
                <a:latin typeface="Times New Roman" panose="02020603050405020304" pitchFamily="18" charset="0"/>
                <a:cs typeface="Times New Roman" panose="02020603050405020304" pitchFamily="18" charset="0"/>
              </a:rPr>
              <a:t>:</a:t>
            </a:r>
            <a:endParaRPr lang="fr-FR" sz="2000" b="1" dirty="0">
              <a:solidFill>
                <a:schemeClr val="accent6"/>
              </a:solidFill>
              <a:latin typeface="Times New Roman" panose="02020603050405020304" pitchFamily="18" charset="0"/>
              <a:cs typeface="Times New Roman" panose="02020603050405020304" pitchFamily="18" charset="0"/>
            </a:endParaRPr>
          </a:p>
          <a:p>
            <a:pPr marL="400050" lvl="1" indent="0">
              <a:buNone/>
            </a:pPr>
            <a:endParaRPr lang="fr-FR" sz="2200" dirty="0">
              <a:solidFill>
                <a:srgbClr val="00B0F0"/>
              </a:solidFill>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pPr marL="0" indent="0">
              <a:buNone/>
            </a:pPr>
            <a:r>
              <a:rPr lang="fr-FR" sz="2000" dirty="0">
                <a:latin typeface="Times New Roman" panose="02020603050405020304" pitchFamily="18" charset="0"/>
                <a:cs typeface="Times New Roman" panose="02020603050405020304" pitchFamily="18" charset="0"/>
              </a:rPr>
              <a:t>Comme vous pouvez le voir, le premier argument passé au </a:t>
            </a:r>
            <a:r>
              <a:rPr lang="fr-FR" sz="2000" b="1" dirty="0">
                <a:latin typeface="Times New Roman" panose="02020603050405020304" pitchFamily="18" charset="0"/>
                <a:cs typeface="Times New Roman" panose="02020603050405020304" pitchFamily="18" charset="0"/>
              </a:rPr>
              <a:t>helper</a:t>
            </a:r>
            <a:r>
              <a:rPr lang="fr-FR" sz="2000" dirty="0">
                <a:latin typeface="Times New Roman" panose="02020603050405020304" pitchFamily="18" charset="0"/>
                <a:cs typeface="Times New Roman" panose="02020603050405020304" pitchFamily="18" charset="0"/>
              </a:rPr>
              <a:t> </a:t>
            </a:r>
            <a:r>
              <a:rPr lang="fr-FR" sz="2000" b="1" dirty="0" err="1">
                <a:latin typeface="Times New Roman" panose="02020603050405020304" pitchFamily="18" charset="0"/>
                <a:cs typeface="Times New Roman" panose="02020603050405020304" pitchFamily="18" charset="0"/>
              </a:rPr>
              <a:t>view</a:t>
            </a:r>
            <a:r>
              <a:rPr lang="fr-FR" sz="2000" dirty="0">
                <a:latin typeface="Times New Roman" panose="02020603050405020304" pitchFamily="18" charset="0"/>
                <a:cs typeface="Times New Roman" panose="02020603050405020304" pitchFamily="18" charset="0"/>
              </a:rPr>
              <a:t> correspond au nom du fichier de vue dans le répertoire </a:t>
            </a:r>
            <a:r>
              <a:rPr lang="fr-FR" sz="2000" b="1" i="1" dirty="0">
                <a:latin typeface="Times New Roman" panose="02020603050405020304" pitchFamily="18" charset="0"/>
                <a:cs typeface="Times New Roman" panose="02020603050405020304" pitchFamily="18" charset="0"/>
              </a:rPr>
              <a:t>resources/views</a:t>
            </a:r>
            <a:r>
              <a:rPr lang="fr-FR" sz="2000" dirty="0">
                <a:latin typeface="Times New Roman" panose="02020603050405020304" pitchFamily="18" charset="0"/>
                <a:cs typeface="Times New Roman" panose="02020603050405020304" pitchFamily="18" charset="0"/>
              </a:rPr>
              <a:t>.</a:t>
            </a:r>
          </a:p>
          <a:p>
            <a:pPr marL="0" indent="0">
              <a:buNone/>
            </a:pPr>
            <a:r>
              <a:rPr lang="fr-FR" sz="2000" dirty="0">
                <a:latin typeface="Times New Roman" panose="02020603050405020304" pitchFamily="18" charset="0"/>
                <a:cs typeface="Times New Roman" panose="02020603050405020304" pitchFamily="18" charset="0"/>
              </a:rPr>
              <a:t> Le deuxième argument est un tableau de données qui doivent être mises à la disposition de la vue. Dans ce cas, nous transmettons la variable </a:t>
            </a:r>
            <a:r>
              <a:rPr lang="fr-FR" sz="2000" b="1" dirty="0">
                <a:latin typeface="Times New Roman" panose="02020603050405020304" pitchFamily="18" charset="0"/>
                <a:cs typeface="Times New Roman" panose="02020603050405020304" pitchFamily="18" charset="0"/>
              </a:rPr>
              <a:t>name</a:t>
            </a:r>
            <a:r>
              <a:rPr lang="fr-FR" sz="2000" dirty="0">
                <a:latin typeface="Times New Roman" panose="02020603050405020304" pitchFamily="18" charset="0"/>
                <a:cs typeface="Times New Roman" panose="02020603050405020304" pitchFamily="18" charset="0"/>
              </a:rPr>
              <a:t>, qui est affichée dans la vue en utilisant la syntaxe </a:t>
            </a:r>
            <a:r>
              <a:rPr lang="fr-FR" sz="2000" b="1" dirty="0">
                <a:latin typeface="Times New Roman" panose="02020603050405020304" pitchFamily="18" charset="0"/>
                <a:cs typeface="Times New Roman" panose="02020603050405020304" pitchFamily="18" charset="0"/>
              </a:rPr>
              <a:t>Blade</a:t>
            </a:r>
            <a:r>
              <a:rPr lang="fr-FR" sz="2000" dirty="0">
                <a:latin typeface="Times New Roman" panose="02020603050405020304" pitchFamily="18" charset="0"/>
                <a:cs typeface="Times New Roman" panose="02020603050405020304" pitchFamily="18" charset="0"/>
              </a:rPr>
              <a:t> .</a:t>
            </a:r>
          </a:p>
        </p:txBody>
      </p:sp>
      <p:sp>
        <p:nvSpPr>
          <p:cNvPr id="5" name="Rectangle : coins arrondis 4">
            <a:extLst>
              <a:ext uri="{FF2B5EF4-FFF2-40B4-BE49-F238E27FC236}">
                <a16:creationId xmlns:a16="http://schemas.microsoft.com/office/drawing/2014/main" id="{FA41EA9B-9082-4BED-81F9-9D4E685D790F}"/>
              </a:ext>
            </a:extLst>
          </p:cNvPr>
          <p:cNvSpPr/>
          <p:nvPr/>
        </p:nvSpPr>
        <p:spPr>
          <a:xfrm>
            <a:off x="1700423" y="3461254"/>
            <a:ext cx="5743153" cy="8715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C678DD"/>
                </a:solidFill>
                <a:latin typeface="SFMono-Regular"/>
              </a:rPr>
              <a:t>use</a:t>
            </a:r>
            <a:r>
              <a:rPr lang="en-US" sz="2000" dirty="0">
                <a:solidFill>
                  <a:srgbClr val="ABB2BF"/>
                </a:solidFill>
                <a:latin typeface="SFMono-Regular"/>
              </a:rPr>
              <a:t> </a:t>
            </a:r>
            <a:r>
              <a:rPr lang="en-US" sz="2000" dirty="0">
                <a:solidFill>
                  <a:srgbClr val="61AEEE"/>
                </a:solidFill>
                <a:latin typeface="SFMono-Regular"/>
              </a:rPr>
              <a:t>Illuminate</a:t>
            </a:r>
            <a:r>
              <a:rPr lang="en-US" sz="2000" dirty="0">
                <a:solidFill>
                  <a:srgbClr val="ABB2BF"/>
                </a:solidFill>
                <a:latin typeface="SFMono-Regular"/>
              </a:rPr>
              <a:t>\</a:t>
            </a:r>
            <a:r>
              <a:rPr lang="en-US" sz="2000" dirty="0">
                <a:solidFill>
                  <a:srgbClr val="61AEEE"/>
                </a:solidFill>
                <a:latin typeface="SFMono-Regular"/>
              </a:rPr>
              <a:t>Support</a:t>
            </a:r>
            <a:r>
              <a:rPr lang="en-US" sz="2000" dirty="0">
                <a:solidFill>
                  <a:srgbClr val="ABB2BF"/>
                </a:solidFill>
                <a:latin typeface="SFMono-Regular"/>
              </a:rPr>
              <a:t>\</a:t>
            </a:r>
            <a:r>
              <a:rPr lang="en-US" sz="2000" dirty="0">
                <a:solidFill>
                  <a:srgbClr val="61AEEE"/>
                </a:solidFill>
                <a:latin typeface="SFMono-Regular"/>
              </a:rPr>
              <a:t>Facades</a:t>
            </a:r>
            <a:r>
              <a:rPr lang="en-US" sz="2000" dirty="0">
                <a:solidFill>
                  <a:srgbClr val="ABB2BF"/>
                </a:solidFill>
                <a:latin typeface="SFMono-Regular"/>
              </a:rPr>
              <a:t>\</a:t>
            </a:r>
            <a:r>
              <a:rPr lang="en-US" sz="2000" dirty="0">
                <a:solidFill>
                  <a:srgbClr val="61AEEE"/>
                </a:solidFill>
                <a:latin typeface="SFMono-Regular"/>
              </a:rPr>
              <a:t>View</a:t>
            </a:r>
            <a:r>
              <a:rPr lang="en-US" sz="2000" dirty="0">
                <a:solidFill>
                  <a:srgbClr val="ABB2BF"/>
                </a:solidFill>
                <a:latin typeface="SFMono-Regular"/>
              </a:rPr>
              <a:t>;</a:t>
            </a:r>
            <a:br>
              <a:rPr lang="en-US" sz="2000" dirty="0"/>
            </a:br>
            <a:r>
              <a:rPr lang="en-US" sz="2000" dirty="0">
                <a:solidFill>
                  <a:srgbClr val="C678DD"/>
                </a:solidFill>
                <a:latin typeface="SFMono-Regular"/>
              </a:rPr>
              <a:t>return</a:t>
            </a:r>
            <a:r>
              <a:rPr lang="en-US" sz="2000" dirty="0">
                <a:solidFill>
                  <a:srgbClr val="ABB2BF"/>
                </a:solidFill>
                <a:latin typeface="SFMono-Regular"/>
              </a:rPr>
              <a:t> View::make(</a:t>
            </a:r>
            <a:r>
              <a:rPr lang="en-US" sz="2000" dirty="0">
                <a:solidFill>
                  <a:srgbClr val="98C379"/>
                </a:solidFill>
                <a:latin typeface="SFMono-Regular"/>
              </a:rPr>
              <a:t>‘</a:t>
            </a:r>
            <a:r>
              <a:rPr lang="en-US" sz="2000" dirty="0" err="1">
                <a:solidFill>
                  <a:srgbClr val="98C379"/>
                </a:solidFill>
                <a:latin typeface="SFMono-Regular"/>
              </a:rPr>
              <a:t>exemple</a:t>
            </a:r>
            <a:r>
              <a:rPr lang="en-US" sz="2000" dirty="0">
                <a:solidFill>
                  <a:srgbClr val="98C379"/>
                </a:solidFill>
                <a:latin typeface="SFMono-Regular"/>
              </a:rPr>
              <a:t>'</a:t>
            </a:r>
            <a:r>
              <a:rPr lang="en-US" sz="2000" dirty="0">
                <a:solidFill>
                  <a:srgbClr val="ABB2BF"/>
                </a:solidFill>
                <a:latin typeface="SFMono-Regular"/>
              </a:rPr>
              <a:t>, [</a:t>
            </a:r>
            <a:r>
              <a:rPr lang="en-US" sz="2000" dirty="0">
                <a:solidFill>
                  <a:srgbClr val="98C379"/>
                </a:solidFill>
                <a:latin typeface="SFMono-Regular"/>
              </a:rPr>
              <a:t>'name'</a:t>
            </a:r>
            <a:r>
              <a:rPr lang="en-US" sz="2000" dirty="0">
                <a:solidFill>
                  <a:srgbClr val="ABB2BF"/>
                </a:solidFill>
                <a:latin typeface="SFMono-Regular"/>
              </a:rPr>
              <a:t> =&gt; </a:t>
            </a:r>
            <a:r>
              <a:rPr lang="en-US" sz="2000" dirty="0">
                <a:solidFill>
                  <a:srgbClr val="98C379"/>
                </a:solidFill>
                <a:latin typeface="SFMono-Regular"/>
              </a:rPr>
              <a:t>‘Hamid'</a:t>
            </a:r>
            <a:r>
              <a:rPr lang="en-US" sz="2000" dirty="0">
                <a:solidFill>
                  <a:srgbClr val="ABB2BF"/>
                </a:solidFill>
                <a:latin typeface="SFMono-Regular"/>
              </a:rPr>
              <a:t>]);</a:t>
            </a:r>
            <a:endParaRPr lang="fr-FR" sz="2000"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1548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2">
              <a:buFont typeface="Wingdings" panose="05000000000000000000" pitchFamily="2" charset="2"/>
              <a:buChar char="ü"/>
            </a:pPr>
            <a:r>
              <a:rPr lang="fr-FR" sz="2200" dirty="0">
                <a:solidFill>
                  <a:srgbClr val="00B0F0"/>
                </a:solidFill>
              </a:rPr>
              <a:t>Répertoires de vue imbriqués</a:t>
            </a:r>
          </a:p>
          <a:p>
            <a:pPr marL="400050" lvl="1" indent="0">
              <a:buNone/>
            </a:pPr>
            <a:r>
              <a:rPr lang="fr-FR" sz="2000" dirty="0">
                <a:latin typeface="Times New Roman" panose="02020603050405020304" pitchFamily="18" charset="0"/>
                <a:cs typeface="Times New Roman" panose="02020603050405020304" pitchFamily="18" charset="0"/>
              </a:rPr>
              <a:t>Les vues peuvent également être imbriquées dans des sous-répertoires du </a:t>
            </a:r>
            <a:r>
              <a:rPr lang="fr-FR" sz="2000" b="1" i="1" dirty="0">
                <a:latin typeface="Times New Roman" panose="02020603050405020304" pitchFamily="18" charset="0"/>
                <a:cs typeface="Times New Roman" panose="02020603050405020304" pitchFamily="18" charset="0"/>
              </a:rPr>
              <a:t>resources/views </a:t>
            </a:r>
            <a:r>
              <a:rPr lang="fr-FR" sz="2000" dirty="0">
                <a:latin typeface="Times New Roman" panose="02020603050405020304" pitchFamily="18" charset="0"/>
                <a:cs typeface="Times New Roman" panose="02020603050405020304" pitchFamily="18" charset="0"/>
              </a:rPr>
              <a:t>répertoire. </a:t>
            </a:r>
          </a:p>
          <a:p>
            <a:pPr marL="400050" lvl="1" indent="0">
              <a:buNone/>
            </a:pPr>
            <a:r>
              <a:rPr lang="fr-FR" sz="2000" dirty="0">
                <a:latin typeface="Times New Roman" panose="02020603050405020304" pitchFamily="18" charset="0"/>
                <a:cs typeface="Times New Roman" panose="02020603050405020304" pitchFamily="18" charset="0"/>
              </a:rPr>
              <a:t>La notation "Point" peut être utilisée pour référencer des vues imbriquées. Par exemple, si votre vue est stockée dans </a:t>
            </a:r>
            <a:r>
              <a:rPr lang="fr-FR" sz="2000" b="1" i="1" dirty="0">
                <a:latin typeface="Times New Roman" panose="02020603050405020304" pitchFamily="18" charset="0"/>
                <a:cs typeface="Times New Roman" panose="02020603050405020304" pitchFamily="18" charset="0"/>
              </a:rPr>
              <a:t>resources/views/admin/</a:t>
            </a:r>
            <a:r>
              <a:rPr lang="fr-FR" sz="2000" b="1" i="1" dirty="0" err="1">
                <a:latin typeface="Times New Roman" panose="02020603050405020304" pitchFamily="18" charset="0"/>
                <a:cs typeface="Times New Roman" panose="02020603050405020304" pitchFamily="18" charset="0"/>
              </a:rPr>
              <a:t>profile.blade.php</a:t>
            </a:r>
            <a:r>
              <a:rPr lang="fr-FR" sz="2000" dirty="0">
                <a:latin typeface="Times New Roman" panose="02020603050405020304" pitchFamily="18" charset="0"/>
                <a:cs typeface="Times New Roman" panose="02020603050405020304" pitchFamily="18" charset="0"/>
              </a:rPr>
              <a:t>, vous pouvez la renvoyer depuis l'une des routes/contrôleurs de votre application comme suit :</a:t>
            </a:r>
          </a:p>
          <a:p>
            <a:pPr marL="400050" lvl="1" indent="0">
              <a:buNone/>
            </a:pPr>
            <a:endParaRPr lang="fr-FR" sz="2000" dirty="0">
              <a:latin typeface="Times New Roman" panose="02020603050405020304" pitchFamily="18" charset="0"/>
              <a:cs typeface="Times New Roman" panose="02020603050405020304" pitchFamily="18" charset="0"/>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5" name="Rectangle : coins arrondis 4">
            <a:extLst>
              <a:ext uri="{FF2B5EF4-FFF2-40B4-BE49-F238E27FC236}">
                <a16:creationId xmlns:a16="http://schemas.microsoft.com/office/drawing/2014/main" id="{F5B74FF8-CA29-4C4A-8FBC-C1E016D556C0}"/>
              </a:ext>
            </a:extLst>
          </p:cNvPr>
          <p:cNvSpPr/>
          <p:nvPr/>
        </p:nvSpPr>
        <p:spPr>
          <a:xfrm>
            <a:off x="1259632" y="5193196"/>
            <a:ext cx="5832648" cy="54006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latin typeface="Times New Roman" panose="02020603050405020304" pitchFamily="18" charset="0"/>
                <a:cs typeface="Times New Roman" panose="02020603050405020304" pitchFamily="18" charset="0"/>
              </a:rPr>
              <a:t>return</a:t>
            </a:r>
            <a:r>
              <a:rPr lang="en-US" sz="2400" dirty="0">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view(</a:t>
            </a:r>
            <a:r>
              <a:rPr lang="en-US" sz="2400" dirty="0">
                <a:solidFill>
                  <a:srgbClr val="00B050"/>
                </a:solidFill>
                <a:latin typeface="Times New Roman" panose="02020603050405020304" pitchFamily="18" charset="0"/>
                <a:cs typeface="Times New Roman" panose="02020603050405020304" pitchFamily="18" charset="0"/>
              </a:rPr>
              <a:t>'</a:t>
            </a:r>
            <a:r>
              <a:rPr lang="en-US" sz="2400" dirty="0" err="1">
                <a:solidFill>
                  <a:srgbClr val="00B050"/>
                </a:solidFill>
                <a:latin typeface="Times New Roman" panose="02020603050405020304" pitchFamily="18" charset="0"/>
                <a:cs typeface="Times New Roman" panose="02020603050405020304" pitchFamily="18" charset="0"/>
              </a:rPr>
              <a:t>admin.profile</a:t>
            </a:r>
            <a:r>
              <a:rPr lang="en-US" sz="2400" dirty="0">
                <a:solidFill>
                  <a:srgbClr val="00B050"/>
                </a:solidFill>
                <a:latin typeface="Times New Roman" panose="02020603050405020304" pitchFamily="18" charset="0"/>
                <a:cs typeface="Times New Roman" panose="02020603050405020304" pitchFamily="18" charset="0"/>
              </a:rPr>
              <a: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a:solidFill>
                  <a:srgbClr val="C00000"/>
                </a:solidFill>
                <a:latin typeface="Times New Roman" panose="02020603050405020304" pitchFamily="18" charset="0"/>
                <a:cs typeface="Times New Roman" panose="02020603050405020304" pitchFamily="18" charset="0"/>
              </a:rPr>
              <a:t>$data</a:t>
            </a:r>
            <a:r>
              <a:rPr lang="en-US" sz="2400" dirty="0">
                <a:solidFill>
                  <a:schemeClr val="accent6">
                    <a:lumMod val="75000"/>
                  </a:schemeClr>
                </a:solidFill>
                <a:latin typeface="Times New Roman" panose="02020603050405020304" pitchFamily="18" charset="0"/>
                <a:cs typeface="Times New Roman" panose="02020603050405020304" pitchFamily="18" charset="0"/>
              </a:rPr>
              <a:t>);</a:t>
            </a:r>
            <a:endParaRPr lang="fr-FR" sz="2400"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2878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1">
              <a:buFont typeface="Wingdings" panose="05000000000000000000" pitchFamily="2" charset="2"/>
              <a:buChar char="ü"/>
            </a:pPr>
            <a:r>
              <a:rPr lang="fr-FR" sz="2000" dirty="0">
                <a:solidFill>
                  <a:srgbClr val="00B0F0"/>
                </a:solidFill>
              </a:rPr>
              <a:t>Création de la première vue disponible</a:t>
            </a:r>
          </a:p>
          <a:p>
            <a:pPr marL="0" indent="0">
              <a:buNone/>
            </a:pPr>
            <a:r>
              <a:rPr lang="fr-FR" sz="1800" dirty="0">
                <a:latin typeface="Times New Roman" panose="02020603050405020304" pitchFamily="18" charset="0"/>
                <a:cs typeface="Times New Roman" panose="02020603050405020304" pitchFamily="18" charset="0"/>
              </a:rPr>
              <a:t>En utilisant la méthode </a:t>
            </a:r>
            <a:r>
              <a:rPr lang="fr-FR" sz="1800" b="1" dirty="0">
                <a:solidFill>
                  <a:schemeClr val="accent6"/>
                </a:solidFill>
                <a:latin typeface="Times New Roman" panose="02020603050405020304" pitchFamily="18" charset="0"/>
                <a:cs typeface="Times New Roman" panose="02020603050405020304" pitchFamily="18" charset="0"/>
              </a:rPr>
              <a:t>first</a:t>
            </a:r>
            <a:r>
              <a:rPr lang="fr-FR" sz="1800" dirty="0">
                <a:latin typeface="Times New Roman" panose="02020603050405020304" pitchFamily="18" charset="0"/>
                <a:cs typeface="Times New Roman" panose="02020603050405020304" pitchFamily="18" charset="0"/>
              </a:rPr>
              <a:t> de la façade </a:t>
            </a:r>
            <a:r>
              <a:rPr lang="fr-FR" sz="1800" b="1" dirty="0">
                <a:latin typeface="Times New Roman" panose="02020603050405020304" pitchFamily="18" charset="0"/>
                <a:cs typeface="Times New Roman" panose="02020603050405020304" pitchFamily="18" charset="0"/>
              </a:rPr>
              <a:t>View</a:t>
            </a:r>
            <a:r>
              <a:rPr lang="fr-FR" sz="1800" dirty="0">
                <a:latin typeface="Times New Roman" panose="02020603050405020304" pitchFamily="18" charset="0"/>
                <a:cs typeface="Times New Roman" panose="02020603050405020304" pitchFamily="18" charset="0"/>
              </a:rPr>
              <a:t>, vous pouvez créer la première vue qui existe dans un tableau de vues donné. Cela peut être utile si votre application ou votre package permet de personnaliser ou d'écraser les vues :</a:t>
            </a:r>
          </a:p>
          <a:p>
            <a:pPr marL="914400" lvl="2" indent="0">
              <a:buNone/>
            </a:pPr>
            <a:endParaRPr lang="fr-FR" sz="2200" dirty="0">
              <a:solidFill>
                <a:srgbClr val="00B0F0"/>
              </a:solidFill>
            </a:endParaRPr>
          </a:p>
          <a:p>
            <a:pPr marL="914400" lvl="2" indent="0">
              <a:buNone/>
            </a:pPr>
            <a:endParaRPr lang="fr-FR" sz="2200" dirty="0">
              <a:solidFill>
                <a:srgbClr val="00B0F0"/>
              </a:solidFill>
            </a:endParaRPr>
          </a:p>
          <a:p>
            <a:pPr lvl="1">
              <a:buFont typeface="Wingdings" panose="05000000000000000000" pitchFamily="2" charset="2"/>
              <a:buChar char="ü"/>
            </a:pPr>
            <a:r>
              <a:rPr lang="fr-FR" sz="2000" dirty="0">
                <a:solidFill>
                  <a:srgbClr val="00B0F0"/>
                </a:solidFill>
              </a:rPr>
              <a:t>Déterminer si une vue existe</a:t>
            </a:r>
          </a:p>
          <a:p>
            <a:pPr marL="0" indent="0">
              <a:buNone/>
            </a:pPr>
            <a:r>
              <a:rPr lang="fr-FR" sz="1800" dirty="0">
                <a:latin typeface="Times New Roman" panose="02020603050405020304" pitchFamily="18" charset="0"/>
                <a:cs typeface="Times New Roman" panose="02020603050405020304" pitchFamily="18" charset="0"/>
              </a:rPr>
              <a:t>Si vous avez besoin de déterminer si une vue existe, vous pouvez utiliser la façade </a:t>
            </a:r>
            <a:r>
              <a:rPr lang="fr-FR" sz="1800" b="1" dirty="0">
                <a:latin typeface="Times New Roman" panose="02020603050405020304" pitchFamily="18" charset="0"/>
                <a:cs typeface="Times New Roman" panose="02020603050405020304" pitchFamily="18" charset="0"/>
              </a:rPr>
              <a:t>View</a:t>
            </a:r>
            <a:r>
              <a:rPr lang="fr-FR" sz="1800" dirty="0">
                <a:latin typeface="Times New Roman" panose="02020603050405020304" pitchFamily="18" charset="0"/>
                <a:cs typeface="Times New Roman" panose="02020603050405020304" pitchFamily="18" charset="0"/>
              </a:rPr>
              <a:t>. La méthode </a:t>
            </a:r>
            <a:r>
              <a:rPr lang="fr-FR" sz="1800" b="1" dirty="0" err="1">
                <a:solidFill>
                  <a:schemeClr val="accent6"/>
                </a:solidFill>
                <a:latin typeface="Times New Roman" panose="02020603050405020304" pitchFamily="18" charset="0"/>
                <a:cs typeface="Times New Roman" panose="02020603050405020304" pitchFamily="18" charset="0"/>
              </a:rPr>
              <a:t>exists</a:t>
            </a:r>
            <a:r>
              <a:rPr lang="fr-FR" sz="1800" dirty="0">
                <a:latin typeface="Times New Roman" panose="02020603050405020304" pitchFamily="18" charset="0"/>
                <a:cs typeface="Times New Roman" panose="02020603050405020304" pitchFamily="18" charset="0"/>
              </a:rPr>
              <a:t> retournera </a:t>
            </a:r>
            <a:r>
              <a:rPr lang="fr-FR" sz="1800" b="1" dirty="0">
                <a:latin typeface="Times New Roman" panose="02020603050405020304" pitchFamily="18" charset="0"/>
                <a:cs typeface="Times New Roman" panose="02020603050405020304" pitchFamily="18" charset="0"/>
              </a:rPr>
              <a:t>true</a:t>
            </a:r>
            <a:r>
              <a:rPr lang="fr-FR" sz="1800" dirty="0">
                <a:latin typeface="Times New Roman" panose="02020603050405020304" pitchFamily="18" charset="0"/>
                <a:cs typeface="Times New Roman" panose="02020603050405020304" pitchFamily="18" charset="0"/>
              </a:rPr>
              <a:t> si la vue existe :</a:t>
            </a:r>
          </a:p>
          <a:p>
            <a:endParaRPr lang="fr-FR" dirty="0"/>
          </a:p>
        </p:txBody>
      </p:sp>
      <p:sp>
        <p:nvSpPr>
          <p:cNvPr id="5" name="Rectangle : coins arrondis 4">
            <a:extLst>
              <a:ext uri="{FF2B5EF4-FFF2-40B4-BE49-F238E27FC236}">
                <a16:creationId xmlns:a16="http://schemas.microsoft.com/office/drawing/2014/main" id="{F5B74FF8-CA29-4C4A-8FBC-C1E016D556C0}"/>
              </a:ext>
            </a:extLst>
          </p:cNvPr>
          <p:cNvSpPr/>
          <p:nvPr/>
        </p:nvSpPr>
        <p:spPr>
          <a:xfrm>
            <a:off x="2320211" y="3789040"/>
            <a:ext cx="6192688"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C678DD"/>
                </a:solidFill>
                <a:latin typeface="SFMono-Regular"/>
              </a:rPr>
              <a:t>use</a:t>
            </a:r>
            <a:r>
              <a:rPr lang="en-US" dirty="0">
                <a:solidFill>
                  <a:srgbClr val="ABB2BF"/>
                </a:solidFill>
                <a:latin typeface="SFMono-Regular"/>
              </a:rPr>
              <a:t> </a:t>
            </a:r>
            <a:r>
              <a:rPr lang="en-US" dirty="0">
                <a:solidFill>
                  <a:srgbClr val="61AEEE"/>
                </a:solidFill>
                <a:latin typeface="SFMono-Regular"/>
              </a:rPr>
              <a:t>Illuminate</a:t>
            </a:r>
            <a:r>
              <a:rPr lang="en-US" dirty="0">
                <a:solidFill>
                  <a:srgbClr val="ABB2BF"/>
                </a:solidFill>
                <a:latin typeface="SFMono-Regular"/>
              </a:rPr>
              <a:t>\</a:t>
            </a:r>
            <a:r>
              <a:rPr lang="en-US" dirty="0">
                <a:solidFill>
                  <a:srgbClr val="61AEEE"/>
                </a:solidFill>
                <a:latin typeface="SFMono-Regular"/>
              </a:rPr>
              <a:t>Support</a:t>
            </a:r>
            <a:r>
              <a:rPr lang="en-US" dirty="0">
                <a:solidFill>
                  <a:srgbClr val="ABB2BF"/>
                </a:solidFill>
                <a:latin typeface="SFMono-Regular"/>
              </a:rPr>
              <a:t>\</a:t>
            </a:r>
            <a:r>
              <a:rPr lang="en-US" dirty="0">
                <a:solidFill>
                  <a:srgbClr val="61AEEE"/>
                </a:solidFill>
                <a:latin typeface="SFMono-Regular"/>
              </a:rPr>
              <a:t>Facades</a:t>
            </a:r>
            <a:r>
              <a:rPr lang="en-US" dirty="0">
                <a:solidFill>
                  <a:srgbClr val="ABB2BF"/>
                </a:solidFill>
                <a:latin typeface="SFMono-Regular"/>
              </a:rPr>
              <a:t>\</a:t>
            </a:r>
            <a:r>
              <a:rPr lang="en-US" dirty="0">
                <a:solidFill>
                  <a:srgbClr val="61AEEE"/>
                </a:solidFill>
                <a:latin typeface="SFMono-Regular"/>
              </a:rPr>
              <a:t>View</a:t>
            </a:r>
            <a:r>
              <a:rPr lang="en-US" dirty="0">
                <a:solidFill>
                  <a:srgbClr val="ABB2BF"/>
                </a:solidFill>
                <a:latin typeface="SFMono-Regular"/>
              </a:rPr>
              <a:t>;</a:t>
            </a:r>
            <a:br>
              <a:rPr lang="en-US" dirty="0"/>
            </a:br>
            <a:r>
              <a:rPr lang="en-US" dirty="0">
                <a:solidFill>
                  <a:srgbClr val="C678DD"/>
                </a:solidFill>
                <a:latin typeface="SFMono-Regular"/>
              </a:rPr>
              <a:t>return</a:t>
            </a:r>
            <a:r>
              <a:rPr lang="en-US" dirty="0">
                <a:solidFill>
                  <a:srgbClr val="ABB2BF"/>
                </a:solidFill>
                <a:latin typeface="SFMono-Regular"/>
              </a:rPr>
              <a:t> View::first([</a:t>
            </a:r>
            <a:r>
              <a:rPr lang="en-US" dirty="0">
                <a:solidFill>
                  <a:srgbClr val="98C379"/>
                </a:solidFill>
                <a:latin typeface="SFMono-Regular"/>
              </a:rPr>
              <a:t>'</a:t>
            </a:r>
            <a:r>
              <a:rPr lang="en-US" dirty="0" err="1">
                <a:solidFill>
                  <a:srgbClr val="98C379"/>
                </a:solidFill>
                <a:latin typeface="SFMono-Regular"/>
              </a:rPr>
              <a:t>custom.admin</a:t>
            </a:r>
            <a:r>
              <a:rPr lang="en-US" dirty="0">
                <a:solidFill>
                  <a:srgbClr val="98C379"/>
                </a:solidFill>
                <a:latin typeface="SFMono-Regular"/>
              </a:rPr>
              <a:t>'</a:t>
            </a:r>
            <a:r>
              <a:rPr lang="en-US" dirty="0">
                <a:solidFill>
                  <a:srgbClr val="ABB2BF"/>
                </a:solidFill>
                <a:latin typeface="SFMono-Regular"/>
              </a:rPr>
              <a:t>, </a:t>
            </a:r>
            <a:r>
              <a:rPr lang="en-US" dirty="0">
                <a:solidFill>
                  <a:srgbClr val="98C379"/>
                </a:solidFill>
                <a:latin typeface="SFMono-Regular"/>
              </a:rPr>
              <a:t>'admin'</a:t>
            </a:r>
            <a:r>
              <a:rPr lang="en-US" dirty="0">
                <a:solidFill>
                  <a:srgbClr val="ABB2BF"/>
                </a:solidFill>
                <a:latin typeface="SFMono-Regular"/>
              </a:rPr>
              <a:t>], </a:t>
            </a:r>
            <a:r>
              <a:rPr lang="en-US" dirty="0">
                <a:solidFill>
                  <a:srgbClr val="D19A66"/>
                </a:solidFill>
                <a:latin typeface="SFMono-Regular"/>
              </a:rPr>
              <a:t>$data</a:t>
            </a:r>
            <a:r>
              <a:rPr lang="en-US" dirty="0">
                <a:solidFill>
                  <a:srgbClr val="ABB2BF"/>
                </a:solidFill>
                <a:latin typeface="SFMono-Regular"/>
              </a:rPr>
              <a:t>);</a:t>
            </a:r>
            <a:endParaRPr lang="fr-FR"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365A5779-D737-44A8-ACA8-AB34A0F778D1}"/>
              </a:ext>
            </a:extLst>
          </p:cNvPr>
          <p:cNvSpPr/>
          <p:nvPr/>
        </p:nvSpPr>
        <p:spPr>
          <a:xfrm>
            <a:off x="2320211" y="5522132"/>
            <a:ext cx="6192688" cy="94550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rgbClr val="E06C75"/>
                </a:solidFill>
                <a:latin typeface="SFMono-Regular"/>
              </a:rPr>
              <a:t>use</a:t>
            </a:r>
            <a:r>
              <a:rPr lang="en-US" sz="1600" dirty="0">
                <a:solidFill>
                  <a:srgbClr val="ABB2BF"/>
                </a:solidFill>
                <a:latin typeface="SFMono-Regular"/>
              </a:rPr>
              <a:t> </a:t>
            </a:r>
            <a:r>
              <a:rPr lang="en-US" sz="1600" dirty="0">
                <a:solidFill>
                  <a:srgbClr val="E06C75"/>
                </a:solidFill>
                <a:latin typeface="SFMono-Regular"/>
              </a:rPr>
              <a:t>Illuminate</a:t>
            </a:r>
            <a:r>
              <a:rPr lang="en-US" sz="1600" dirty="0">
                <a:solidFill>
                  <a:srgbClr val="ABB2BF"/>
                </a:solidFill>
                <a:latin typeface="SFMono-Regular"/>
              </a:rPr>
              <a:t>\</a:t>
            </a:r>
            <a:r>
              <a:rPr lang="en-US" sz="1600" dirty="0">
                <a:solidFill>
                  <a:srgbClr val="E06C75"/>
                </a:solidFill>
                <a:latin typeface="SFMono-Regular"/>
              </a:rPr>
              <a:t>Support</a:t>
            </a:r>
            <a:r>
              <a:rPr lang="en-US" sz="1600" dirty="0">
                <a:solidFill>
                  <a:srgbClr val="ABB2BF"/>
                </a:solidFill>
                <a:latin typeface="SFMono-Regular"/>
              </a:rPr>
              <a:t>\</a:t>
            </a:r>
            <a:r>
              <a:rPr lang="en-US" sz="1600" dirty="0">
                <a:solidFill>
                  <a:srgbClr val="E06C75"/>
                </a:solidFill>
                <a:latin typeface="SFMono-Regular"/>
              </a:rPr>
              <a:t>Facades</a:t>
            </a:r>
            <a:r>
              <a:rPr lang="en-US" sz="1600" dirty="0">
                <a:solidFill>
                  <a:srgbClr val="ABB2BF"/>
                </a:solidFill>
                <a:latin typeface="SFMono-Regular"/>
              </a:rPr>
              <a:t>\</a:t>
            </a:r>
            <a:r>
              <a:rPr lang="en-US" sz="1600" dirty="0">
                <a:solidFill>
                  <a:srgbClr val="E06C75"/>
                </a:solidFill>
                <a:latin typeface="SFMono-Regular"/>
              </a:rPr>
              <a:t>View</a:t>
            </a:r>
            <a:r>
              <a:rPr lang="en-US" sz="1600" dirty="0">
                <a:solidFill>
                  <a:srgbClr val="ABB2BF"/>
                </a:solidFill>
                <a:latin typeface="SFMono-Regular"/>
              </a:rPr>
              <a:t>;</a:t>
            </a:r>
            <a:br>
              <a:rPr lang="en-US" sz="1600" dirty="0"/>
            </a:br>
            <a:r>
              <a:rPr lang="en-US" sz="1600" dirty="0">
                <a:solidFill>
                  <a:srgbClr val="E06C75"/>
                </a:solidFill>
                <a:latin typeface="SFMono-Regular"/>
              </a:rPr>
              <a:t>if</a:t>
            </a:r>
            <a:r>
              <a:rPr lang="en-US" sz="1600" dirty="0">
                <a:solidFill>
                  <a:srgbClr val="ABB2BF"/>
                </a:solidFill>
                <a:latin typeface="SFMono-Regular"/>
              </a:rPr>
              <a:t> (</a:t>
            </a:r>
            <a:r>
              <a:rPr lang="en-US" sz="1600" dirty="0">
                <a:solidFill>
                  <a:srgbClr val="98C379"/>
                </a:solidFill>
                <a:latin typeface="SFMono-Regular"/>
              </a:rPr>
              <a:t>View</a:t>
            </a:r>
            <a:r>
              <a:rPr lang="en-US" sz="1600" dirty="0">
                <a:solidFill>
                  <a:srgbClr val="ABB2BF"/>
                </a:solidFill>
                <a:latin typeface="SFMono-Regular"/>
              </a:rPr>
              <a:t>::exists(</a:t>
            </a:r>
            <a:r>
              <a:rPr lang="en-US" sz="1600" dirty="0">
                <a:solidFill>
                  <a:srgbClr val="98C379"/>
                </a:solidFill>
                <a:latin typeface="SFMono-Regular"/>
              </a:rPr>
              <a:t>'</a:t>
            </a:r>
            <a:r>
              <a:rPr lang="en-US" sz="1600" dirty="0" err="1">
                <a:solidFill>
                  <a:srgbClr val="98C379"/>
                </a:solidFill>
                <a:latin typeface="SFMono-Regular"/>
              </a:rPr>
              <a:t>emails.customer</a:t>
            </a:r>
            <a:r>
              <a:rPr lang="en-US" sz="1600" dirty="0">
                <a:solidFill>
                  <a:srgbClr val="98C379"/>
                </a:solidFill>
                <a:latin typeface="SFMono-Regular"/>
              </a:rPr>
              <a:t>'</a:t>
            </a:r>
            <a:r>
              <a:rPr lang="en-US" sz="1600" dirty="0">
                <a:solidFill>
                  <a:srgbClr val="ABB2BF"/>
                </a:solidFill>
                <a:latin typeface="SFMono-Regular"/>
              </a:rPr>
              <a:t>)) {</a:t>
            </a:r>
            <a:br>
              <a:rPr lang="en-US" sz="1600" dirty="0"/>
            </a:br>
            <a:r>
              <a:rPr lang="en-US" sz="1600" dirty="0">
                <a:solidFill>
                  <a:srgbClr val="ABB2BF"/>
                </a:solidFill>
                <a:latin typeface="SFMono-Regular"/>
              </a:rPr>
              <a:t>    </a:t>
            </a:r>
            <a:r>
              <a:rPr lang="en-US" sz="1600" i="1" dirty="0">
                <a:solidFill>
                  <a:srgbClr val="5C6370"/>
                </a:solidFill>
                <a:latin typeface="SFMono-Regular"/>
              </a:rPr>
              <a:t>//</a:t>
            </a:r>
            <a:br>
              <a:rPr lang="en-US" sz="1600" dirty="0"/>
            </a:br>
            <a:r>
              <a:rPr lang="en-US" sz="1600" i="1" dirty="0">
                <a:solidFill>
                  <a:srgbClr val="5C6370"/>
                </a:solidFill>
                <a:latin typeface="SFMono-Regular"/>
              </a:rPr>
              <a:t>}</a:t>
            </a:r>
            <a:endParaRPr lang="fr-FR" sz="1600"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8695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2">
              <a:buFont typeface="Wingdings" panose="05000000000000000000" pitchFamily="2" charset="2"/>
              <a:buChar char="ü"/>
            </a:pPr>
            <a:r>
              <a:rPr lang="fr-FR" sz="2200" dirty="0">
                <a:solidFill>
                  <a:srgbClr val="00B0F0"/>
                </a:solidFill>
              </a:rPr>
              <a:t>Passer une variable à la vue</a:t>
            </a:r>
          </a:p>
          <a:p>
            <a:pPr marL="400050" lvl="1" indent="0">
              <a:buNone/>
            </a:pPr>
            <a:r>
              <a:rPr lang="fr-FR" sz="2000" dirty="0">
                <a:latin typeface="Times New Roman" panose="02020603050405020304" pitchFamily="18" charset="0"/>
                <a:cs typeface="Times New Roman" panose="02020603050405020304" pitchFamily="18" charset="0"/>
              </a:rPr>
              <a:t>Pour passer une variable à la vue, nous pouvons envoyer un tableau en deuxième paramètre à la fonction </a:t>
            </a:r>
            <a:r>
              <a:rPr lang="fr-FR" sz="2000" dirty="0" err="1">
                <a:solidFill>
                  <a:schemeClr val="accent6">
                    <a:lumMod val="75000"/>
                  </a:schemeClr>
                </a:solidFill>
                <a:latin typeface="Times New Roman" panose="02020603050405020304" pitchFamily="18" charset="0"/>
                <a:cs typeface="Times New Roman" panose="02020603050405020304" pitchFamily="18" charset="0"/>
              </a:rPr>
              <a:t>view</a:t>
            </a:r>
            <a:r>
              <a:rPr lang="fr-FR" sz="2000" dirty="0">
                <a:solidFill>
                  <a:schemeClr val="accent6">
                    <a:lumMod val="75000"/>
                  </a:schemeClr>
                </a:solidFill>
                <a:latin typeface="Times New Roman" panose="02020603050405020304" pitchFamily="18" charset="0"/>
                <a:cs typeface="Times New Roman" panose="02020603050405020304" pitchFamily="18" charset="0"/>
              </a:rPr>
              <a:t>().</a:t>
            </a: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pPr marL="457200" lvl="1" indent="0">
              <a:buNone/>
            </a:pPr>
            <a:endParaRPr lang="fr-FR" dirty="0"/>
          </a:p>
        </p:txBody>
      </p:sp>
      <p:sp>
        <p:nvSpPr>
          <p:cNvPr id="5" name="Rectangle : coins arrondis 4">
            <a:extLst>
              <a:ext uri="{FF2B5EF4-FFF2-40B4-BE49-F238E27FC236}">
                <a16:creationId xmlns:a16="http://schemas.microsoft.com/office/drawing/2014/main" id="{F5B74FF8-CA29-4C4A-8FBC-C1E016D556C0}"/>
              </a:ext>
            </a:extLst>
          </p:cNvPr>
          <p:cNvSpPr/>
          <p:nvPr/>
        </p:nvSpPr>
        <p:spPr>
          <a:xfrm>
            <a:off x="780605" y="3732442"/>
            <a:ext cx="7560840" cy="201622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657B83"/>
                </a:solidFill>
                <a:latin typeface="Courier New" panose="02070309020205020404" pitchFamily="49" charset="0"/>
              </a:rPr>
              <a:t>Route::get(</a:t>
            </a:r>
            <a:r>
              <a:rPr lang="en-US" sz="2000" dirty="0">
                <a:solidFill>
                  <a:srgbClr val="2AA198"/>
                </a:solidFill>
                <a:latin typeface="Courier New" panose="02070309020205020404" pitchFamily="49" charset="0"/>
              </a:rPr>
              <a:t>'/bonjour/{nom}'</a:t>
            </a:r>
            <a:r>
              <a:rPr lang="en-US" sz="2000" dirty="0">
                <a:solidFill>
                  <a:srgbClr val="657B83"/>
                </a:solidFill>
                <a:latin typeface="Courier New" panose="02070309020205020404" pitchFamily="49" charset="0"/>
              </a:rPr>
              <a:t>, </a:t>
            </a:r>
            <a:r>
              <a:rPr lang="en-US" sz="2000" dirty="0">
                <a:solidFill>
                  <a:srgbClr val="859900"/>
                </a:solidFill>
                <a:latin typeface="Courier New" panose="02070309020205020404" pitchFamily="49" charset="0"/>
              </a:rPr>
              <a:t>function</a:t>
            </a:r>
            <a:r>
              <a:rPr lang="en-US" sz="2000" dirty="0">
                <a:solidFill>
                  <a:srgbClr val="657B83"/>
                </a:solidFill>
                <a:latin typeface="Courier New" panose="02070309020205020404" pitchFamily="49" charset="0"/>
              </a:rPr>
              <a:t> () {</a:t>
            </a:r>
          </a:p>
          <a:p>
            <a:r>
              <a:rPr lang="en-US" sz="2000" dirty="0">
                <a:solidFill>
                  <a:srgbClr val="657B83"/>
                </a:solidFill>
                <a:latin typeface="Courier New" panose="02070309020205020404" pitchFamily="49" charset="0"/>
              </a:rPr>
              <a:t>             $nom = request(</a:t>
            </a:r>
            <a:r>
              <a:rPr lang="en-US" sz="2000" dirty="0">
                <a:solidFill>
                  <a:srgbClr val="2AA198"/>
                </a:solidFill>
                <a:latin typeface="Courier New" panose="02070309020205020404" pitchFamily="49" charset="0"/>
              </a:rPr>
              <a:t>'nom’</a:t>
            </a:r>
            <a:r>
              <a:rPr lang="en-US" sz="2000" dirty="0">
                <a:solidFill>
                  <a:srgbClr val="657B83"/>
                </a:solidFill>
                <a:latin typeface="Courier New" panose="02070309020205020404" pitchFamily="49" charset="0"/>
              </a:rPr>
              <a:t>); </a:t>
            </a:r>
          </a:p>
          <a:p>
            <a:r>
              <a:rPr lang="en-US" sz="2000" dirty="0">
                <a:solidFill>
                  <a:srgbClr val="859900"/>
                </a:solidFill>
                <a:latin typeface="Courier New" panose="02070309020205020404" pitchFamily="49" charset="0"/>
              </a:rPr>
              <a:t>     return</a:t>
            </a:r>
            <a:r>
              <a:rPr lang="en-US" sz="2000" dirty="0">
                <a:solidFill>
                  <a:srgbClr val="657B83"/>
                </a:solidFill>
                <a:latin typeface="Courier New" panose="02070309020205020404" pitchFamily="49" charset="0"/>
              </a:rPr>
              <a:t> view(</a:t>
            </a:r>
            <a:r>
              <a:rPr lang="en-US" sz="2000" dirty="0">
                <a:solidFill>
                  <a:srgbClr val="2AA198"/>
                </a:solidFill>
                <a:latin typeface="Courier New" panose="02070309020205020404" pitchFamily="49" charset="0"/>
              </a:rPr>
              <a:t>'bonjour’</a:t>
            </a:r>
            <a:r>
              <a:rPr lang="en-US" sz="2000" dirty="0">
                <a:solidFill>
                  <a:srgbClr val="657B83"/>
                </a:solidFill>
                <a:latin typeface="Courier New" panose="02070309020205020404" pitchFamily="49" charset="0"/>
              </a:rPr>
              <a:t>, [ </a:t>
            </a:r>
          </a:p>
          <a:p>
            <a:r>
              <a:rPr lang="en-US" sz="2000" dirty="0">
                <a:solidFill>
                  <a:srgbClr val="2AA198"/>
                </a:solidFill>
                <a:latin typeface="Courier New" panose="02070309020205020404" pitchFamily="49" charset="0"/>
              </a:rPr>
              <a:t>             'nom'</a:t>
            </a:r>
            <a:r>
              <a:rPr lang="en-US" sz="2000" dirty="0">
                <a:solidFill>
                  <a:srgbClr val="657B83"/>
                </a:solidFill>
                <a:latin typeface="Courier New" panose="02070309020205020404" pitchFamily="49" charset="0"/>
              </a:rPr>
              <a:t> =&gt; $nom, </a:t>
            </a:r>
          </a:p>
          <a:p>
            <a:r>
              <a:rPr lang="en-US" sz="2000" dirty="0">
                <a:solidFill>
                  <a:srgbClr val="657B83"/>
                </a:solidFill>
                <a:latin typeface="Courier New" panose="02070309020205020404" pitchFamily="49" charset="0"/>
              </a:rPr>
              <a:t>       ]); </a:t>
            </a:r>
          </a:p>
          <a:p>
            <a:r>
              <a:rPr lang="en-US" sz="2000" dirty="0">
                <a:solidFill>
                  <a:srgbClr val="657B83"/>
                </a:solidFill>
                <a:latin typeface="Courier New" panose="02070309020205020404" pitchFamily="49" charset="0"/>
              </a:rPr>
              <a:t>});</a:t>
            </a:r>
            <a:endParaRPr lang="fr-FR" sz="20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45C1534D-85F1-45C2-A0E0-93C58808B074}"/>
              </a:ext>
            </a:extLst>
          </p:cNvPr>
          <p:cNvSpPr/>
          <p:nvPr/>
        </p:nvSpPr>
        <p:spPr>
          <a:xfrm>
            <a:off x="791580" y="5866975"/>
            <a:ext cx="7560840" cy="54006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rgbClr val="657B83"/>
                </a:solidFill>
                <a:latin typeface="Courier New" panose="02070309020205020404" pitchFamily="49" charset="0"/>
              </a:rPr>
              <a:t>&lt;</a:t>
            </a:r>
            <a:r>
              <a:rPr lang="fr-FR" sz="2000" dirty="0">
                <a:solidFill>
                  <a:srgbClr val="268BD2"/>
                </a:solidFill>
                <a:latin typeface="Courier New" panose="02070309020205020404" pitchFamily="49" charset="0"/>
              </a:rPr>
              <a:t>h1</a:t>
            </a:r>
            <a:r>
              <a:rPr lang="fr-FR" sz="2000" dirty="0">
                <a:solidFill>
                  <a:srgbClr val="657B83"/>
                </a:solidFill>
                <a:latin typeface="Courier New" panose="02070309020205020404" pitchFamily="49" charset="0"/>
              </a:rPr>
              <a:t>&gt;Bonjour {{ $nom }}&lt;/</a:t>
            </a:r>
            <a:r>
              <a:rPr lang="fr-FR" sz="2000" dirty="0">
                <a:solidFill>
                  <a:srgbClr val="268BD2"/>
                </a:solidFill>
                <a:latin typeface="Courier New" panose="02070309020205020404" pitchFamily="49" charset="0"/>
              </a:rPr>
              <a:t>h1</a:t>
            </a:r>
            <a:r>
              <a:rPr lang="fr-FR" sz="2000" dirty="0">
                <a:solidFill>
                  <a:srgbClr val="657B83"/>
                </a:solidFill>
                <a:latin typeface="Courier New" panose="02070309020205020404" pitchFamily="49" charset="0"/>
              </a:rPr>
              <a:t>&gt;</a:t>
            </a:r>
            <a:r>
              <a:rPr lang="en-US" sz="2000" dirty="0">
                <a:solidFill>
                  <a:srgbClr val="657B83"/>
                </a:solidFill>
                <a:latin typeface="Courier New" panose="02070309020205020404" pitchFamily="49" charset="0"/>
              </a:rPr>
              <a:t>            </a:t>
            </a:r>
          </a:p>
        </p:txBody>
      </p:sp>
    </p:spTree>
    <p:extLst>
      <p:ext uri="{BB962C8B-B14F-4D97-AF65-F5344CB8AC3E}">
        <p14:creationId xmlns:p14="http://schemas.microsoft.com/office/powerpoint/2010/main" val="3989129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2">
              <a:buFont typeface="Wingdings" panose="05000000000000000000" pitchFamily="2" charset="2"/>
              <a:buChar char="ü"/>
            </a:pPr>
            <a:r>
              <a:rPr lang="fr-FR" sz="2200" dirty="0">
                <a:solidFill>
                  <a:srgbClr val="00B0F0"/>
                </a:solidFill>
              </a:rPr>
              <a:t>Passer une variable à la vue(suite)</a:t>
            </a:r>
          </a:p>
          <a:p>
            <a:pPr marL="0" indent="0">
              <a:buNone/>
            </a:pPr>
            <a:r>
              <a:rPr lang="fr-FR" sz="2400" dirty="0">
                <a:latin typeface="Times New Roman" panose="02020603050405020304" pitchFamily="18" charset="0"/>
                <a:cs typeface="Times New Roman" panose="02020603050405020304" pitchFamily="18" charset="0"/>
              </a:rPr>
              <a:t>Nous avons 6 occurrences de « nom » et 3 concepts différents :</a:t>
            </a:r>
            <a:endParaRPr lang="fr-FR" sz="2400" dirty="0">
              <a:solidFill>
                <a:schemeClr val="accent6">
                  <a:lumMod val="75000"/>
                </a:schemeClr>
              </a:solidFill>
              <a:latin typeface="Times New Roman" panose="02020603050405020304" pitchFamily="18" charset="0"/>
              <a:cs typeface="Times New Roman" panose="02020603050405020304" pitchFamily="18" charset="0"/>
            </a:endParaRPr>
          </a:p>
          <a:p>
            <a:pPr lvl="2" indent="-342900">
              <a:buFont typeface="Wingdings" panose="05000000000000000000" pitchFamily="2" charset="2"/>
              <a:buChar char="§"/>
            </a:pPr>
            <a:r>
              <a:rPr lang="fr-FR" i="1" dirty="0">
                <a:latin typeface="Times New Roman" panose="02020603050405020304" pitchFamily="18" charset="0"/>
                <a:cs typeface="Times New Roman" panose="02020603050405020304" pitchFamily="18" charset="0"/>
              </a:rPr>
              <a:t>le nom du paramètre GET</a:t>
            </a:r>
          </a:p>
          <a:p>
            <a:pPr lvl="2" indent="-342900">
              <a:buFont typeface="Wingdings" panose="05000000000000000000" pitchFamily="2" charset="2"/>
              <a:buChar char="§"/>
            </a:pPr>
            <a:r>
              <a:rPr lang="fr-FR" i="1" dirty="0">
                <a:latin typeface="Times New Roman" panose="02020603050405020304" pitchFamily="18" charset="0"/>
                <a:cs typeface="Times New Roman" panose="02020603050405020304" pitchFamily="18" charset="0"/>
              </a:rPr>
              <a:t>le nom de la variable dans notre fonction anonyme</a:t>
            </a:r>
          </a:p>
          <a:p>
            <a:pPr lvl="2" indent="-342900">
              <a:buFont typeface="Wingdings" panose="05000000000000000000" pitchFamily="2" charset="2"/>
              <a:buChar char="§"/>
            </a:pPr>
            <a:r>
              <a:rPr lang="fr-FR" i="1" dirty="0">
                <a:latin typeface="Times New Roman" panose="02020603050405020304" pitchFamily="18" charset="0"/>
                <a:cs typeface="Times New Roman" panose="02020603050405020304" pitchFamily="18" charset="0"/>
              </a:rPr>
              <a:t>le nom de la variable dans notre vue</a:t>
            </a:r>
          </a:p>
          <a:p>
            <a:pPr marL="400050" lvl="1" indent="0">
              <a:buNone/>
            </a:pPr>
            <a:r>
              <a:rPr lang="fr-FR" sz="2400" dirty="0">
                <a:latin typeface="Times New Roman" panose="02020603050405020304" pitchFamily="18" charset="0"/>
                <a:cs typeface="Times New Roman" panose="02020603050405020304" pitchFamily="18" charset="0"/>
              </a:rPr>
              <a:t>Pour rendre le fonctionnement plus clair, nous pouvons renommer ces concepts </a:t>
            </a: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pPr marL="457200" lvl="1" indent="0">
              <a:buNone/>
            </a:pPr>
            <a:endParaRPr lang="fr-FR" dirty="0"/>
          </a:p>
        </p:txBody>
      </p:sp>
    </p:spTree>
    <p:extLst>
      <p:ext uri="{BB962C8B-B14F-4D97-AF65-F5344CB8AC3E}">
        <p14:creationId xmlns:p14="http://schemas.microsoft.com/office/powerpoint/2010/main" val="1262083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2">
              <a:buFont typeface="Wingdings" panose="05000000000000000000" pitchFamily="2" charset="2"/>
              <a:buChar char="ü"/>
            </a:pPr>
            <a:r>
              <a:rPr lang="fr-FR" sz="2200" dirty="0">
                <a:solidFill>
                  <a:srgbClr val="00B0F0"/>
                </a:solidFill>
              </a:rPr>
              <a:t>Passer une variable à la vue(fin)</a:t>
            </a:r>
            <a:r>
              <a:rPr lang="fr-FR" dirty="0"/>
              <a:t>  </a:t>
            </a:r>
          </a:p>
        </p:txBody>
      </p:sp>
      <p:sp>
        <p:nvSpPr>
          <p:cNvPr id="5" name="Rectangle : coins arrondis 4">
            <a:extLst>
              <a:ext uri="{FF2B5EF4-FFF2-40B4-BE49-F238E27FC236}">
                <a16:creationId xmlns:a16="http://schemas.microsoft.com/office/drawing/2014/main" id="{F5B74FF8-CA29-4C4A-8FBC-C1E016D556C0}"/>
              </a:ext>
            </a:extLst>
          </p:cNvPr>
          <p:cNvSpPr/>
          <p:nvPr/>
        </p:nvSpPr>
        <p:spPr>
          <a:xfrm>
            <a:off x="539552" y="2996952"/>
            <a:ext cx="8064896" cy="280831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solidFill>
                  <a:srgbClr val="657B83"/>
                </a:solidFill>
                <a:latin typeface="Courier New" panose="02070309020205020404" pitchFamily="49" charset="0"/>
              </a:rPr>
              <a:t>Route::</a:t>
            </a:r>
            <a:r>
              <a:rPr lang="fr-FR" dirty="0" err="1">
                <a:solidFill>
                  <a:srgbClr val="657B83"/>
                </a:solidFill>
                <a:latin typeface="Courier New" panose="02070309020205020404" pitchFamily="49" charset="0"/>
              </a:rPr>
              <a:t>get</a:t>
            </a:r>
            <a:r>
              <a:rPr lang="fr-FR" dirty="0">
                <a:solidFill>
                  <a:srgbClr val="657B83"/>
                </a:solidFill>
                <a:latin typeface="Courier New" panose="02070309020205020404" pitchFamily="49" charset="0"/>
              </a:rPr>
              <a:t>(</a:t>
            </a:r>
            <a:r>
              <a:rPr lang="fr-FR" dirty="0">
                <a:solidFill>
                  <a:srgbClr val="2AA198"/>
                </a:solidFill>
                <a:latin typeface="Courier New" panose="02070309020205020404" pitchFamily="49" charset="0"/>
              </a:rPr>
              <a:t>'/bonjour/{</a:t>
            </a:r>
            <a:r>
              <a:rPr lang="fr-FR" dirty="0" err="1">
                <a:solidFill>
                  <a:srgbClr val="2AA198"/>
                </a:solidFill>
                <a:latin typeface="Courier New" panose="02070309020205020404" pitchFamily="49" charset="0"/>
              </a:rPr>
              <a:t>nom_du_parametre_get</a:t>
            </a:r>
            <a:r>
              <a:rPr lang="fr-FR" dirty="0">
                <a:solidFill>
                  <a:srgbClr val="2AA198"/>
                </a:solidFill>
                <a:latin typeface="Courier New" panose="02070309020205020404" pitchFamily="49" charset="0"/>
              </a:rPr>
              <a:t>}'</a:t>
            </a:r>
            <a:r>
              <a:rPr lang="fr-FR" dirty="0">
                <a:solidFill>
                  <a:srgbClr val="657B83"/>
                </a:solidFill>
                <a:latin typeface="Courier New" panose="02070309020205020404" pitchFamily="49" charset="0"/>
              </a:rPr>
              <a:t>,</a:t>
            </a:r>
            <a:r>
              <a:rPr lang="fr-FR" dirty="0" err="1">
                <a:solidFill>
                  <a:srgbClr val="859900"/>
                </a:solidFill>
                <a:latin typeface="Courier New" panose="02070309020205020404" pitchFamily="49" charset="0"/>
              </a:rPr>
              <a:t>function</a:t>
            </a:r>
            <a:r>
              <a:rPr lang="fr-FR" dirty="0">
                <a:solidFill>
                  <a:srgbClr val="657B83"/>
                </a:solidFill>
                <a:latin typeface="Courier New" panose="02070309020205020404" pitchFamily="49" charset="0"/>
              </a:rPr>
              <a:t>(){ </a:t>
            </a:r>
          </a:p>
          <a:p>
            <a:r>
              <a:rPr lang="fr-FR" dirty="0">
                <a:solidFill>
                  <a:srgbClr val="657B83"/>
                </a:solidFill>
                <a:latin typeface="Courier New" panose="02070309020205020404" pitchFamily="49" charset="0"/>
              </a:rPr>
              <a:t>      $</a:t>
            </a:r>
            <a:r>
              <a:rPr lang="fr-FR" dirty="0" err="1">
                <a:solidFill>
                  <a:srgbClr val="657B83"/>
                </a:solidFill>
                <a:latin typeface="Courier New" panose="02070309020205020404" pitchFamily="49" charset="0"/>
              </a:rPr>
              <a:t>nom_dans_la_fonction_anonyme</a:t>
            </a:r>
            <a:r>
              <a:rPr lang="fr-FR" dirty="0">
                <a:solidFill>
                  <a:srgbClr val="657B83"/>
                </a:solidFill>
                <a:latin typeface="Courier New" panose="02070309020205020404" pitchFamily="49" charset="0"/>
              </a:rPr>
              <a:t> =   	</a:t>
            </a:r>
            <a:r>
              <a:rPr lang="fr-FR" dirty="0" err="1">
                <a:solidFill>
                  <a:srgbClr val="657B83"/>
                </a:solidFill>
                <a:latin typeface="Courier New" panose="02070309020205020404" pitchFamily="49" charset="0"/>
              </a:rPr>
              <a:t>request</a:t>
            </a:r>
            <a:r>
              <a:rPr lang="fr-FR" dirty="0">
                <a:solidFill>
                  <a:srgbClr val="657B83"/>
                </a:solidFill>
                <a:latin typeface="Courier New" panose="02070309020205020404" pitchFamily="49" charset="0"/>
              </a:rPr>
              <a:t>(</a:t>
            </a:r>
            <a:r>
              <a:rPr lang="fr-FR" dirty="0">
                <a:solidFill>
                  <a:srgbClr val="2AA198"/>
                </a:solidFill>
                <a:latin typeface="Courier New" panose="02070309020205020404" pitchFamily="49" charset="0"/>
              </a:rPr>
              <a:t>'</a:t>
            </a:r>
            <a:r>
              <a:rPr lang="fr-FR" dirty="0" err="1">
                <a:solidFill>
                  <a:srgbClr val="2AA198"/>
                </a:solidFill>
                <a:latin typeface="Courier New" panose="02070309020205020404" pitchFamily="49" charset="0"/>
              </a:rPr>
              <a:t>nom_du_parametre_get</a:t>
            </a:r>
            <a:r>
              <a:rPr lang="fr-FR" dirty="0">
                <a:solidFill>
                  <a:srgbClr val="2AA198"/>
                </a:solidFill>
                <a:latin typeface="Courier New" panose="02070309020205020404" pitchFamily="49" charset="0"/>
              </a:rPr>
              <a:t>’</a:t>
            </a:r>
            <a:r>
              <a:rPr lang="fr-FR" dirty="0">
                <a:solidFill>
                  <a:srgbClr val="657B83"/>
                </a:solidFill>
                <a:latin typeface="Courier New" panose="02070309020205020404" pitchFamily="49" charset="0"/>
              </a:rPr>
              <a:t>); </a:t>
            </a:r>
          </a:p>
          <a:p>
            <a:r>
              <a:rPr lang="fr-FR" dirty="0">
                <a:solidFill>
                  <a:srgbClr val="859900"/>
                </a:solidFill>
                <a:latin typeface="Courier New" panose="02070309020205020404" pitchFamily="49" charset="0"/>
              </a:rPr>
              <a:t>   return</a:t>
            </a:r>
            <a:r>
              <a:rPr lang="fr-FR" dirty="0">
                <a:solidFill>
                  <a:srgbClr val="657B83"/>
                </a:solidFill>
                <a:latin typeface="Courier New" panose="02070309020205020404" pitchFamily="49" charset="0"/>
              </a:rPr>
              <a:t> </a:t>
            </a:r>
            <a:r>
              <a:rPr lang="fr-FR" dirty="0" err="1">
                <a:solidFill>
                  <a:srgbClr val="657B83"/>
                </a:solidFill>
                <a:latin typeface="Courier New" panose="02070309020205020404" pitchFamily="49" charset="0"/>
              </a:rPr>
              <a:t>view</a:t>
            </a:r>
            <a:r>
              <a:rPr lang="fr-FR" dirty="0">
                <a:solidFill>
                  <a:srgbClr val="657B83"/>
                </a:solidFill>
                <a:latin typeface="Courier New" panose="02070309020205020404" pitchFamily="49" charset="0"/>
              </a:rPr>
              <a:t>(</a:t>
            </a:r>
            <a:r>
              <a:rPr lang="fr-FR" dirty="0">
                <a:solidFill>
                  <a:srgbClr val="2AA198"/>
                </a:solidFill>
                <a:latin typeface="Courier New" panose="02070309020205020404" pitchFamily="49" charset="0"/>
              </a:rPr>
              <a:t>'bonjour'</a:t>
            </a:r>
            <a:r>
              <a:rPr lang="fr-FR" dirty="0">
                <a:solidFill>
                  <a:srgbClr val="657B83"/>
                </a:solidFill>
                <a:latin typeface="Courier New" panose="02070309020205020404" pitchFamily="49" charset="0"/>
              </a:rPr>
              <a:t>, [ </a:t>
            </a:r>
          </a:p>
          <a:p>
            <a:r>
              <a:rPr lang="fr-FR" dirty="0">
                <a:solidFill>
                  <a:srgbClr val="2AA198"/>
                </a:solidFill>
                <a:latin typeface="Courier New" panose="02070309020205020404" pitchFamily="49" charset="0"/>
              </a:rPr>
              <a:t>              '</a:t>
            </a:r>
            <a:r>
              <a:rPr lang="fr-FR" dirty="0" err="1">
                <a:solidFill>
                  <a:srgbClr val="2AA198"/>
                </a:solidFill>
                <a:latin typeface="Courier New" panose="02070309020205020404" pitchFamily="49" charset="0"/>
              </a:rPr>
              <a:t>nom_dans_la_vue</a:t>
            </a:r>
            <a:r>
              <a:rPr lang="fr-FR" dirty="0">
                <a:solidFill>
                  <a:srgbClr val="2AA198"/>
                </a:solidFill>
                <a:latin typeface="Courier New" panose="02070309020205020404" pitchFamily="49" charset="0"/>
              </a:rPr>
              <a:t>’</a:t>
            </a:r>
            <a:r>
              <a:rPr lang="fr-FR" dirty="0">
                <a:solidFill>
                  <a:srgbClr val="657B83"/>
                </a:solidFill>
                <a:latin typeface="Courier New" panose="02070309020205020404" pitchFamily="49" charset="0"/>
              </a:rPr>
              <a:t> =&gt;   			$</a:t>
            </a:r>
            <a:r>
              <a:rPr lang="fr-FR" dirty="0" err="1">
                <a:solidFill>
                  <a:srgbClr val="657B83"/>
                </a:solidFill>
                <a:latin typeface="Courier New" panose="02070309020205020404" pitchFamily="49" charset="0"/>
              </a:rPr>
              <a:t>nom_dans_la_fonction_anonyme</a:t>
            </a:r>
            <a:r>
              <a:rPr lang="fr-FR" dirty="0">
                <a:solidFill>
                  <a:srgbClr val="657B83"/>
                </a:solidFill>
                <a:latin typeface="Courier New" panose="02070309020205020404" pitchFamily="49" charset="0"/>
              </a:rPr>
              <a:t>, </a:t>
            </a:r>
          </a:p>
          <a:p>
            <a:r>
              <a:rPr lang="fr-FR" dirty="0">
                <a:solidFill>
                  <a:srgbClr val="657B83"/>
                </a:solidFill>
                <a:latin typeface="Courier New" panose="02070309020205020404" pitchFamily="49" charset="0"/>
              </a:rPr>
              <a:t>   ]); </a:t>
            </a:r>
          </a:p>
          <a:p>
            <a:r>
              <a:rPr lang="fr-FR" dirty="0">
                <a:solidFill>
                  <a:srgbClr val="657B83"/>
                </a:solidFill>
                <a:latin typeface="Courier New" panose="02070309020205020404" pitchFamily="49" charset="0"/>
              </a:rPr>
              <a:t>});</a:t>
            </a:r>
            <a:endParaRPr lang="fr-FR"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491D3CCB-6E55-4232-BE59-EC5DC23781DE}"/>
              </a:ext>
            </a:extLst>
          </p:cNvPr>
          <p:cNvSpPr/>
          <p:nvPr/>
        </p:nvSpPr>
        <p:spPr>
          <a:xfrm>
            <a:off x="539552" y="5866975"/>
            <a:ext cx="8064896" cy="54006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rgbClr val="657B83"/>
                </a:solidFill>
                <a:latin typeface="Courier New" panose="02070309020205020404" pitchFamily="49" charset="0"/>
              </a:rPr>
              <a:t>&lt;</a:t>
            </a:r>
            <a:r>
              <a:rPr lang="fr-FR" sz="2000" dirty="0">
                <a:solidFill>
                  <a:srgbClr val="268BD2"/>
                </a:solidFill>
                <a:latin typeface="Courier New" panose="02070309020205020404" pitchFamily="49" charset="0"/>
              </a:rPr>
              <a:t>h1</a:t>
            </a:r>
            <a:r>
              <a:rPr lang="fr-FR" sz="2000" dirty="0">
                <a:solidFill>
                  <a:srgbClr val="657B83"/>
                </a:solidFill>
                <a:latin typeface="Courier New" panose="02070309020205020404" pitchFamily="49" charset="0"/>
              </a:rPr>
              <a:t>&gt;Bonjour {{ $</a:t>
            </a:r>
            <a:r>
              <a:rPr lang="fr-FR" sz="2000" dirty="0" err="1">
                <a:solidFill>
                  <a:srgbClr val="657B83"/>
                </a:solidFill>
                <a:latin typeface="Courier New" panose="02070309020205020404" pitchFamily="49" charset="0"/>
              </a:rPr>
              <a:t>nom_dans_la_vue</a:t>
            </a:r>
            <a:r>
              <a:rPr lang="fr-FR" sz="2000" dirty="0">
                <a:solidFill>
                  <a:srgbClr val="657B83"/>
                </a:solidFill>
                <a:latin typeface="Courier New" panose="02070309020205020404" pitchFamily="49" charset="0"/>
              </a:rPr>
              <a:t> }}&lt;/</a:t>
            </a:r>
            <a:r>
              <a:rPr lang="fr-FR" sz="2000" dirty="0">
                <a:solidFill>
                  <a:srgbClr val="268BD2"/>
                </a:solidFill>
                <a:latin typeface="Courier New" panose="02070309020205020404" pitchFamily="49" charset="0"/>
              </a:rPr>
              <a:t>h1</a:t>
            </a:r>
            <a:r>
              <a:rPr lang="fr-FR" sz="2000" dirty="0">
                <a:solidFill>
                  <a:srgbClr val="657B83"/>
                </a:solidFill>
                <a:latin typeface="Courier New" panose="02070309020205020404" pitchFamily="49" charset="0"/>
              </a:rPr>
              <a:t>&gt;</a:t>
            </a:r>
            <a:endParaRPr lang="en-US" sz="2000" dirty="0">
              <a:solidFill>
                <a:srgbClr val="657B83"/>
              </a:solidFill>
              <a:latin typeface="Courier New" panose="02070309020205020404" pitchFamily="49" charset="0"/>
            </a:endParaRPr>
          </a:p>
        </p:txBody>
      </p:sp>
    </p:spTree>
    <p:extLst>
      <p:ext uri="{BB962C8B-B14F-4D97-AF65-F5344CB8AC3E}">
        <p14:creationId xmlns:p14="http://schemas.microsoft.com/office/powerpoint/2010/main" val="3066306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2">
              <a:buFont typeface="Wingdings" panose="05000000000000000000" pitchFamily="2" charset="2"/>
              <a:buChar char="ü"/>
            </a:pPr>
            <a:r>
              <a:rPr lang="fr-FR" sz="2200" dirty="0">
                <a:solidFill>
                  <a:srgbClr val="00B0F0"/>
                </a:solidFill>
              </a:rPr>
              <a:t>Optimisation des vues</a:t>
            </a:r>
            <a:endParaRPr lang="fr-FR" sz="2200" b="1" i="1" dirty="0">
              <a:solidFill>
                <a:schemeClr val="tx1"/>
              </a:solidFill>
            </a:endParaRPr>
          </a:p>
          <a:p>
            <a:pPr marL="400050" lvl="1" indent="0">
              <a:buNone/>
            </a:pPr>
            <a:r>
              <a:rPr lang="fr-FR" sz="2000" dirty="0">
                <a:latin typeface="Times New Roman" panose="02020603050405020304" pitchFamily="18" charset="0"/>
                <a:cs typeface="Times New Roman" panose="02020603050405020304" pitchFamily="18" charset="0"/>
              </a:rPr>
              <a:t>Les vues générées par Blade sont en PHP et sont en cache jusqu’à ce qu’elles soient modifiées, ce qui assure de bonnes performances. Le cache se situe ici : </a:t>
            </a:r>
            <a:r>
              <a:rPr lang="fr-FR" sz="2000" b="1" i="1" dirty="0">
                <a:latin typeface="Times New Roman" panose="02020603050405020304" pitchFamily="18" charset="0"/>
                <a:cs typeface="Times New Roman" panose="02020603050405020304" pitchFamily="18" charset="0"/>
              </a:rPr>
              <a:t>storage/framework/views</a:t>
            </a:r>
          </a:p>
          <a:p>
            <a:pPr marL="400050" lvl="1" indent="0">
              <a:buNone/>
            </a:pPr>
            <a:r>
              <a:rPr lang="fr-FR" sz="2000" dirty="0">
                <a:latin typeface="Times New Roman" panose="02020603050405020304" pitchFamily="18" charset="0"/>
                <a:cs typeface="Times New Roman" panose="02020603050405020304" pitchFamily="18" charset="0"/>
              </a:rPr>
              <a:t>la commande Artisan pour nettoyer ou vider le cache :</a:t>
            </a:r>
          </a:p>
          <a:p>
            <a:pPr marL="400050" lvl="1" indent="0">
              <a:buNone/>
            </a:pPr>
            <a:r>
              <a:rPr lang="fr-FR" sz="2000" b="1" dirty="0">
                <a:solidFill>
                  <a:schemeClr val="accent6"/>
                </a:solidFill>
                <a:latin typeface="Times New Roman" panose="02020603050405020304" pitchFamily="18" charset="0"/>
                <a:cs typeface="Times New Roman" panose="02020603050405020304" pitchFamily="18" charset="0"/>
              </a:rPr>
              <a:t>	</a:t>
            </a:r>
          </a:p>
          <a:p>
            <a:pPr marL="400050" lvl="1" indent="0">
              <a:buNone/>
            </a:pPr>
            <a:endParaRPr lang="fr-FR" sz="2000" b="1" dirty="0">
              <a:solidFill>
                <a:schemeClr val="accent6"/>
              </a:solidFill>
              <a:latin typeface="Times New Roman" panose="02020603050405020304" pitchFamily="18" charset="0"/>
              <a:cs typeface="Times New Roman" panose="02020603050405020304" pitchFamily="18" charset="0"/>
            </a:endParaRPr>
          </a:p>
          <a:p>
            <a:pPr marL="400050" lvl="1" indent="0">
              <a:buNone/>
            </a:pPr>
            <a:r>
              <a:rPr lang="fr-FR" sz="2000" dirty="0">
                <a:latin typeface="Times New Roman" panose="02020603050405020304" pitchFamily="18" charset="0"/>
                <a:cs typeface="Times New Roman" panose="02020603050405020304" pitchFamily="18" charset="0"/>
              </a:rPr>
              <a:t>On en a besoin parfois en cours de développement lorsqu’une vue n’est pas régénérée correctement.</a:t>
            </a:r>
          </a:p>
          <a:p>
            <a:pPr marL="400050" lvl="1" indent="0">
              <a:buNone/>
            </a:pPr>
            <a:r>
              <a:rPr lang="fr-FR" sz="2000" dirty="0">
                <a:latin typeface="Times New Roman" panose="02020603050405020304" pitchFamily="18" charset="0"/>
                <a:cs typeface="Times New Roman" panose="02020603050405020304" pitchFamily="18" charset="0"/>
              </a:rPr>
              <a:t>la commande Artisan pour précompiler toutes les vues utilisées par votre application</a:t>
            </a:r>
            <a:r>
              <a:rPr lang="fr-FR" sz="2000" b="1" dirty="0">
                <a:solidFill>
                  <a:schemeClr val="accent6"/>
                </a:solidFill>
                <a:latin typeface="Times New Roman" panose="02020603050405020304" pitchFamily="18" charset="0"/>
                <a:cs typeface="Times New Roman" panose="02020603050405020304" pitchFamily="18" charset="0"/>
              </a:rPr>
              <a:t>	</a:t>
            </a:r>
          </a:p>
          <a:p>
            <a:pPr marL="400050" lvl="1" indent="0">
              <a:buNone/>
            </a:pPr>
            <a:r>
              <a:rPr lang="fr-FR" sz="2000" b="1" dirty="0">
                <a:solidFill>
                  <a:schemeClr val="accent6"/>
                </a:solidFill>
                <a:latin typeface="Times New Roman" panose="02020603050405020304" pitchFamily="18" charset="0"/>
                <a:cs typeface="Times New Roman" panose="02020603050405020304" pitchFamily="18" charset="0"/>
              </a:rPr>
              <a:t>	</a:t>
            </a:r>
          </a:p>
          <a:p>
            <a:pPr marL="400050" lvl="1" indent="0">
              <a:buNone/>
            </a:pPr>
            <a:endParaRPr lang="fr-FR" sz="2200" dirty="0">
              <a:solidFill>
                <a:srgbClr val="00B0F0"/>
              </a:solidFill>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5" name="Rectangle : coins arrondis 4">
            <a:extLst>
              <a:ext uri="{FF2B5EF4-FFF2-40B4-BE49-F238E27FC236}">
                <a16:creationId xmlns:a16="http://schemas.microsoft.com/office/drawing/2014/main" id="{FA41EA9B-9082-4BED-81F9-9D4E685D790F}"/>
              </a:ext>
            </a:extLst>
          </p:cNvPr>
          <p:cNvSpPr/>
          <p:nvPr/>
        </p:nvSpPr>
        <p:spPr>
          <a:xfrm>
            <a:off x="2555776" y="4077072"/>
            <a:ext cx="4608512" cy="54006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lumMod val="75000"/>
                  </a:schemeClr>
                </a:solidFill>
                <a:latin typeface="Times New Roman" panose="02020603050405020304" pitchFamily="18" charset="0"/>
                <a:cs typeface="Times New Roman" panose="02020603050405020304" pitchFamily="18" charset="0"/>
              </a:rPr>
              <a:t>php artisan view:clear</a:t>
            </a:r>
            <a:endParaRPr lang="fr-FR" sz="24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04B62C57-27EC-431F-8C1E-B0B0FFB5B95B}"/>
              </a:ext>
            </a:extLst>
          </p:cNvPr>
          <p:cNvSpPr/>
          <p:nvPr/>
        </p:nvSpPr>
        <p:spPr>
          <a:xfrm>
            <a:off x="2437979" y="5757548"/>
            <a:ext cx="4608512" cy="54006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lumMod val="75000"/>
                  </a:schemeClr>
                </a:solidFill>
                <a:latin typeface="Times New Roman" panose="02020603050405020304" pitchFamily="18" charset="0"/>
                <a:cs typeface="Times New Roman" panose="02020603050405020304" pitchFamily="18" charset="0"/>
              </a:rPr>
              <a:t>php artisan view:cache</a:t>
            </a:r>
            <a:endParaRPr lang="fr-FR" sz="2400"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7870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1">
              <a:buFont typeface="Wingdings" panose="05000000000000000000" pitchFamily="2" charset="2"/>
              <a:buChar char="ü"/>
            </a:pPr>
            <a:r>
              <a:rPr lang="fr-FR" sz="2000" dirty="0">
                <a:solidFill>
                  <a:srgbClr val="00B0F0"/>
                </a:solidFill>
              </a:rPr>
              <a:t>L’héritage</a:t>
            </a:r>
            <a:endParaRPr lang="fr-FR" sz="2000" b="1" i="1" dirty="0">
              <a:solidFill>
                <a:schemeClr val="tx1"/>
              </a:solidFill>
            </a:endParaRPr>
          </a:p>
          <a:p>
            <a:pPr marL="0" indent="0">
              <a:buNone/>
            </a:pPr>
            <a:r>
              <a:rPr lang="fr-FR" sz="2000" dirty="0">
                <a:latin typeface="Times New Roman" panose="02020603050405020304" pitchFamily="18" charset="0"/>
                <a:cs typeface="Times New Roman" panose="02020603050405020304" pitchFamily="18" charset="0"/>
              </a:rPr>
              <a:t>Une vue peut en étendre une autre, c’est un </a:t>
            </a:r>
            <a:r>
              <a:rPr lang="fr-FR" sz="2000" b="1" dirty="0">
                <a:latin typeface="Times New Roman" panose="02020603050405020304" pitchFamily="18" charset="0"/>
                <a:cs typeface="Times New Roman" panose="02020603050405020304" pitchFamily="18" charset="0"/>
              </a:rPr>
              <a:t>héritage</a:t>
            </a:r>
            <a:r>
              <a:rPr lang="fr-FR" sz="2000" dirty="0">
                <a:latin typeface="Times New Roman" panose="02020603050405020304" pitchFamily="18" charset="0"/>
                <a:cs typeface="Times New Roman" panose="02020603050405020304" pitchFamily="18" charset="0"/>
              </a:rPr>
              <a:t>. Ainsi pour les vues de l’application, on a un </a:t>
            </a:r>
            <a:r>
              <a:rPr lang="fr-FR" sz="2000" b="1" dirty="0">
                <a:latin typeface="Times New Roman" panose="02020603050405020304" pitchFamily="18" charset="0"/>
                <a:cs typeface="Times New Roman" panose="02020603050405020304" pitchFamily="18" charset="0"/>
              </a:rPr>
              <a:t>template</a:t>
            </a:r>
            <a:r>
              <a:rPr lang="fr-FR" sz="2000" dirty="0">
                <a:latin typeface="Times New Roman" panose="02020603050405020304" pitchFamily="18" charset="0"/>
                <a:cs typeface="Times New Roman" panose="02020603050405020304" pitchFamily="18" charset="0"/>
              </a:rPr>
              <a:t> de base :</a:t>
            </a:r>
          </a:p>
          <a:p>
            <a:pPr marL="0" indent="0">
              <a:buNone/>
            </a:pPr>
            <a:r>
              <a:rPr lang="fr-FR" sz="2000" dirty="0">
                <a:latin typeface="Times New Roman" panose="02020603050405020304" pitchFamily="18" charset="0"/>
                <a:cs typeface="Times New Roman" panose="02020603050405020304" pitchFamily="18" charset="0"/>
              </a:rPr>
              <a:t>Ce template comporte la structure globale des pages et est déclaré comme parent par les autres vues :	</a:t>
            </a:r>
            <a:endParaRPr lang="fr-FR" sz="2000" b="1" dirty="0">
              <a:solidFill>
                <a:schemeClr val="accent6"/>
              </a:solidFill>
              <a:latin typeface="Times New Roman" panose="02020603050405020304" pitchFamily="18" charset="0"/>
              <a:cs typeface="Times New Roman" panose="02020603050405020304" pitchFamily="18" charset="0"/>
            </a:endParaRPr>
          </a:p>
          <a:p>
            <a:pPr marL="0" indent="0">
              <a:buNone/>
            </a:pPr>
            <a:r>
              <a:rPr lang="fr-FR" sz="2000" dirty="0">
                <a:latin typeface="Times New Roman" panose="02020603050405020304" pitchFamily="18" charset="0"/>
                <a:cs typeface="Times New Roman" panose="02020603050405020304" pitchFamily="18" charset="0"/>
              </a:rPr>
              <a:t>Dans le template on prévoit un emplacement </a:t>
            </a:r>
            <a:r>
              <a:rPr lang="fr-FR" sz="2000" dirty="0">
                <a:solidFill>
                  <a:srgbClr val="7030A0"/>
                </a:solidFill>
                <a:latin typeface="Times New Roman" panose="02020603050405020304" pitchFamily="18" charset="0"/>
                <a:cs typeface="Times New Roman" panose="02020603050405020304" pitchFamily="18" charset="0"/>
              </a:rPr>
              <a:t>(@</a:t>
            </a:r>
            <a:r>
              <a:rPr lang="fr-FR" sz="2000" dirty="0" err="1">
                <a:solidFill>
                  <a:srgbClr val="7030A0"/>
                </a:solidFill>
                <a:latin typeface="Times New Roman" panose="02020603050405020304" pitchFamily="18" charset="0"/>
                <a:cs typeface="Times New Roman" panose="02020603050405020304" pitchFamily="18" charset="0"/>
              </a:rPr>
              <a:t>yield</a:t>
            </a:r>
            <a:r>
              <a:rPr lang="fr-FR" sz="2000" dirty="0">
                <a:latin typeface="Times New Roman" panose="02020603050405020304" pitchFamily="18" charset="0"/>
                <a:cs typeface="Times New Roman" panose="02020603050405020304" pitchFamily="18" charset="0"/>
              </a:rPr>
              <a:t>) pour que les vues enfants puissent placer leur code :</a:t>
            </a:r>
            <a:r>
              <a:rPr lang="fr-FR" sz="2000" b="1" dirty="0">
                <a:solidFill>
                  <a:schemeClr val="accent6"/>
                </a:solidFill>
                <a:latin typeface="Times New Roman" panose="02020603050405020304" pitchFamily="18" charset="0"/>
                <a:cs typeface="Times New Roman" panose="02020603050405020304" pitchFamily="18" charset="0"/>
              </a:rPr>
              <a:t>	</a:t>
            </a:r>
          </a:p>
          <a:p>
            <a:pPr marL="0" indent="0">
              <a:buNone/>
            </a:pPr>
            <a:r>
              <a:rPr lang="fr-FR" sz="2000" dirty="0">
                <a:latin typeface="Times New Roman" panose="02020603050405020304" pitchFamily="18" charset="0"/>
                <a:cs typeface="Times New Roman" panose="02020603050405020304" pitchFamily="18" charset="0"/>
              </a:rPr>
              <a:t>Ainsi dans la vue </a:t>
            </a:r>
            <a:r>
              <a:rPr lang="fr-FR" sz="2000" b="1" dirty="0" err="1">
                <a:latin typeface="Times New Roman" panose="02020603050405020304" pitchFamily="18" charset="0"/>
                <a:cs typeface="Times New Roman" panose="02020603050405020304" pitchFamily="18" charset="0"/>
              </a:rPr>
              <a:t>index.blade.php</a:t>
            </a:r>
            <a:r>
              <a:rPr lang="fr-FR" sz="2000" b="1" dirty="0">
                <a:latin typeface="Times New Roman" panose="02020603050405020304" pitchFamily="18" charset="0"/>
                <a:cs typeface="Times New Roman" panose="02020603050405020304" pitchFamily="18" charset="0"/>
              </a:rPr>
              <a:t> </a:t>
            </a:r>
          </a:p>
          <a:p>
            <a:pPr marL="0" indent="0">
              <a:buNone/>
            </a:pPr>
            <a:r>
              <a:rPr lang="fr-FR" sz="2000" dirty="0">
                <a:latin typeface="Times New Roman" panose="02020603050405020304" pitchFamily="18" charset="0"/>
                <a:cs typeface="Times New Roman" panose="02020603050405020304" pitchFamily="18" charset="0"/>
              </a:rPr>
              <a:t>on utilise cet emplacement :</a:t>
            </a: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5" name="Rectangle : coins arrondis 4">
            <a:extLst>
              <a:ext uri="{FF2B5EF4-FFF2-40B4-BE49-F238E27FC236}">
                <a16:creationId xmlns:a16="http://schemas.microsoft.com/office/drawing/2014/main" id="{FA41EA9B-9082-4BED-81F9-9D4E685D790F}"/>
              </a:ext>
            </a:extLst>
          </p:cNvPr>
          <p:cNvSpPr/>
          <p:nvPr/>
        </p:nvSpPr>
        <p:spPr>
          <a:xfrm>
            <a:off x="6300192" y="3897052"/>
            <a:ext cx="2232248" cy="43204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latin typeface="Times New Roman" panose="02020603050405020304" pitchFamily="18" charset="0"/>
                <a:cs typeface="Times New Roman" panose="02020603050405020304" pitchFamily="18" charset="0"/>
              </a:rPr>
              <a:t>@extends</a:t>
            </a:r>
            <a:r>
              <a:rPr lang="en-US" dirty="0">
                <a:solidFill>
                  <a:schemeClr val="accent6">
                    <a:lumMod val="75000"/>
                  </a:schemeClr>
                </a:solidFill>
                <a:latin typeface="Times New Roman" panose="02020603050405020304" pitchFamily="18" charset="0"/>
                <a:cs typeface="Times New Roman" panose="02020603050405020304" pitchFamily="18" charset="0"/>
              </a:rPr>
              <a:t>(</a:t>
            </a:r>
            <a:r>
              <a:rPr lang="en-US" dirty="0">
                <a:solidFill>
                  <a:srgbClr val="00B050"/>
                </a:solidFill>
                <a:latin typeface="Times New Roman" panose="02020603050405020304" pitchFamily="18" charset="0"/>
                <a:cs typeface="Times New Roman" panose="02020603050405020304" pitchFamily="18" charset="0"/>
              </a:rPr>
              <a:t>'template</a:t>
            </a:r>
            <a:r>
              <a:rPr lang="en-US" dirty="0">
                <a:solidFill>
                  <a:schemeClr val="accent6">
                    <a:lumMod val="75000"/>
                  </a:schemeClr>
                </a:solidFill>
                <a:latin typeface="Times New Roman" panose="02020603050405020304" pitchFamily="18" charset="0"/>
                <a:cs typeface="Times New Roman" panose="02020603050405020304" pitchFamily="18" charset="0"/>
              </a:rPr>
              <a:t>')</a:t>
            </a:r>
            <a:endParaRPr lang="fr-FR"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04B62C57-27EC-431F-8C1E-B0B0FFB5B95B}"/>
              </a:ext>
            </a:extLst>
          </p:cNvPr>
          <p:cNvSpPr/>
          <p:nvPr/>
        </p:nvSpPr>
        <p:spPr>
          <a:xfrm>
            <a:off x="5436096" y="4693168"/>
            <a:ext cx="3096344" cy="126754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rgbClr val="35434C"/>
                </a:solidFill>
                <a:latin typeface="inherit"/>
              </a:rPr>
              <a:t>&lt;</a:t>
            </a:r>
            <a:r>
              <a:rPr lang="en-US" sz="1400" b="1" dirty="0">
                <a:solidFill>
                  <a:srgbClr val="085789"/>
                </a:solidFill>
                <a:latin typeface="inherit"/>
              </a:rPr>
              <a:t>main</a:t>
            </a:r>
            <a:r>
              <a:rPr lang="en-US" sz="1400" dirty="0">
                <a:solidFill>
                  <a:srgbClr val="2B333A"/>
                </a:solidFill>
                <a:latin typeface="inherit"/>
              </a:rPr>
              <a:t> </a:t>
            </a:r>
            <a:r>
              <a:rPr lang="en-US" sz="1400" dirty="0">
                <a:solidFill>
                  <a:srgbClr val="4284AE"/>
                </a:solidFill>
                <a:latin typeface="inherit"/>
              </a:rPr>
              <a:t>class=</a:t>
            </a:r>
            <a:r>
              <a:rPr lang="en-US" sz="1400" dirty="0">
                <a:solidFill>
                  <a:srgbClr val="5E860F"/>
                </a:solidFill>
                <a:latin typeface="inherit"/>
              </a:rPr>
              <a:t>"section"</a:t>
            </a:r>
            <a:r>
              <a:rPr lang="en-US" sz="1400" dirty="0">
                <a:solidFill>
                  <a:srgbClr val="35434C"/>
                </a:solidFill>
                <a:latin typeface="inherit"/>
              </a:rPr>
              <a:t>&gt;</a:t>
            </a:r>
            <a:endParaRPr lang="en-US" sz="1400" dirty="0">
              <a:solidFill>
                <a:srgbClr val="9C9EA0"/>
              </a:solidFill>
              <a:latin typeface="Source Code Pro"/>
            </a:endParaRPr>
          </a:p>
          <a:p>
            <a:r>
              <a:rPr lang="en-US" sz="1400" dirty="0">
                <a:solidFill>
                  <a:srgbClr val="35434C"/>
                </a:solidFill>
                <a:latin typeface="inherit"/>
              </a:rPr>
              <a:t>          &lt;</a:t>
            </a:r>
            <a:r>
              <a:rPr lang="en-US" sz="1400" b="1" dirty="0">
                <a:solidFill>
                  <a:srgbClr val="085789"/>
                </a:solidFill>
                <a:latin typeface="inherit"/>
              </a:rPr>
              <a:t>div</a:t>
            </a:r>
            <a:r>
              <a:rPr lang="en-US" sz="1400" dirty="0">
                <a:solidFill>
                  <a:srgbClr val="2B333A"/>
                </a:solidFill>
                <a:latin typeface="inherit"/>
              </a:rPr>
              <a:t> </a:t>
            </a:r>
            <a:r>
              <a:rPr lang="en-US" sz="1400" dirty="0">
                <a:solidFill>
                  <a:srgbClr val="4284AE"/>
                </a:solidFill>
                <a:latin typeface="inherit"/>
              </a:rPr>
              <a:t>class=</a:t>
            </a:r>
            <a:r>
              <a:rPr lang="en-US" sz="1400" dirty="0">
                <a:solidFill>
                  <a:srgbClr val="5E860F"/>
                </a:solidFill>
                <a:latin typeface="inherit"/>
              </a:rPr>
              <a:t>"container"</a:t>
            </a:r>
            <a:r>
              <a:rPr lang="en-US" sz="1400" dirty="0">
                <a:solidFill>
                  <a:srgbClr val="35434C"/>
                </a:solidFill>
                <a:latin typeface="inherit"/>
              </a:rPr>
              <a:t>&gt;</a:t>
            </a:r>
            <a:endParaRPr lang="en-US" sz="1400" dirty="0">
              <a:solidFill>
                <a:srgbClr val="9C9EA0"/>
              </a:solidFill>
              <a:latin typeface="Source Code Pro"/>
            </a:endParaRPr>
          </a:p>
          <a:p>
            <a:r>
              <a:rPr lang="en-US" sz="1400" dirty="0">
                <a:solidFill>
                  <a:srgbClr val="7030A0"/>
                </a:solidFill>
                <a:latin typeface="inherit"/>
              </a:rPr>
              <a:t>                  @yield</a:t>
            </a:r>
            <a:r>
              <a:rPr lang="en-US" sz="1400" dirty="0">
                <a:solidFill>
                  <a:srgbClr val="2B333A"/>
                </a:solidFill>
                <a:latin typeface="inherit"/>
              </a:rPr>
              <a:t>(</a:t>
            </a:r>
            <a:r>
              <a:rPr lang="en-US" sz="1400" dirty="0">
                <a:solidFill>
                  <a:srgbClr val="00B050"/>
                </a:solidFill>
                <a:latin typeface="inherit"/>
              </a:rPr>
              <a:t>'content’</a:t>
            </a:r>
            <a:r>
              <a:rPr lang="en-US" sz="1400" dirty="0">
                <a:solidFill>
                  <a:srgbClr val="2B333A"/>
                </a:solidFill>
                <a:latin typeface="inherit"/>
              </a:rPr>
              <a:t>)</a:t>
            </a:r>
            <a:endParaRPr lang="en-US" sz="1400" dirty="0">
              <a:solidFill>
                <a:srgbClr val="9C9EA0"/>
              </a:solidFill>
              <a:latin typeface="Source Code Pro"/>
            </a:endParaRPr>
          </a:p>
          <a:p>
            <a:r>
              <a:rPr lang="en-US" sz="1400" dirty="0">
                <a:solidFill>
                  <a:srgbClr val="35434C"/>
                </a:solidFill>
                <a:latin typeface="inherit"/>
              </a:rPr>
              <a:t>          &lt;/</a:t>
            </a:r>
            <a:r>
              <a:rPr lang="en-US" sz="1400" b="1" dirty="0">
                <a:solidFill>
                  <a:srgbClr val="085789"/>
                </a:solidFill>
                <a:latin typeface="inherit"/>
              </a:rPr>
              <a:t>div</a:t>
            </a:r>
            <a:r>
              <a:rPr lang="en-US" sz="1400" dirty="0">
                <a:solidFill>
                  <a:srgbClr val="35434C"/>
                </a:solidFill>
                <a:latin typeface="inherit"/>
              </a:rPr>
              <a:t>&gt;</a:t>
            </a:r>
            <a:endParaRPr lang="en-US" sz="1400" dirty="0">
              <a:solidFill>
                <a:srgbClr val="9C9EA0"/>
              </a:solidFill>
              <a:latin typeface="Source Code Pro"/>
            </a:endParaRPr>
          </a:p>
          <a:p>
            <a:r>
              <a:rPr lang="en-US" sz="1400" dirty="0">
                <a:solidFill>
                  <a:srgbClr val="35434C"/>
                </a:solidFill>
                <a:latin typeface="inherit"/>
              </a:rPr>
              <a:t>&lt;/</a:t>
            </a:r>
            <a:r>
              <a:rPr lang="en-US" sz="1400" b="1" dirty="0">
                <a:solidFill>
                  <a:srgbClr val="085789"/>
                </a:solidFill>
                <a:latin typeface="inherit"/>
              </a:rPr>
              <a:t>main</a:t>
            </a:r>
            <a:r>
              <a:rPr lang="en-US" sz="1400" dirty="0">
                <a:solidFill>
                  <a:srgbClr val="35434C"/>
                </a:solidFill>
                <a:latin typeface="inherit"/>
              </a:rPr>
              <a:t>&gt;</a:t>
            </a:r>
            <a:endParaRPr lang="en-US" sz="1400" dirty="0">
              <a:solidFill>
                <a:srgbClr val="9C9EA0"/>
              </a:solidFill>
              <a:latin typeface="Source Code Pro"/>
            </a:endParaRPr>
          </a:p>
        </p:txBody>
      </p:sp>
      <p:sp>
        <p:nvSpPr>
          <p:cNvPr id="8" name="Rectangle : coins arrondis 7">
            <a:extLst>
              <a:ext uri="{FF2B5EF4-FFF2-40B4-BE49-F238E27FC236}">
                <a16:creationId xmlns:a16="http://schemas.microsoft.com/office/drawing/2014/main" id="{93EC65CE-A029-4E71-8B2A-0AD8DA7B5142}"/>
              </a:ext>
            </a:extLst>
          </p:cNvPr>
          <p:cNvSpPr/>
          <p:nvPr/>
        </p:nvSpPr>
        <p:spPr>
          <a:xfrm>
            <a:off x="755576" y="5654078"/>
            <a:ext cx="3523136" cy="81355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700" dirty="0">
                <a:solidFill>
                  <a:srgbClr val="7030A0"/>
                </a:solidFill>
                <a:latin typeface="Times New Roman" panose="02020603050405020304" pitchFamily="18" charset="0"/>
                <a:cs typeface="Times New Roman" panose="02020603050405020304" pitchFamily="18" charset="0"/>
              </a:rPr>
              <a:t>@section(</a:t>
            </a:r>
            <a:r>
              <a:rPr lang="fr-FR" sz="1700" dirty="0">
                <a:solidFill>
                  <a:srgbClr val="00B050"/>
                </a:solidFill>
                <a:latin typeface="Times New Roman" panose="02020603050405020304" pitchFamily="18" charset="0"/>
                <a:cs typeface="Times New Roman" panose="02020603050405020304" pitchFamily="18" charset="0"/>
              </a:rPr>
              <a:t>'content</a:t>
            </a:r>
            <a:r>
              <a:rPr lang="fr-FR" sz="1700" dirty="0">
                <a:solidFill>
                  <a:srgbClr val="7030A0"/>
                </a:solidFill>
                <a:latin typeface="Times New Roman" panose="02020603050405020304" pitchFamily="18" charset="0"/>
                <a:cs typeface="Times New Roman" panose="02020603050405020304" pitchFamily="18" charset="0"/>
              </a:rPr>
              <a:t>')</a:t>
            </a:r>
          </a:p>
          <a:p>
            <a:r>
              <a:rPr lang="fr-FR" sz="1700" dirty="0">
                <a:solidFill>
                  <a:srgbClr val="7030A0"/>
                </a:solidFill>
                <a:latin typeface="Times New Roman" panose="02020603050405020304" pitchFamily="18" charset="0"/>
                <a:cs typeface="Times New Roman" panose="02020603050405020304" pitchFamily="18" charset="0"/>
              </a:rPr>
              <a:t>   </a:t>
            </a:r>
            <a:r>
              <a:rPr lang="fr-FR" sz="1700" dirty="0">
                <a:solidFill>
                  <a:schemeClr val="tx1"/>
                </a:solidFill>
                <a:latin typeface="Times New Roman" panose="02020603050405020304" pitchFamily="18" charset="0"/>
                <a:cs typeface="Times New Roman" panose="02020603050405020304" pitchFamily="18" charset="0"/>
              </a:rPr>
              <a:t>// Code de la vue</a:t>
            </a:r>
          </a:p>
          <a:p>
            <a:r>
              <a:rPr lang="fr-FR" sz="1700" dirty="0">
                <a:solidFill>
                  <a:srgbClr val="7030A0"/>
                </a:solidFill>
                <a:latin typeface="Times New Roman" panose="02020603050405020304" pitchFamily="18" charset="0"/>
                <a:cs typeface="Times New Roman" panose="02020603050405020304" pitchFamily="18" charset="0"/>
              </a:rPr>
              <a:t>@</a:t>
            </a:r>
            <a:r>
              <a:rPr lang="fr-FR" sz="1700" dirty="0" err="1">
                <a:solidFill>
                  <a:srgbClr val="7030A0"/>
                </a:solidFill>
                <a:latin typeface="Times New Roman" panose="02020603050405020304" pitchFamily="18" charset="0"/>
                <a:cs typeface="Times New Roman" panose="02020603050405020304" pitchFamily="18" charset="0"/>
              </a:rPr>
              <a:t>endsection</a:t>
            </a:r>
            <a:endParaRPr lang="fr-FR" sz="1700"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7766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1">
              <a:buFont typeface="Wingdings" panose="05000000000000000000" pitchFamily="2" charset="2"/>
              <a:buChar char="ü"/>
            </a:pPr>
            <a:r>
              <a:rPr lang="fr-FR" sz="2000" dirty="0">
                <a:solidFill>
                  <a:srgbClr val="00B0F0"/>
                </a:solidFill>
              </a:rPr>
              <a:t>L’inclusion</a:t>
            </a:r>
            <a:endParaRPr lang="fr-FR" sz="2000" b="1" i="1" dirty="0">
              <a:solidFill>
                <a:schemeClr val="tx1"/>
              </a:solidFill>
            </a:endParaRPr>
          </a:p>
          <a:p>
            <a:pPr marL="0" indent="0">
              <a:buNone/>
            </a:pPr>
            <a:r>
              <a:rPr lang="fr-FR" sz="2000" dirty="0">
                <a:latin typeface="Times New Roman" panose="02020603050405020304" pitchFamily="18" charset="0"/>
                <a:cs typeface="Times New Roman" panose="02020603050405020304" pitchFamily="18" charset="0"/>
              </a:rPr>
              <a:t>On peut faire beaucoup de choses avec l’héritage, mais il est souvent utile de pouvoir inclure une vue dans une autre, classiquement on parle de vue partielle (partial).</a:t>
            </a:r>
          </a:p>
          <a:p>
            <a:pPr marL="0" indent="0">
              <a:buNone/>
            </a:pPr>
            <a:r>
              <a:rPr lang="fr-FR" sz="2000" dirty="0">
                <a:latin typeface="Times New Roman" panose="02020603050405020304" pitchFamily="18" charset="0"/>
                <a:cs typeface="Times New Roman" panose="02020603050405020304" pitchFamily="18" charset="0"/>
              </a:rPr>
              <a:t>La directive de Blade </a:t>
            </a:r>
            <a:r>
              <a:rPr lang="fr-FR" sz="2000" dirty="0">
                <a:solidFill>
                  <a:srgbClr val="7030A0"/>
                </a:solidFill>
                <a:latin typeface="Times New Roman" panose="02020603050405020304" pitchFamily="18" charset="0"/>
                <a:cs typeface="Times New Roman" panose="02020603050405020304" pitchFamily="18" charset="0"/>
              </a:rPr>
              <a:t>@</a:t>
            </a:r>
            <a:r>
              <a:rPr lang="fr-FR" sz="2000" dirty="0" err="1">
                <a:solidFill>
                  <a:srgbClr val="7030A0"/>
                </a:solidFill>
                <a:latin typeface="Times New Roman" panose="02020603050405020304" pitchFamily="18" charset="0"/>
                <a:cs typeface="Times New Roman" panose="02020603050405020304" pitchFamily="18" charset="0"/>
              </a:rPr>
              <a:t>include</a:t>
            </a:r>
            <a:r>
              <a:rPr lang="fr-FR" sz="2000" dirty="0">
                <a:solidFill>
                  <a:srgbClr val="7030A0"/>
                </a:solidFill>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vous permet d'inclure une vue Blade à partir d'une autre vue. Toutes les variables disponibles pour la vue parente seront mises à disposition de la vue incluse :</a:t>
            </a: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8" name="Rectangle : coins arrondis 7">
            <a:extLst>
              <a:ext uri="{FF2B5EF4-FFF2-40B4-BE49-F238E27FC236}">
                <a16:creationId xmlns:a16="http://schemas.microsoft.com/office/drawing/2014/main" id="{93EC65CE-A029-4E71-8B2A-0AD8DA7B5142}"/>
              </a:ext>
            </a:extLst>
          </p:cNvPr>
          <p:cNvSpPr/>
          <p:nvPr/>
        </p:nvSpPr>
        <p:spPr>
          <a:xfrm>
            <a:off x="4572000" y="4581128"/>
            <a:ext cx="3888432" cy="188650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89DDFF"/>
                </a:solidFill>
                <a:latin typeface="source-code-pro"/>
              </a:rPr>
              <a:t>&lt;</a:t>
            </a:r>
            <a:r>
              <a:rPr lang="en-US" sz="2000" dirty="0">
                <a:solidFill>
                  <a:srgbClr val="FF5572"/>
                </a:solidFill>
                <a:latin typeface="source-code-pro"/>
              </a:rPr>
              <a:t>div</a:t>
            </a:r>
            <a:r>
              <a:rPr lang="en-US" sz="2000" dirty="0">
                <a:solidFill>
                  <a:srgbClr val="89DDFF"/>
                </a:solidFill>
                <a:latin typeface="source-code-pro"/>
              </a:rPr>
              <a:t>&gt;</a:t>
            </a:r>
            <a:endParaRPr lang="en-US" sz="2000" dirty="0">
              <a:solidFill>
                <a:srgbClr val="232323"/>
              </a:solidFill>
              <a:latin typeface="source-code-pro"/>
            </a:endParaRPr>
          </a:p>
          <a:p>
            <a:r>
              <a:rPr lang="en-US" sz="2000" dirty="0">
                <a:solidFill>
                  <a:srgbClr val="C792EA"/>
                </a:solidFill>
                <a:latin typeface="source-code-pro"/>
              </a:rPr>
              <a:t>      @include</a:t>
            </a:r>
            <a:r>
              <a:rPr lang="en-US" sz="2000" dirty="0">
                <a:solidFill>
                  <a:srgbClr val="BFC7D5"/>
                </a:solidFill>
                <a:latin typeface="source-code-pro"/>
              </a:rPr>
              <a:t>(</a:t>
            </a:r>
            <a:r>
              <a:rPr lang="en-US" sz="2000" dirty="0">
                <a:solidFill>
                  <a:srgbClr val="D9F5DD"/>
                </a:solidFill>
                <a:latin typeface="source-code-pro"/>
              </a:rPr>
              <a:t>'</a:t>
            </a:r>
            <a:r>
              <a:rPr lang="en-US" sz="2000" dirty="0" err="1">
                <a:solidFill>
                  <a:srgbClr val="C3E88D"/>
                </a:solidFill>
                <a:latin typeface="source-code-pro"/>
              </a:rPr>
              <a:t>shared.errors</a:t>
            </a:r>
            <a:r>
              <a:rPr lang="en-US" sz="2000" dirty="0">
                <a:solidFill>
                  <a:srgbClr val="D9F5DD"/>
                </a:solidFill>
                <a:latin typeface="source-code-pro"/>
              </a:rPr>
              <a:t>’</a:t>
            </a:r>
            <a:r>
              <a:rPr lang="en-US" sz="2000" dirty="0">
                <a:solidFill>
                  <a:srgbClr val="BFC7D5"/>
                </a:solidFill>
                <a:latin typeface="source-code-pro"/>
              </a:rPr>
              <a:t>)</a:t>
            </a:r>
            <a:endParaRPr lang="en-US" sz="2000" dirty="0">
              <a:solidFill>
                <a:srgbClr val="232323"/>
              </a:solidFill>
              <a:latin typeface="source-code-pro"/>
            </a:endParaRPr>
          </a:p>
          <a:p>
            <a:r>
              <a:rPr lang="en-US" sz="2000" dirty="0">
                <a:solidFill>
                  <a:srgbClr val="89DDFF"/>
                </a:solidFill>
                <a:latin typeface="source-code-pro"/>
              </a:rPr>
              <a:t>      &lt;</a:t>
            </a:r>
            <a:r>
              <a:rPr lang="en-US" sz="2000" dirty="0">
                <a:solidFill>
                  <a:srgbClr val="FF5572"/>
                </a:solidFill>
                <a:latin typeface="source-code-pro"/>
              </a:rPr>
              <a:t>form</a:t>
            </a:r>
            <a:r>
              <a:rPr lang="en-US" sz="2000" dirty="0">
                <a:solidFill>
                  <a:srgbClr val="89DDFF"/>
                </a:solidFill>
                <a:latin typeface="source-code-pro"/>
              </a:rPr>
              <a:t>&gt;</a:t>
            </a:r>
            <a:endParaRPr lang="en-US" sz="2000" dirty="0">
              <a:solidFill>
                <a:srgbClr val="232323"/>
              </a:solidFill>
              <a:latin typeface="source-code-pro"/>
            </a:endParaRPr>
          </a:p>
          <a:p>
            <a:r>
              <a:rPr lang="en-US" sz="2000" dirty="0">
                <a:solidFill>
                  <a:srgbClr val="697098"/>
                </a:solidFill>
                <a:latin typeface="source-code-pro"/>
              </a:rPr>
              <a:t>                &lt;!-- Form Contents --&gt;</a:t>
            </a:r>
            <a:endParaRPr lang="en-US" sz="2000" dirty="0">
              <a:solidFill>
                <a:srgbClr val="232323"/>
              </a:solidFill>
              <a:latin typeface="source-code-pro"/>
            </a:endParaRPr>
          </a:p>
          <a:p>
            <a:r>
              <a:rPr lang="en-US" sz="2000" dirty="0">
                <a:solidFill>
                  <a:srgbClr val="89DDFF"/>
                </a:solidFill>
                <a:latin typeface="source-code-pro"/>
              </a:rPr>
              <a:t>       &lt;/</a:t>
            </a:r>
            <a:r>
              <a:rPr lang="en-US" sz="2000" dirty="0">
                <a:solidFill>
                  <a:srgbClr val="FF5572"/>
                </a:solidFill>
                <a:latin typeface="source-code-pro"/>
              </a:rPr>
              <a:t>form</a:t>
            </a:r>
            <a:r>
              <a:rPr lang="en-US" sz="2000" dirty="0">
                <a:solidFill>
                  <a:srgbClr val="89DDFF"/>
                </a:solidFill>
                <a:latin typeface="source-code-pro"/>
              </a:rPr>
              <a:t>&gt;</a:t>
            </a:r>
            <a:endParaRPr lang="en-US" sz="2000" dirty="0">
              <a:solidFill>
                <a:srgbClr val="232323"/>
              </a:solidFill>
              <a:latin typeface="source-code-pro"/>
            </a:endParaRPr>
          </a:p>
          <a:p>
            <a:r>
              <a:rPr lang="en-US" sz="2000" dirty="0">
                <a:solidFill>
                  <a:srgbClr val="89DDFF"/>
                </a:solidFill>
                <a:latin typeface="source-code-pro"/>
              </a:rPr>
              <a:t>&lt;/</a:t>
            </a:r>
            <a:r>
              <a:rPr lang="en-US" sz="2000" dirty="0">
                <a:solidFill>
                  <a:srgbClr val="FF5572"/>
                </a:solidFill>
                <a:latin typeface="source-code-pro"/>
              </a:rPr>
              <a:t>div</a:t>
            </a:r>
            <a:r>
              <a:rPr lang="en-US" sz="2000" dirty="0">
                <a:solidFill>
                  <a:srgbClr val="89DDFF"/>
                </a:solidFill>
                <a:latin typeface="source-code-pro"/>
              </a:rPr>
              <a:t>&gt;</a:t>
            </a:r>
            <a:endParaRPr lang="en-US" sz="2000" dirty="0">
              <a:solidFill>
                <a:srgbClr val="232323"/>
              </a:solidFill>
              <a:latin typeface="source-code-pro"/>
            </a:endParaRPr>
          </a:p>
        </p:txBody>
      </p:sp>
    </p:spTree>
    <p:extLst>
      <p:ext uri="{BB962C8B-B14F-4D97-AF65-F5344CB8AC3E}">
        <p14:creationId xmlns:p14="http://schemas.microsoft.com/office/powerpoint/2010/main" val="1216082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1">
              <a:buFont typeface="Wingdings" panose="05000000000000000000" pitchFamily="2" charset="2"/>
              <a:buChar char="ü"/>
            </a:pPr>
            <a:r>
              <a:rPr lang="fr-FR" sz="2000" dirty="0">
                <a:solidFill>
                  <a:srgbClr val="00B0F0"/>
                </a:solidFill>
              </a:rPr>
              <a:t>L’inclusion</a:t>
            </a:r>
            <a:endParaRPr lang="fr-FR" sz="2000" b="1" i="1" dirty="0">
              <a:solidFill>
                <a:schemeClr val="tx1"/>
              </a:solidFill>
            </a:endParaRPr>
          </a:p>
          <a:p>
            <a:pPr marL="0" indent="0">
              <a:buNone/>
            </a:pPr>
            <a:r>
              <a:rPr lang="fr-FR" sz="2000" dirty="0">
                <a:latin typeface="Times New Roman" panose="02020603050405020304" pitchFamily="18" charset="0"/>
                <a:cs typeface="Times New Roman" panose="02020603050405020304" pitchFamily="18" charset="0"/>
              </a:rPr>
              <a:t>Même si la vue incluse héritera de toutes les données disponibles dans la vue parente, vous pouvez également transmettre un tableau de données supplémentaires qui doivent être mises à la disposition de la vue incluse :</a:t>
            </a:r>
          </a:p>
          <a:p>
            <a:pPr marL="0" indent="0">
              <a:buNone/>
            </a:pPr>
            <a:endParaRPr lang="fr-FR" sz="2000" b="1" dirty="0">
              <a:solidFill>
                <a:srgbClr val="002060"/>
              </a:solidFill>
              <a:latin typeface="Times New Roman" panose="02020603050405020304" pitchFamily="18" charset="0"/>
              <a:cs typeface="Times New Roman" panose="02020603050405020304" pitchFamily="18" charset="0"/>
            </a:endParaRPr>
          </a:p>
          <a:p>
            <a:pPr marL="0" indent="0">
              <a:buNone/>
            </a:pPr>
            <a:endParaRPr lang="fr-FR" sz="2000" b="1" dirty="0">
              <a:solidFill>
                <a:srgbClr val="002060"/>
              </a:solidFill>
              <a:latin typeface="Times New Roman" panose="02020603050405020304" pitchFamily="18" charset="0"/>
              <a:cs typeface="Times New Roman" panose="02020603050405020304" pitchFamily="18" charset="0"/>
            </a:endParaRPr>
          </a:p>
          <a:p>
            <a:pPr marL="0" indent="0">
              <a:buNone/>
            </a:pPr>
            <a:r>
              <a:rPr lang="fr-FR" sz="2000" dirty="0">
                <a:latin typeface="Times New Roman" panose="02020603050405020304" pitchFamily="18" charset="0"/>
                <a:cs typeface="Times New Roman" panose="02020603050405020304" pitchFamily="18" charset="0"/>
              </a:rPr>
              <a:t>Si vous essayez d’inclure une vue qui n'existe pas, </a:t>
            </a:r>
            <a:r>
              <a:rPr lang="fr-FR" sz="2000" dirty="0" err="1">
                <a:latin typeface="Times New Roman" panose="02020603050405020304" pitchFamily="18" charset="0"/>
                <a:cs typeface="Times New Roman" panose="02020603050405020304" pitchFamily="18" charset="0"/>
              </a:rPr>
              <a:t>Laravel</a:t>
            </a:r>
            <a:r>
              <a:rPr lang="fr-FR" sz="2000" dirty="0">
                <a:latin typeface="Times New Roman" panose="02020603050405020304" pitchFamily="18" charset="0"/>
                <a:cs typeface="Times New Roman" panose="02020603050405020304" pitchFamily="18" charset="0"/>
              </a:rPr>
              <a:t> lancera une erreur. Si vous souhaitez inclure une vue qui peut être présente ou non, vous devez utiliser la directive </a:t>
            </a:r>
            <a:r>
              <a:rPr lang="fr-FR" sz="2000" dirty="0">
                <a:solidFill>
                  <a:srgbClr val="7030A0"/>
                </a:solidFill>
                <a:latin typeface="Times New Roman" panose="02020603050405020304" pitchFamily="18" charset="0"/>
                <a:cs typeface="Times New Roman" panose="02020603050405020304" pitchFamily="18" charset="0"/>
              </a:rPr>
              <a:t>@</a:t>
            </a:r>
            <a:r>
              <a:rPr lang="fr-FR" sz="2000" dirty="0" err="1">
                <a:solidFill>
                  <a:srgbClr val="7030A0"/>
                </a:solidFill>
                <a:latin typeface="Times New Roman" panose="02020603050405020304" pitchFamily="18" charset="0"/>
                <a:cs typeface="Times New Roman" panose="02020603050405020304" pitchFamily="18" charset="0"/>
              </a:rPr>
              <a:t>includeIf</a:t>
            </a:r>
            <a:r>
              <a:rPr lang="fr-FR" sz="2000" dirty="0">
                <a:solidFill>
                  <a:srgbClr val="7030A0"/>
                </a:solidFill>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a:t>
            </a:r>
          </a:p>
          <a:p>
            <a:endParaRPr lang="fr-FR" dirty="0"/>
          </a:p>
        </p:txBody>
      </p:sp>
      <p:sp>
        <p:nvSpPr>
          <p:cNvPr id="8" name="Rectangle : coins arrondis 7">
            <a:extLst>
              <a:ext uri="{FF2B5EF4-FFF2-40B4-BE49-F238E27FC236}">
                <a16:creationId xmlns:a16="http://schemas.microsoft.com/office/drawing/2014/main" id="{93EC65CE-A029-4E71-8B2A-0AD8DA7B5142}"/>
              </a:ext>
            </a:extLst>
          </p:cNvPr>
          <p:cNvSpPr/>
          <p:nvPr/>
        </p:nvSpPr>
        <p:spPr>
          <a:xfrm>
            <a:off x="1547664" y="3903552"/>
            <a:ext cx="5328592" cy="46805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C792EA"/>
                </a:solidFill>
                <a:latin typeface="source-code-pro"/>
              </a:rPr>
              <a:t>@include</a:t>
            </a:r>
            <a:r>
              <a:rPr lang="en-US" sz="2000" dirty="0">
                <a:solidFill>
                  <a:srgbClr val="BFC7D5"/>
                </a:solidFill>
                <a:latin typeface="source-code-pro"/>
              </a:rPr>
              <a:t>(</a:t>
            </a:r>
            <a:r>
              <a:rPr lang="en-US" sz="2000" dirty="0">
                <a:solidFill>
                  <a:srgbClr val="D9F5DD"/>
                </a:solidFill>
                <a:latin typeface="source-code-pro"/>
              </a:rPr>
              <a:t>'</a:t>
            </a:r>
            <a:r>
              <a:rPr lang="en-US" sz="2000" dirty="0">
                <a:solidFill>
                  <a:srgbClr val="C3E88D"/>
                </a:solidFill>
                <a:latin typeface="source-code-pro"/>
              </a:rPr>
              <a:t>view.name</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status</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89DDFF"/>
                </a:solidFill>
                <a:latin typeface="source-code-pro"/>
              </a:rPr>
              <a:t>=&gt;</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complete</a:t>
            </a:r>
            <a:r>
              <a:rPr lang="en-US" sz="2000" dirty="0">
                <a:solidFill>
                  <a:srgbClr val="D9F5DD"/>
                </a:solidFill>
                <a:latin typeface="source-code-pro"/>
              </a:rPr>
              <a:t>'</a:t>
            </a:r>
            <a:r>
              <a:rPr lang="en-US" sz="2000" dirty="0">
                <a:solidFill>
                  <a:srgbClr val="BFC7D5"/>
                </a:solidFill>
                <a:latin typeface="source-code-pro"/>
              </a:rPr>
              <a:t>])</a:t>
            </a:r>
            <a:endParaRPr lang="en-US" sz="2000" dirty="0">
              <a:solidFill>
                <a:srgbClr val="232323"/>
              </a:solidFill>
              <a:latin typeface="source-code-pro"/>
            </a:endParaRPr>
          </a:p>
        </p:txBody>
      </p:sp>
      <p:sp>
        <p:nvSpPr>
          <p:cNvPr id="6" name="Rectangle : coins arrondis 5">
            <a:extLst>
              <a:ext uri="{FF2B5EF4-FFF2-40B4-BE49-F238E27FC236}">
                <a16:creationId xmlns:a16="http://schemas.microsoft.com/office/drawing/2014/main" id="{45AB551A-0329-4837-AF60-C83835914465}"/>
              </a:ext>
            </a:extLst>
          </p:cNvPr>
          <p:cNvSpPr/>
          <p:nvPr/>
        </p:nvSpPr>
        <p:spPr>
          <a:xfrm>
            <a:off x="1547664" y="5733256"/>
            <a:ext cx="5328592" cy="46805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C792EA"/>
                </a:solidFill>
                <a:latin typeface="source-code-pro"/>
              </a:rPr>
              <a:t>@</a:t>
            </a:r>
            <a:r>
              <a:rPr lang="en-US" sz="2000" dirty="0" err="1">
                <a:solidFill>
                  <a:srgbClr val="C792EA"/>
                </a:solidFill>
                <a:latin typeface="source-code-pro"/>
              </a:rPr>
              <a:t>includeIf</a:t>
            </a:r>
            <a:r>
              <a:rPr lang="en-US" sz="2000" dirty="0">
                <a:solidFill>
                  <a:srgbClr val="BFC7D5"/>
                </a:solidFill>
                <a:latin typeface="source-code-pro"/>
              </a:rPr>
              <a:t>(</a:t>
            </a:r>
            <a:r>
              <a:rPr lang="en-US" sz="2000" dirty="0">
                <a:solidFill>
                  <a:srgbClr val="D9F5DD"/>
                </a:solidFill>
                <a:latin typeface="source-code-pro"/>
              </a:rPr>
              <a:t>'</a:t>
            </a:r>
            <a:r>
              <a:rPr lang="en-US" sz="2000" dirty="0">
                <a:solidFill>
                  <a:srgbClr val="C3E88D"/>
                </a:solidFill>
                <a:latin typeface="source-code-pro"/>
              </a:rPr>
              <a:t>view.name</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status</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89DDFF"/>
                </a:solidFill>
                <a:latin typeface="source-code-pro"/>
              </a:rPr>
              <a:t>=&gt;</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complete</a:t>
            </a:r>
            <a:r>
              <a:rPr lang="en-US" sz="2000" dirty="0">
                <a:solidFill>
                  <a:srgbClr val="D9F5DD"/>
                </a:solidFill>
                <a:latin typeface="source-code-pro"/>
              </a:rPr>
              <a:t>'</a:t>
            </a:r>
            <a:r>
              <a:rPr lang="en-US" sz="2000" dirty="0">
                <a:solidFill>
                  <a:srgbClr val="BFC7D5"/>
                </a:solidFill>
                <a:latin typeface="source-code-pro"/>
              </a:rPr>
              <a:t>])</a:t>
            </a:r>
            <a:endParaRPr lang="en-US" sz="2000" dirty="0">
              <a:solidFill>
                <a:srgbClr val="232323"/>
              </a:solidFill>
              <a:latin typeface="source-code-pro"/>
            </a:endParaRPr>
          </a:p>
        </p:txBody>
      </p:sp>
    </p:spTree>
    <p:extLst>
      <p:ext uri="{BB962C8B-B14F-4D97-AF65-F5344CB8AC3E}">
        <p14:creationId xmlns:p14="http://schemas.microsoft.com/office/powerpoint/2010/main" val="213064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1">
              <a:buFont typeface="Wingdings" panose="05000000000000000000" pitchFamily="2" charset="2"/>
              <a:buChar char="ü"/>
            </a:pPr>
            <a:r>
              <a:rPr lang="fr-FR" sz="2200" dirty="0">
                <a:solidFill>
                  <a:srgbClr val="00B0F0"/>
                </a:solidFill>
              </a:rPr>
              <a:t>L’inclusion</a:t>
            </a:r>
            <a:endParaRPr lang="fr-FR" sz="2200" b="1" i="1" dirty="0">
              <a:solidFill>
                <a:schemeClr val="tx1"/>
              </a:solidFill>
            </a:endParaRPr>
          </a:p>
          <a:p>
            <a:pPr marL="0" indent="0">
              <a:buNone/>
            </a:pPr>
            <a:r>
              <a:rPr lang="fr-FR" sz="2200" dirty="0">
                <a:latin typeface="Times New Roman" panose="02020603050405020304" pitchFamily="18" charset="0"/>
                <a:cs typeface="Times New Roman" panose="02020603050405020304" pitchFamily="18" charset="0"/>
              </a:rPr>
              <a:t>Si vous souhaitez évaluée une expression booléenne à </a:t>
            </a:r>
            <a:r>
              <a:rPr lang="fr-FR" sz="2200" dirty="0" err="1">
                <a:solidFill>
                  <a:srgbClr val="C00000"/>
                </a:solidFill>
                <a:latin typeface="Times New Roman" panose="02020603050405020304" pitchFamily="18" charset="0"/>
                <a:cs typeface="Times New Roman" panose="02020603050405020304" pitchFamily="18" charset="0"/>
              </a:rPr>
              <a:t>true</a:t>
            </a:r>
            <a:r>
              <a:rPr lang="fr-FR" sz="2200" dirty="0">
                <a:latin typeface="Times New Roman" panose="02020603050405020304" pitchFamily="18" charset="0"/>
                <a:cs typeface="Times New Roman" panose="02020603050405020304" pitchFamily="18" charset="0"/>
              </a:rPr>
              <a:t> ou </a:t>
            </a:r>
            <a:r>
              <a:rPr lang="fr-FR" sz="2200" dirty="0">
                <a:solidFill>
                  <a:srgbClr val="C00000"/>
                </a:solidFill>
                <a:latin typeface="Times New Roman" panose="02020603050405020304" pitchFamily="18" charset="0"/>
                <a:cs typeface="Times New Roman" panose="02020603050405020304" pitchFamily="18" charset="0"/>
              </a:rPr>
              <a:t>false</a:t>
            </a:r>
            <a:r>
              <a:rPr lang="fr-FR" sz="2200" dirty="0">
                <a:latin typeface="Times New Roman" panose="02020603050405020304" pitchFamily="18" charset="0"/>
                <a:cs typeface="Times New Roman" panose="02020603050405020304" pitchFamily="18" charset="0"/>
              </a:rPr>
              <a:t>, vous pouvez utiliser les directives </a:t>
            </a:r>
            <a:r>
              <a:rPr lang="fr-FR" sz="2200" dirty="0">
                <a:solidFill>
                  <a:srgbClr val="7030A0"/>
                </a:solidFill>
                <a:latin typeface="Times New Roman" panose="02020603050405020304" pitchFamily="18" charset="0"/>
                <a:cs typeface="Times New Roman" panose="02020603050405020304" pitchFamily="18" charset="0"/>
              </a:rPr>
              <a:t>@</a:t>
            </a:r>
            <a:r>
              <a:rPr lang="fr-FR" sz="2200" dirty="0" err="1">
                <a:solidFill>
                  <a:srgbClr val="7030A0"/>
                </a:solidFill>
                <a:latin typeface="Times New Roman" panose="02020603050405020304" pitchFamily="18" charset="0"/>
                <a:cs typeface="Times New Roman" panose="02020603050405020304" pitchFamily="18" charset="0"/>
              </a:rPr>
              <a:t>includeWhen</a:t>
            </a:r>
            <a:r>
              <a:rPr lang="fr-FR" sz="2200" dirty="0">
                <a:solidFill>
                  <a:srgbClr val="7030A0"/>
                </a:solidFill>
                <a:latin typeface="Times New Roman" panose="02020603050405020304" pitchFamily="18" charset="0"/>
                <a:cs typeface="Times New Roman" panose="02020603050405020304" pitchFamily="18" charset="0"/>
              </a:rPr>
              <a:t> </a:t>
            </a:r>
            <a:r>
              <a:rPr lang="fr-FR" sz="2200" dirty="0">
                <a:latin typeface="Times New Roman" panose="02020603050405020304" pitchFamily="18" charset="0"/>
                <a:cs typeface="Times New Roman" panose="02020603050405020304" pitchFamily="18" charset="0"/>
              </a:rPr>
              <a:t>et </a:t>
            </a:r>
            <a:r>
              <a:rPr lang="fr-FR" sz="2200" dirty="0">
                <a:solidFill>
                  <a:srgbClr val="7030A0"/>
                </a:solidFill>
                <a:latin typeface="Times New Roman" panose="02020603050405020304" pitchFamily="18" charset="0"/>
                <a:cs typeface="Times New Roman" panose="02020603050405020304" pitchFamily="18" charset="0"/>
              </a:rPr>
              <a:t>@</a:t>
            </a:r>
            <a:r>
              <a:rPr lang="fr-FR" sz="2200" dirty="0" err="1">
                <a:solidFill>
                  <a:srgbClr val="7030A0"/>
                </a:solidFill>
                <a:latin typeface="Times New Roman" panose="02020603050405020304" pitchFamily="18" charset="0"/>
                <a:cs typeface="Times New Roman" panose="02020603050405020304" pitchFamily="18" charset="0"/>
              </a:rPr>
              <a:t>includeUnless</a:t>
            </a:r>
            <a:endParaRPr lang="fr-FR" sz="2200" b="1" dirty="0">
              <a:solidFill>
                <a:srgbClr val="7030A0"/>
              </a:solidFill>
              <a:latin typeface="Times New Roman" panose="02020603050405020304" pitchFamily="18" charset="0"/>
              <a:cs typeface="Times New Roman" panose="02020603050405020304" pitchFamily="18" charset="0"/>
            </a:endParaRPr>
          </a:p>
          <a:p>
            <a:pPr marL="0" indent="0">
              <a:buNone/>
            </a:pPr>
            <a:endParaRPr lang="fr-FR" sz="2200" b="1" dirty="0">
              <a:solidFill>
                <a:srgbClr val="002060"/>
              </a:solidFill>
              <a:latin typeface="Times New Roman" panose="02020603050405020304" pitchFamily="18" charset="0"/>
              <a:cs typeface="Times New Roman" panose="02020603050405020304" pitchFamily="18" charset="0"/>
            </a:endParaRPr>
          </a:p>
          <a:p>
            <a:pPr marL="0" indent="0">
              <a:buNone/>
            </a:pPr>
            <a:endParaRPr lang="fr-FR" sz="2200" b="1" dirty="0">
              <a:solidFill>
                <a:srgbClr val="002060"/>
              </a:solidFill>
              <a:latin typeface="Times New Roman" panose="02020603050405020304" pitchFamily="18" charset="0"/>
              <a:cs typeface="Times New Roman" panose="02020603050405020304" pitchFamily="18" charset="0"/>
            </a:endParaRPr>
          </a:p>
          <a:p>
            <a:pPr marL="0" indent="0">
              <a:buNone/>
            </a:pPr>
            <a:endParaRPr lang="fr-FR" sz="2200" b="1" dirty="0">
              <a:solidFill>
                <a:srgbClr val="002060"/>
              </a:solidFill>
              <a:latin typeface="Times New Roman" panose="02020603050405020304" pitchFamily="18" charset="0"/>
              <a:cs typeface="Times New Roman" panose="02020603050405020304" pitchFamily="18" charset="0"/>
            </a:endParaRPr>
          </a:p>
          <a:p>
            <a:pPr marL="0" indent="0">
              <a:buNone/>
            </a:pPr>
            <a:r>
              <a:rPr lang="fr-FR" sz="2200" dirty="0">
                <a:latin typeface="Times New Roman" panose="02020603050405020304" pitchFamily="18" charset="0"/>
                <a:cs typeface="Times New Roman" panose="02020603050405020304" pitchFamily="18" charset="0"/>
              </a:rPr>
              <a:t>Pour inclure la première vue qui existe à partir d'un tableau de vues donné, vous pouvez utiliser la directive </a:t>
            </a:r>
            <a:r>
              <a:rPr lang="fr-FR" sz="2200" dirty="0">
                <a:solidFill>
                  <a:srgbClr val="7030A0"/>
                </a:solidFill>
                <a:latin typeface="Times New Roman" panose="02020603050405020304" pitchFamily="18" charset="0"/>
                <a:cs typeface="Times New Roman" panose="02020603050405020304" pitchFamily="18" charset="0"/>
              </a:rPr>
              <a:t>@</a:t>
            </a:r>
            <a:r>
              <a:rPr lang="fr-FR" sz="2200" dirty="0" err="1">
                <a:solidFill>
                  <a:srgbClr val="7030A0"/>
                </a:solidFill>
                <a:latin typeface="Times New Roman" panose="02020603050405020304" pitchFamily="18" charset="0"/>
                <a:cs typeface="Times New Roman" panose="02020603050405020304" pitchFamily="18" charset="0"/>
              </a:rPr>
              <a:t>includeFirst</a:t>
            </a:r>
            <a:r>
              <a:rPr lang="fr-FR" sz="2200" dirty="0">
                <a:solidFill>
                  <a:srgbClr val="7030A0"/>
                </a:solidFill>
                <a:latin typeface="Times New Roman" panose="02020603050405020304" pitchFamily="18" charset="0"/>
                <a:cs typeface="Times New Roman" panose="02020603050405020304" pitchFamily="18" charset="0"/>
              </a:rPr>
              <a:t> </a:t>
            </a:r>
            <a:r>
              <a:rPr lang="fr-FR" sz="2200" dirty="0">
                <a:latin typeface="Times New Roman" panose="02020603050405020304" pitchFamily="18" charset="0"/>
                <a:cs typeface="Times New Roman" panose="02020603050405020304" pitchFamily="18" charset="0"/>
              </a:rPr>
              <a:t>:</a:t>
            </a:r>
          </a:p>
          <a:p>
            <a:pPr marL="0" indent="0">
              <a:buNone/>
            </a:pPr>
            <a:endParaRPr lang="fr-FR" sz="2200" dirty="0">
              <a:latin typeface="Times New Roman" panose="02020603050405020304" pitchFamily="18" charset="0"/>
              <a:cs typeface="Times New Roman" panose="02020603050405020304" pitchFamily="18" charset="0"/>
            </a:endParaRPr>
          </a:p>
          <a:p>
            <a:pPr marL="0" indent="0">
              <a:buNone/>
            </a:pPr>
            <a:endParaRPr lang="fr-FR" sz="2200" dirty="0">
              <a:latin typeface="Times New Roman" panose="02020603050405020304" pitchFamily="18" charset="0"/>
              <a:cs typeface="Times New Roman" panose="02020603050405020304" pitchFamily="18" charset="0"/>
            </a:endParaRPr>
          </a:p>
          <a:p>
            <a:pPr marL="0" indent="0">
              <a:buNone/>
            </a:pPr>
            <a:endParaRPr lang="fr-FR" sz="2200" dirty="0">
              <a:latin typeface="Times New Roman" panose="02020603050405020304" pitchFamily="18" charset="0"/>
              <a:cs typeface="Times New Roman" panose="02020603050405020304" pitchFamily="18" charset="0"/>
            </a:endParaRPr>
          </a:p>
          <a:p>
            <a:pPr marL="0" indent="0">
              <a:buNone/>
            </a:pPr>
            <a:r>
              <a:rPr lang="fr-FR" sz="2200" i="1" dirty="0">
                <a:solidFill>
                  <a:srgbClr val="C00000"/>
                </a:solidFill>
                <a:latin typeface="Times New Roman" panose="02020603050405020304" pitchFamily="18" charset="0"/>
                <a:cs typeface="Times New Roman" panose="02020603050405020304" pitchFamily="18" charset="0"/>
              </a:rPr>
              <a:t>N.B :Vous devez éviter d'utiliser les constantes </a:t>
            </a:r>
            <a:r>
              <a:rPr lang="fr-FR" sz="2200" b="1" i="1" dirty="0">
                <a:solidFill>
                  <a:srgbClr val="C00000"/>
                </a:solidFill>
                <a:latin typeface="Times New Roman" panose="02020603050405020304" pitchFamily="18" charset="0"/>
                <a:cs typeface="Times New Roman" panose="02020603050405020304" pitchFamily="18" charset="0"/>
              </a:rPr>
              <a:t>__</a:t>
            </a:r>
            <a:r>
              <a:rPr lang="fr-FR" sz="2200" b="1" i="1" dirty="0" err="1">
                <a:solidFill>
                  <a:srgbClr val="C00000"/>
                </a:solidFill>
                <a:latin typeface="Times New Roman" panose="02020603050405020304" pitchFamily="18" charset="0"/>
                <a:cs typeface="Times New Roman" panose="02020603050405020304" pitchFamily="18" charset="0"/>
              </a:rPr>
              <a:t>DIR__</a:t>
            </a:r>
            <a:r>
              <a:rPr lang="fr-FR" sz="2200" i="1" dirty="0" err="1">
                <a:solidFill>
                  <a:srgbClr val="C00000"/>
                </a:solidFill>
                <a:latin typeface="Times New Roman" panose="02020603050405020304" pitchFamily="18" charset="0"/>
                <a:cs typeface="Times New Roman" panose="02020603050405020304" pitchFamily="18" charset="0"/>
              </a:rPr>
              <a:t>et</a:t>
            </a:r>
            <a:r>
              <a:rPr lang="fr-FR" sz="2200" i="1" dirty="0">
                <a:solidFill>
                  <a:srgbClr val="C00000"/>
                </a:solidFill>
                <a:latin typeface="Times New Roman" panose="02020603050405020304" pitchFamily="18" charset="0"/>
                <a:cs typeface="Times New Roman" panose="02020603050405020304" pitchFamily="18" charset="0"/>
              </a:rPr>
              <a:t> dans vos vues Blade, car elles feront référence à l'emplacement de la vue compilée en </a:t>
            </a:r>
            <a:r>
              <a:rPr lang="fr-FR" sz="2200" i="1" dirty="0" err="1">
                <a:solidFill>
                  <a:srgbClr val="C00000"/>
                </a:solidFill>
                <a:latin typeface="Times New Roman" panose="02020603050405020304" pitchFamily="18" charset="0"/>
                <a:cs typeface="Times New Roman" panose="02020603050405020304" pitchFamily="18" charset="0"/>
              </a:rPr>
              <a:t>cache</a:t>
            </a:r>
            <a:r>
              <a:rPr lang="fr-FR" sz="2200" b="1" i="1" dirty="0" err="1">
                <a:solidFill>
                  <a:srgbClr val="C00000"/>
                </a:solidFill>
                <a:latin typeface="Times New Roman" panose="02020603050405020304" pitchFamily="18" charset="0"/>
                <a:cs typeface="Times New Roman" panose="02020603050405020304" pitchFamily="18" charset="0"/>
              </a:rPr>
              <a:t>.__FILE</a:t>
            </a:r>
            <a:r>
              <a:rPr lang="fr-FR" sz="2200" b="1" i="1" dirty="0">
                <a:solidFill>
                  <a:srgbClr val="C00000"/>
                </a:solidFill>
                <a:latin typeface="Times New Roman" panose="02020603050405020304" pitchFamily="18" charset="0"/>
                <a:cs typeface="Times New Roman" panose="02020603050405020304" pitchFamily="18" charset="0"/>
              </a:rPr>
              <a:t>__</a:t>
            </a:r>
          </a:p>
        </p:txBody>
      </p:sp>
      <p:sp>
        <p:nvSpPr>
          <p:cNvPr id="8" name="Rectangle : coins arrondis 7">
            <a:extLst>
              <a:ext uri="{FF2B5EF4-FFF2-40B4-BE49-F238E27FC236}">
                <a16:creationId xmlns:a16="http://schemas.microsoft.com/office/drawing/2014/main" id="{93EC65CE-A029-4E71-8B2A-0AD8DA7B5142}"/>
              </a:ext>
            </a:extLst>
          </p:cNvPr>
          <p:cNvSpPr/>
          <p:nvPr/>
        </p:nvSpPr>
        <p:spPr>
          <a:xfrm>
            <a:off x="1259632" y="3144626"/>
            <a:ext cx="6960763" cy="74594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C792EA"/>
                </a:solidFill>
                <a:latin typeface="source-code-pro"/>
              </a:rPr>
              <a:t>@</a:t>
            </a:r>
            <a:r>
              <a:rPr lang="en-US" sz="2000" dirty="0" err="1">
                <a:solidFill>
                  <a:srgbClr val="C792EA"/>
                </a:solidFill>
                <a:latin typeface="source-code-pro"/>
              </a:rPr>
              <a:t>includeWhen</a:t>
            </a:r>
            <a:r>
              <a:rPr lang="en-US" sz="2000" dirty="0">
                <a:solidFill>
                  <a:srgbClr val="BFC7D5"/>
                </a:solidFill>
                <a:latin typeface="source-code-pro"/>
              </a:rPr>
              <a:t>(</a:t>
            </a:r>
            <a:r>
              <a:rPr lang="en-US" sz="2000" dirty="0">
                <a:solidFill>
                  <a:srgbClr val="BEC5D4"/>
                </a:solidFill>
                <a:latin typeface="source-code-pro"/>
              </a:rPr>
              <a:t>$</a:t>
            </a:r>
            <a:r>
              <a:rPr lang="en-US" sz="2000" dirty="0" err="1">
                <a:solidFill>
                  <a:srgbClr val="BEC5D4"/>
                </a:solidFill>
                <a:latin typeface="source-code-pro"/>
              </a:rPr>
              <a:t>boolean</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view.name</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status</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89DDFF"/>
                </a:solidFill>
                <a:latin typeface="source-code-pro"/>
              </a:rPr>
              <a:t>=&gt;</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complete</a:t>
            </a:r>
            <a:r>
              <a:rPr lang="en-US" sz="2000" dirty="0">
                <a:solidFill>
                  <a:srgbClr val="D9F5DD"/>
                </a:solidFill>
                <a:latin typeface="source-code-pro"/>
              </a:rPr>
              <a:t>'</a:t>
            </a:r>
            <a:r>
              <a:rPr lang="en-US" sz="2000" dirty="0">
                <a:solidFill>
                  <a:srgbClr val="BFC7D5"/>
                </a:solidFill>
                <a:latin typeface="source-code-pro"/>
              </a:rPr>
              <a:t>])</a:t>
            </a:r>
            <a:endParaRPr lang="en-US" sz="2000" dirty="0">
              <a:solidFill>
                <a:srgbClr val="232323"/>
              </a:solidFill>
              <a:latin typeface="source-code-pro"/>
            </a:endParaRPr>
          </a:p>
          <a:p>
            <a:r>
              <a:rPr lang="en-US" sz="2000" dirty="0">
                <a:solidFill>
                  <a:srgbClr val="82AAFF"/>
                </a:solidFill>
                <a:latin typeface="source-code-pro"/>
              </a:rPr>
              <a:t>@</a:t>
            </a:r>
            <a:r>
              <a:rPr lang="en-US" sz="2000" dirty="0" err="1">
                <a:solidFill>
                  <a:srgbClr val="82AAFF"/>
                </a:solidFill>
                <a:latin typeface="source-code-pro"/>
              </a:rPr>
              <a:t>includeUnless</a:t>
            </a:r>
            <a:r>
              <a:rPr lang="en-US" sz="2000" dirty="0">
                <a:solidFill>
                  <a:srgbClr val="BFC7D5"/>
                </a:solidFill>
                <a:latin typeface="source-code-pro"/>
              </a:rPr>
              <a:t>(</a:t>
            </a:r>
            <a:r>
              <a:rPr lang="en-US" sz="2000" dirty="0">
                <a:solidFill>
                  <a:srgbClr val="BEC5D4"/>
                </a:solidFill>
                <a:latin typeface="source-code-pro"/>
              </a:rPr>
              <a:t>$</a:t>
            </a:r>
            <a:r>
              <a:rPr lang="en-US" sz="2000" dirty="0" err="1">
                <a:solidFill>
                  <a:srgbClr val="BEC5D4"/>
                </a:solidFill>
                <a:latin typeface="source-code-pro"/>
              </a:rPr>
              <a:t>boolean</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view.name</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status</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89DDFF"/>
                </a:solidFill>
                <a:latin typeface="source-code-pro"/>
              </a:rPr>
              <a:t>=&gt;</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complete</a:t>
            </a:r>
            <a:r>
              <a:rPr lang="en-US" sz="2000" dirty="0">
                <a:solidFill>
                  <a:srgbClr val="D9F5DD"/>
                </a:solidFill>
                <a:latin typeface="source-code-pro"/>
              </a:rPr>
              <a:t>'</a:t>
            </a:r>
            <a:r>
              <a:rPr lang="en-US" sz="2000" dirty="0">
                <a:solidFill>
                  <a:srgbClr val="BFC7D5"/>
                </a:solidFill>
                <a:latin typeface="source-code-pro"/>
              </a:rPr>
              <a:t>])</a:t>
            </a:r>
            <a:endParaRPr lang="en-US" sz="2000" dirty="0">
              <a:solidFill>
                <a:srgbClr val="232323"/>
              </a:solidFill>
              <a:latin typeface="source-code-pro"/>
            </a:endParaRPr>
          </a:p>
        </p:txBody>
      </p:sp>
      <p:sp>
        <p:nvSpPr>
          <p:cNvPr id="6" name="Rectangle : coins arrondis 5">
            <a:extLst>
              <a:ext uri="{FF2B5EF4-FFF2-40B4-BE49-F238E27FC236}">
                <a16:creationId xmlns:a16="http://schemas.microsoft.com/office/drawing/2014/main" id="{45AB551A-0329-4837-AF60-C83835914465}"/>
              </a:ext>
            </a:extLst>
          </p:cNvPr>
          <p:cNvSpPr/>
          <p:nvPr/>
        </p:nvSpPr>
        <p:spPr>
          <a:xfrm>
            <a:off x="1259631" y="4739904"/>
            <a:ext cx="6960763" cy="56130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C792EA"/>
                </a:solidFill>
                <a:latin typeface="source-code-pro"/>
              </a:rPr>
              <a:t>@</a:t>
            </a:r>
            <a:r>
              <a:rPr lang="en-US" sz="2000" dirty="0" err="1">
                <a:solidFill>
                  <a:srgbClr val="C792EA"/>
                </a:solidFill>
                <a:latin typeface="source-code-pro"/>
              </a:rPr>
              <a:t>includeFirst</a:t>
            </a:r>
            <a:r>
              <a:rPr lang="en-US" sz="2000" dirty="0">
                <a:solidFill>
                  <a:srgbClr val="BFC7D5"/>
                </a:solidFill>
                <a:latin typeface="source-code-pro"/>
              </a:rPr>
              <a:t>([</a:t>
            </a:r>
            <a:r>
              <a:rPr lang="en-US" sz="2000" dirty="0">
                <a:solidFill>
                  <a:srgbClr val="D9F5DD"/>
                </a:solidFill>
                <a:latin typeface="source-code-pro"/>
              </a:rPr>
              <a:t>'</a:t>
            </a:r>
            <a:r>
              <a:rPr lang="en-US" sz="2000" dirty="0" err="1">
                <a:solidFill>
                  <a:srgbClr val="C3E88D"/>
                </a:solidFill>
                <a:latin typeface="source-code-pro"/>
              </a:rPr>
              <a:t>custom.admin</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admin</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status</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89DDFF"/>
                </a:solidFill>
                <a:latin typeface="source-code-pro"/>
              </a:rPr>
              <a:t>=&gt;</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complete</a:t>
            </a:r>
            <a:r>
              <a:rPr lang="en-US" sz="2000" dirty="0">
                <a:solidFill>
                  <a:srgbClr val="D9F5DD"/>
                </a:solidFill>
                <a:latin typeface="source-code-pro"/>
              </a:rPr>
              <a:t>'</a:t>
            </a:r>
            <a:r>
              <a:rPr lang="en-US" sz="2000" dirty="0">
                <a:solidFill>
                  <a:srgbClr val="BFC7D5"/>
                </a:solidFill>
                <a:latin typeface="source-code-pro"/>
              </a:rPr>
              <a:t>])</a:t>
            </a:r>
            <a:endParaRPr lang="en-US" sz="2000" dirty="0">
              <a:solidFill>
                <a:srgbClr val="232323"/>
              </a:solidFill>
              <a:latin typeface="source-code-pro"/>
            </a:endParaRPr>
          </a:p>
        </p:txBody>
      </p:sp>
    </p:spTree>
    <p:extLst>
      <p:ext uri="{BB962C8B-B14F-4D97-AF65-F5344CB8AC3E}">
        <p14:creationId xmlns:p14="http://schemas.microsoft.com/office/powerpoint/2010/main" val="1774927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70000" lnSpcReduction="20000"/>
          </a:bodyPr>
          <a:lstStyle/>
          <a:p>
            <a:pPr marL="514350" indent="-514350">
              <a:buFont typeface="+mj-lt"/>
              <a:buAutoNum type="alphaUcPeriod" startAt="2"/>
            </a:pPr>
            <a:r>
              <a:rPr lang="fr-FR" sz="3100" b="1" dirty="0">
                <a:solidFill>
                  <a:srgbClr val="002060"/>
                </a:solidFill>
                <a:latin typeface="Times New Roman" panose="02020603050405020304" pitchFamily="18" charset="0"/>
                <a:cs typeface="Times New Roman" panose="02020603050405020304" pitchFamily="18" charset="0"/>
              </a:rPr>
              <a:t>Programmer avec Laravel</a:t>
            </a:r>
            <a:endParaRPr lang="fr-FR" sz="31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9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900" dirty="0"/>
              <a:t> </a:t>
            </a:r>
            <a:r>
              <a:rPr lang="fr-FR" sz="2900" dirty="0">
                <a:solidFill>
                  <a:srgbClr val="C00000"/>
                </a:solidFill>
                <a:latin typeface="Times New Roman" panose="02020603050405020304" pitchFamily="18" charset="0"/>
                <a:cs typeface="Times New Roman" panose="02020603050405020304" pitchFamily="18" charset="0"/>
              </a:rPr>
              <a:t>Laravel</a:t>
            </a:r>
            <a:endParaRPr lang="fr-FR" sz="2900" dirty="0">
              <a:latin typeface="Times New Roman" panose="02020603050405020304" pitchFamily="18" charset="0"/>
              <a:cs typeface="Times New Roman" panose="02020603050405020304" pitchFamily="18" charset="0"/>
            </a:endParaRPr>
          </a:p>
          <a:p>
            <a:pPr marL="400050" lvl="1" indent="0" algn="ctr">
              <a:buNone/>
            </a:pPr>
            <a:r>
              <a:rPr lang="fr-FR" sz="3100" dirty="0">
                <a:solidFill>
                  <a:srgbClr val="00B0F0"/>
                </a:solidFill>
              </a:rPr>
              <a:t>Manipulation des Vues </a:t>
            </a:r>
          </a:p>
          <a:p>
            <a:pPr lvl="1">
              <a:buFont typeface="Wingdings" panose="05000000000000000000" pitchFamily="2" charset="2"/>
              <a:buChar char="ü"/>
            </a:pPr>
            <a:r>
              <a:rPr lang="fr-FR" sz="2900" dirty="0">
                <a:solidFill>
                  <a:srgbClr val="00B0F0"/>
                </a:solidFill>
              </a:rPr>
              <a:t>Rendu des vues pour les collections</a:t>
            </a:r>
            <a:endParaRPr lang="fr-FR" sz="2900" b="1" i="1" dirty="0">
              <a:solidFill>
                <a:schemeClr val="tx1"/>
              </a:solidFill>
            </a:endParaRPr>
          </a:p>
          <a:p>
            <a:pPr marL="0" indent="0">
              <a:buNone/>
            </a:pPr>
            <a:r>
              <a:rPr lang="fr-FR" sz="2900" dirty="0">
                <a:solidFill>
                  <a:srgbClr val="7030A0"/>
                </a:solidFill>
                <a:latin typeface="Times New Roman" panose="02020603050405020304" pitchFamily="18" charset="0"/>
                <a:cs typeface="Times New Roman" panose="02020603050405020304" pitchFamily="18" charset="0"/>
              </a:rPr>
              <a:t>@</a:t>
            </a:r>
            <a:r>
              <a:rPr lang="fr-FR" sz="2900" dirty="0" err="1">
                <a:solidFill>
                  <a:srgbClr val="7030A0"/>
                </a:solidFill>
                <a:latin typeface="Times New Roman" panose="02020603050405020304" pitchFamily="18" charset="0"/>
                <a:cs typeface="Times New Roman" panose="02020603050405020304" pitchFamily="18" charset="0"/>
              </a:rPr>
              <a:t>each</a:t>
            </a:r>
            <a:r>
              <a:rPr lang="fr-FR" sz="2900" dirty="0">
                <a:solidFill>
                  <a:srgbClr val="7030A0"/>
                </a:solidFill>
                <a:latin typeface="Times New Roman" panose="02020603050405020304" pitchFamily="18" charset="0"/>
                <a:cs typeface="Times New Roman" panose="02020603050405020304" pitchFamily="18" charset="0"/>
              </a:rPr>
              <a:t> </a:t>
            </a:r>
            <a:r>
              <a:rPr lang="fr-FR" sz="2900" dirty="0">
                <a:latin typeface="Times New Roman" panose="02020603050405020304" pitchFamily="18" charset="0"/>
                <a:cs typeface="Times New Roman" panose="02020603050405020304" pitchFamily="18" charset="0"/>
              </a:rPr>
              <a:t>Vous pouvez combiner des boucles et des inclusions en une seule ligne avec la directive de Blade </a:t>
            </a:r>
            <a:r>
              <a:rPr lang="fr-FR" sz="2200" dirty="0">
                <a:latin typeface="Times New Roman" panose="02020603050405020304" pitchFamily="18" charset="0"/>
                <a:cs typeface="Times New Roman" panose="02020603050405020304" pitchFamily="18" charset="0"/>
              </a:rPr>
              <a:t>:</a:t>
            </a:r>
            <a:endParaRPr lang="fr-FR" sz="2200" b="1" dirty="0">
              <a:solidFill>
                <a:srgbClr val="002060"/>
              </a:solidFill>
              <a:latin typeface="Times New Roman" panose="02020603050405020304" pitchFamily="18" charset="0"/>
              <a:cs typeface="Times New Roman" panose="02020603050405020304" pitchFamily="18" charset="0"/>
            </a:endParaRPr>
          </a:p>
          <a:p>
            <a:pPr marL="0" indent="0">
              <a:buNone/>
            </a:pPr>
            <a:endParaRPr lang="fr-FR" sz="2200" b="1" dirty="0">
              <a:solidFill>
                <a:srgbClr val="002060"/>
              </a:solidFill>
              <a:latin typeface="Times New Roman" panose="02020603050405020304" pitchFamily="18" charset="0"/>
              <a:cs typeface="Times New Roman" panose="02020603050405020304" pitchFamily="18" charset="0"/>
            </a:endParaRPr>
          </a:p>
          <a:p>
            <a:pPr marL="0" indent="0">
              <a:buNone/>
            </a:pPr>
            <a:r>
              <a:rPr lang="fr-FR" sz="2900" dirty="0">
                <a:latin typeface="Times New Roman" panose="02020603050405020304" pitchFamily="18" charset="0"/>
                <a:cs typeface="Times New Roman" panose="02020603050405020304" pitchFamily="18" charset="0"/>
              </a:rPr>
              <a:t>Le </a:t>
            </a:r>
            <a:r>
              <a:rPr lang="fr-FR" sz="2900" dirty="0">
                <a:solidFill>
                  <a:srgbClr val="7030A0"/>
                </a:solidFill>
                <a:latin typeface="Times New Roman" panose="02020603050405020304" pitchFamily="18" charset="0"/>
                <a:cs typeface="Times New Roman" panose="02020603050405020304" pitchFamily="18" charset="0"/>
              </a:rPr>
              <a:t>@</a:t>
            </a:r>
            <a:r>
              <a:rPr lang="fr-FR" sz="2900" dirty="0" err="1">
                <a:solidFill>
                  <a:srgbClr val="7030A0"/>
                </a:solidFill>
                <a:latin typeface="Times New Roman" panose="02020603050405020304" pitchFamily="18" charset="0"/>
                <a:cs typeface="Times New Roman" panose="02020603050405020304" pitchFamily="18" charset="0"/>
              </a:rPr>
              <a:t>each</a:t>
            </a:r>
            <a:r>
              <a:rPr lang="fr-FR" sz="2900" dirty="0">
                <a:solidFill>
                  <a:srgbClr val="7030A0"/>
                </a:solidFill>
                <a:latin typeface="Times New Roman" panose="02020603050405020304" pitchFamily="18" charset="0"/>
                <a:cs typeface="Times New Roman" panose="02020603050405020304" pitchFamily="18" charset="0"/>
              </a:rPr>
              <a:t> </a:t>
            </a:r>
            <a:r>
              <a:rPr lang="fr-FR" sz="2900" dirty="0">
                <a:latin typeface="Times New Roman" panose="02020603050405020304" pitchFamily="18" charset="0"/>
                <a:cs typeface="Times New Roman" panose="02020603050405020304" pitchFamily="18" charset="0"/>
              </a:rPr>
              <a:t>premier argument de la directive est la vue à afficher pour chaque élément du tableau ou de la collection. Le deuxième argument est le tableau ou la collection sur laquelle vous souhaitez itérer, tandis que le troisième argument est le nom de la variable qui sera attribué à l'itération actuelle dans la vue. Ainsi, par exemple, si vous itérez sur un tableau de </a:t>
            </a:r>
            <a:r>
              <a:rPr lang="fr-FR" sz="2900" dirty="0">
                <a:solidFill>
                  <a:srgbClr val="C00000"/>
                </a:solidFill>
                <a:latin typeface="Times New Roman" panose="02020603050405020304" pitchFamily="18" charset="0"/>
                <a:cs typeface="Times New Roman" panose="02020603050405020304" pitchFamily="18" charset="0"/>
              </a:rPr>
              <a:t>jobs</a:t>
            </a:r>
            <a:r>
              <a:rPr lang="fr-FR" sz="2900" dirty="0">
                <a:latin typeface="Times New Roman" panose="02020603050405020304" pitchFamily="18" charset="0"/>
                <a:cs typeface="Times New Roman" panose="02020603050405020304" pitchFamily="18" charset="0"/>
              </a:rPr>
              <a:t>, vous souhaiterez généralement accéder à chaque travail en tant que </a:t>
            </a:r>
            <a:r>
              <a:rPr lang="fr-FR" sz="2900" dirty="0">
                <a:solidFill>
                  <a:srgbClr val="C00000"/>
                </a:solidFill>
                <a:latin typeface="Times New Roman" panose="02020603050405020304" pitchFamily="18" charset="0"/>
                <a:cs typeface="Times New Roman" panose="02020603050405020304" pitchFamily="18" charset="0"/>
              </a:rPr>
              <a:t>job</a:t>
            </a:r>
            <a:r>
              <a:rPr lang="fr-FR" sz="2900" dirty="0">
                <a:latin typeface="Times New Roman" panose="02020603050405020304" pitchFamily="18" charset="0"/>
                <a:cs typeface="Times New Roman" panose="02020603050405020304" pitchFamily="18" charset="0"/>
              </a:rPr>
              <a:t> variable dans la vue. La clé de tableau pour l'itération actuelle sera disponible en tant que </a:t>
            </a:r>
            <a:r>
              <a:rPr lang="fr-FR" sz="2900" dirty="0">
                <a:solidFill>
                  <a:srgbClr val="C00000"/>
                </a:solidFill>
                <a:latin typeface="Times New Roman" panose="02020603050405020304" pitchFamily="18" charset="0"/>
                <a:cs typeface="Times New Roman" panose="02020603050405020304" pitchFamily="18" charset="0"/>
              </a:rPr>
              <a:t>key</a:t>
            </a:r>
            <a:r>
              <a:rPr lang="fr-FR" sz="2900" dirty="0">
                <a:latin typeface="Times New Roman" panose="02020603050405020304" pitchFamily="18" charset="0"/>
                <a:cs typeface="Times New Roman" panose="02020603050405020304" pitchFamily="18" charset="0"/>
              </a:rPr>
              <a:t> variable dans la vue.</a:t>
            </a:r>
          </a:p>
          <a:p>
            <a:pPr marL="0" indent="0">
              <a:buNone/>
            </a:pPr>
            <a:r>
              <a:rPr lang="fr-FR" sz="2900" dirty="0">
                <a:latin typeface="Times New Roman" panose="02020603050405020304" pitchFamily="18" charset="0"/>
                <a:cs typeface="Times New Roman" panose="02020603050405020304" pitchFamily="18" charset="0"/>
              </a:rPr>
              <a:t>Vous pouvez également passer un quatrième argument à la </a:t>
            </a:r>
            <a:r>
              <a:rPr lang="fr-FR" sz="2900" dirty="0">
                <a:solidFill>
                  <a:srgbClr val="7030A0"/>
                </a:solidFill>
                <a:latin typeface="Times New Roman" panose="02020603050405020304" pitchFamily="18" charset="0"/>
                <a:cs typeface="Times New Roman" panose="02020603050405020304" pitchFamily="18" charset="0"/>
              </a:rPr>
              <a:t>@</a:t>
            </a:r>
            <a:r>
              <a:rPr lang="fr-FR" sz="2900" dirty="0" err="1">
                <a:solidFill>
                  <a:srgbClr val="7030A0"/>
                </a:solidFill>
                <a:latin typeface="Times New Roman" panose="02020603050405020304" pitchFamily="18" charset="0"/>
                <a:cs typeface="Times New Roman" panose="02020603050405020304" pitchFamily="18" charset="0"/>
              </a:rPr>
              <a:t>each</a:t>
            </a:r>
            <a:r>
              <a:rPr lang="fr-FR" sz="2900" dirty="0">
                <a:solidFill>
                  <a:srgbClr val="7030A0"/>
                </a:solidFill>
                <a:latin typeface="Times New Roman" panose="02020603050405020304" pitchFamily="18" charset="0"/>
                <a:cs typeface="Times New Roman" panose="02020603050405020304" pitchFamily="18" charset="0"/>
              </a:rPr>
              <a:t> </a:t>
            </a:r>
            <a:r>
              <a:rPr lang="fr-FR" sz="2900" dirty="0">
                <a:latin typeface="Times New Roman" panose="02020603050405020304" pitchFamily="18" charset="0"/>
                <a:cs typeface="Times New Roman" panose="02020603050405020304" pitchFamily="18" charset="0"/>
              </a:rPr>
              <a:t>directive. Cet argument détermine la vue qui sera rendue si le tableau donné est vide.</a:t>
            </a:r>
          </a:p>
          <a:p>
            <a:pPr marL="0" indent="0">
              <a:buNone/>
            </a:pPr>
            <a:endParaRPr lang="fr-FR" sz="2200" dirty="0">
              <a:latin typeface="Times New Roman" panose="02020603050405020304" pitchFamily="18" charset="0"/>
              <a:cs typeface="Times New Roman" panose="02020603050405020304" pitchFamily="18" charset="0"/>
            </a:endParaRPr>
          </a:p>
          <a:p>
            <a:pPr marL="0" indent="0">
              <a:buNone/>
            </a:pPr>
            <a:endParaRPr lang="fr-FR" sz="2200" dirty="0">
              <a:latin typeface="Times New Roman" panose="02020603050405020304" pitchFamily="18" charset="0"/>
              <a:cs typeface="Times New Roman" panose="02020603050405020304" pitchFamily="18" charset="0"/>
            </a:endParaRPr>
          </a:p>
        </p:txBody>
      </p:sp>
      <p:sp>
        <p:nvSpPr>
          <p:cNvPr id="8" name="Rectangle : coins arrondis 7">
            <a:extLst>
              <a:ext uri="{FF2B5EF4-FFF2-40B4-BE49-F238E27FC236}">
                <a16:creationId xmlns:a16="http://schemas.microsoft.com/office/drawing/2014/main" id="{93EC65CE-A029-4E71-8B2A-0AD8DA7B5142}"/>
              </a:ext>
            </a:extLst>
          </p:cNvPr>
          <p:cNvSpPr/>
          <p:nvPr/>
        </p:nvSpPr>
        <p:spPr>
          <a:xfrm>
            <a:off x="3851920" y="2852936"/>
            <a:ext cx="3645767" cy="46805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C792EA"/>
                </a:solidFill>
                <a:latin typeface="source-code-pro"/>
              </a:rPr>
              <a:t>@each</a:t>
            </a:r>
            <a:r>
              <a:rPr lang="en-US" sz="2000" dirty="0">
                <a:solidFill>
                  <a:srgbClr val="BFC7D5"/>
                </a:solidFill>
                <a:latin typeface="source-code-pro"/>
              </a:rPr>
              <a:t>(</a:t>
            </a:r>
            <a:r>
              <a:rPr lang="en-US" sz="2000" dirty="0">
                <a:solidFill>
                  <a:srgbClr val="D9F5DD"/>
                </a:solidFill>
                <a:latin typeface="source-code-pro"/>
              </a:rPr>
              <a:t>'</a:t>
            </a:r>
            <a:r>
              <a:rPr lang="en-US" sz="2000" dirty="0">
                <a:solidFill>
                  <a:srgbClr val="C3E88D"/>
                </a:solidFill>
                <a:latin typeface="source-code-pro"/>
              </a:rPr>
              <a:t>view.name</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BEC5D4"/>
                </a:solidFill>
                <a:latin typeface="source-code-pro"/>
              </a:rPr>
              <a:t>$jobs</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job</a:t>
            </a:r>
            <a:r>
              <a:rPr lang="en-US" sz="2000" dirty="0">
                <a:solidFill>
                  <a:srgbClr val="D9F5DD"/>
                </a:solidFill>
                <a:latin typeface="source-code-pro"/>
              </a:rPr>
              <a:t>'</a:t>
            </a:r>
            <a:r>
              <a:rPr lang="en-US" sz="2000" dirty="0">
                <a:solidFill>
                  <a:srgbClr val="BFC7D5"/>
                </a:solidFill>
                <a:latin typeface="source-code-pro"/>
              </a:rPr>
              <a:t>)</a:t>
            </a:r>
            <a:endParaRPr lang="en-US" sz="2000" dirty="0">
              <a:solidFill>
                <a:srgbClr val="232323"/>
              </a:solidFill>
              <a:latin typeface="source-code-pro"/>
            </a:endParaRPr>
          </a:p>
        </p:txBody>
      </p:sp>
      <p:sp>
        <p:nvSpPr>
          <p:cNvPr id="7" name="Rectangle : coins arrondis 6">
            <a:extLst>
              <a:ext uri="{FF2B5EF4-FFF2-40B4-BE49-F238E27FC236}">
                <a16:creationId xmlns:a16="http://schemas.microsoft.com/office/drawing/2014/main" id="{C1DBF597-41E0-4750-ACBD-68318853EE84}"/>
              </a:ext>
            </a:extLst>
          </p:cNvPr>
          <p:cNvSpPr/>
          <p:nvPr/>
        </p:nvSpPr>
        <p:spPr>
          <a:xfrm>
            <a:off x="2051721" y="5943382"/>
            <a:ext cx="5445966" cy="46805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C792EA"/>
                </a:solidFill>
                <a:latin typeface="source-code-pro"/>
              </a:rPr>
              <a:t>@each</a:t>
            </a:r>
            <a:r>
              <a:rPr lang="en-US" sz="2000" dirty="0">
                <a:solidFill>
                  <a:srgbClr val="BFC7D5"/>
                </a:solidFill>
                <a:latin typeface="source-code-pro"/>
              </a:rPr>
              <a:t>(</a:t>
            </a:r>
            <a:r>
              <a:rPr lang="en-US" sz="2000" dirty="0">
                <a:solidFill>
                  <a:srgbClr val="D9F5DD"/>
                </a:solidFill>
                <a:latin typeface="source-code-pro"/>
              </a:rPr>
              <a:t>'</a:t>
            </a:r>
            <a:r>
              <a:rPr lang="en-US" sz="2000" dirty="0">
                <a:solidFill>
                  <a:srgbClr val="C3E88D"/>
                </a:solidFill>
                <a:latin typeface="source-code-pro"/>
              </a:rPr>
              <a:t>view.name</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BEC5D4"/>
                </a:solidFill>
                <a:latin typeface="source-code-pro"/>
              </a:rPr>
              <a:t>$jobs</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job</a:t>
            </a:r>
            <a:r>
              <a:rPr lang="en-US" sz="2000" dirty="0">
                <a:solidFill>
                  <a:srgbClr val="D9F5DD"/>
                </a:solidFill>
                <a:latin typeface="source-code-pro"/>
              </a:rPr>
              <a:t>'</a:t>
            </a:r>
            <a:r>
              <a:rPr lang="en-US" sz="2000" dirty="0">
                <a:solidFill>
                  <a:srgbClr val="BFC7D5"/>
                </a:solidFill>
                <a:latin typeface="source-code-pro"/>
              </a:rPr>
              <a:t>, </a:t>
            </a:r>
            <a:r>
              <a:rPr lang="en-US" sz="2000" dirty="0">
                <a:solidFill>
                  <a:srgbClr val="D9F5DD"/>
                </a:solidFill>
                <a:latin typeface="source-code-pro"/>
              </a:rPr>
              <a:t>'</a:t>
            </a:r>
            <a:r>
              <a:rPr lang="en-US" sz="2000" dirty="0">
                <a:solidFill>
                  <a:srgbClr val="C3E88D"/>
                </a:solidFill>
                <a:latin typeface="source-code-pro"/>
              </a:rPr>
              <a:t>view.empty</a:t>
            </a:r>
            <a:r>
              <a:rPr lang="en-US" sz="2000" dirty="0">
                <a:solidFill>
                  <a:srgbClr val="D9F5DD"/>
                </a:solidFill>
                <a:latin typeface="source-code-pro"/>
              </a:rPr>
              <a:t>'</a:t>
            </a:r>
            <a:r>
              <a:rPr lang="en-US" sz="2000" dirty="0">
                <a:solidFill>
                  <a:srgbClr val="BFC7D5"/>
                </a:solidFill>
                <a:latin typeface="source-code-pro"/>
              </a:rPr>
              <a:t>)</a:t>
            </a:r>
            <a:endParaRPr lang="en-US" sz="2000" dirty="0">
              <a:solidFill>
                <a:srgbClr val="232323"/>
              </a:solidFill>
              <a:latin typeface="source-code-pro"/>
            </a:endParaRPr>
          </a:p>
        </p:txBody>
      </p:sp>
    </p:spTree>
    <p:extLst>
      <p:ext uri="{BB962C8B-B14F-4D97-AF65-F5344CB8AC3E}">
        <p14:creationId xmlns:p14="http://schemas.microsoft.com/office/powerpoint/2010/main" val="2696241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1">
              <a:buFont typeface="Wingdings" panose="05000000000000000000" pitchFamily="2" charset="2"/>
              <a:buChar char="ü"/>
            </a:pPr>
            <a:r>
              <a:rPr lang="fr-FR" sz="2000" dirty="0">
                <a:solidFill>
                  <a:srgbClr val="00B0F0"/>
                </a:solidFill>
              </a:rPr>
              <a:t>Les composants</a:t>
            </a:r>
            <a:endParaRPr lang="fr-FR" sz="2000" b="1" i="1" dirty="0">
              <a:solidFill>
                <a:schemeClr val="tx1"/>
              </a:solidFill>
            </a:endParaRPr>
          </a:p>
          <a:p>
            <a:pPr marL="0" indent="0">
              <a:buNone/>
            </a:pPr>
            <a:r>
              <a:rPr lang="fr-FR" sz="2000" dirty="0">
                <a:latin typeface="Times New Roman" panose="02020603050405020304" pitchFamily="18" charset="0"/>
                <a:cs typeface="Times New Roman" panose="02020603050405020304" pitchFamily="18" charset="0"/>
              </a:rPr>
              <a:t>Les composants et les emplacements offrent des avantages similaires aux sections, aux mises en page et aux inclusions ; cependant, certains peuvent trouver le modèle mental des composants et des emplacements plus facile à comprendre. Il existe deux approches pour écrire des composants : les composants basés sur des classes et les composants anonymes.</a:t>
            </a:r>
            <a:endParaRPr lang="fr-FR" sz="2400" b="1" dirty="0">
              <a:solidFill>
                <a:srgbClr val="002060"/>
              </a:solidFill>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Créer un composant basé sur une classe, placera le composant dans le dossier </a:t>
            </a:r>
            <a:r>
              <a:rPr lang="fr-FR" sz="2000" b="1" i="1" dirty="0">
                <a:latin typeface="Times New Roman" panose="02020603050405020304" pitchFamily="18" charset="0"/>
                <a:cs typeface="Times New Roman" panose="02020603050405020304" pitchFamily="18" charset="0"/>
              </a:rPr>
              <a:t>app/View/Components</a:t>
            </a:r>
          </a:p>
          <a:p>
            <a:pPr marL="0" indent="0">
              <a:buNone/>
            </a:pPr>
            <a:endParaRPr lang="fr-FR" sz="2000" b="1" i="1" dirty="0">
              <a:latin typeface="Times New Roman" panose="02020603050405020304" pitchFamily="18" charset="0"/>
              <a:cs typeface="Times New Roman" panose="02020603050405020304" pitchFamily="18" charset="0"/>
            </a:endParaRPr>
          </a:p>
          <a:p>
            <a:pPr marL="0" indent="0">
              <a:buNone/>
            </a:pPr>
            <a:r>
              <a:rPr lang="fr-FR" sz="2000" dirty="0">
                <a:latin typeface="Times New Roman" panose="02020603050405020304" pitchFamily="18" charset="0"/>
                <a:cs typeface="Times New Roman" panose="02020603050405020304" pitchFamily="18" charset="0"/>
              </a:rPr>
              <a:t>Créera également un modèle de vue pour le composant. La vue sera placée dans le dossier </a:t>
            </a:r>
            <a:r>
              <a:rPr lang="fr-FR" sz="2000" b="1" i="1" dirty="0">
                <a:latin typeface="Times New Roman" panose="02020603050405020304" pitchFamily="18" charset="0"/>
                <a:cs typeface="Times New Roman" panose="02020603050405020304" pitchFamily="18" charset="0"/>
              </a:rPr>
              <a:t>resources/views/components</a:t>
            </a:r>
            <a:r>
              <a:rPr lang="fr-FR" sz="2000" dirty="0">
                <a:latin typeface="Times New Roman" panose="02020603050405020304" pitchFamily="18" charset="0"/>
                <a:cs typeface="Times New Roman" panose="02020603050405020304" pitchFamily="18" charset="0"/>
              </a:rPr>
              <a:t>.</a:t>
            </a:r>
          </a:p>
        </p:txBody>
      </p:sp>
      <p:sp>
        <p:nvSpPr>
          <p:cNvPr id="6" name="Rectangle : coins arrondis 5">
            <a:extLst>
              <a:ext uri="{FF2B5EF4-FFF2-40B4-BE49-F238E27FC236}">
                <a16:creationId xmlns:a16="http://schemas.microsoft.com/office/drawing/2014/main" id="{04B62C57-27EC-431F-8C1E-B0B0FFB5B95B}"/>
              </a:ext>
            </a:extLst>
          </p:cNvPr>
          <p:cNvSpPr/>
          <p:nvPr/>
        </p:nvSpPr>
        <p:spPr>
          <a:xfrm>
            <a:off x="4427984" y="4941168"/>
            <a:ext cx="4037704" cy="43204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00B0F0"/>
                </a:solidFill>
                <a:latin typeface="inherit"/>
              </a:rPr>
              <a:t>php artisan </a:t>
            </a:r>
            <a:r>
              <a:rPr lang="en-US" sz="2000" dirty="0">
                <a:solidFill>
                  <a:srgbClr val="C00000"/>
                </a:solidFill>
                <a:latin typeface="inherit"/>
              </a:rPr>
              <a:t>make:component </a:t>
            </a:r>
            <a:r>
              <a:rPr lang="en-US" sz="2000" dirty="0">
                <a:solidFill>
                  <a:srgbClr val="00B050"/>
                </a:solidFill>
                <a:latin typeface="inherit"/>
              </a:rPr>
              <a:t>Alert</a:t>
            </a:r>
            <a:endParaRPr lang="en-US" sz="2000" dirty="0">
              <a:solidFill>
                <a:srgbClr val="00B050"/>
              </a:solidFill>
              <a:latin typeface="Source Code Pro"/>
            </a:endParaRPr>
          </a:p>
        </p:txBody>
      </p:sp>
    </p:spTree>
    <p:extLst>
      <p:ext uri="{BB962C8B-B14F-4D97-AF65-F5344CB8AC3E}">
        <p14:creationId xmlns:p14="http://schemas.microsoft.com/office/powerpoint/2010/main" val="3793806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1">
              <a:buFont typeface="Wingdings" panose="05000000000000000000" pitchFamily="2" charset="2"/>
              <a:buChar char="ü"/>
            </a:pPr>
            <a:r>
              <a:rPr lang="fr-FR" sz="2000" dirty="0">
                <a:solidFill>
                  <a:srgbClr val="00B0F0"/>
                </a:solidFill>
              </a:rPr>
              <a:t>Les composants(suite)</a:t>
            </a:r>
            <a:endParaRPr lang="fr-FR" sz="2000" b="1" i="1" dirty="0">
              <a:solidFill>
                <a:schemeClr val="tx1"/>
              </a:solidFill>
            </a:endParaRPr>
          </a:p>
          <a:p>
            <a:pPr marL="0" indent="0">
              <a:buNone/>
            </a:pPr>
            <a:r>
              <a:rPr lang="fr-FR" sz="2000" dirty="0">
                <a:latin typeface="Times New Roman" panose="02020603050405020304" pitchFamily="18" charset="0"/>
                <a:cs typeface="Times New Roman" panose="02020603050405020304" pitchFamily="18" charset="0"/>
              </a:rPr>
              <a:t>Lors de l'écriture de composants pour votre propre application, les composants sont automatiquement découverts dans le dossier </a:t>
            </a:r>
            <a:r>
              <a:rPr lang="fr-FR" sz="2000" b="1" i="1" dirty="0">
                <a:latin typeface="Times New Roman" panose="02020603050405020304" pitchFamily="18" charset="0"/>
                <a:cs typeface="Times New Roman" panose="02020603050405020304" pitchFamily="18" charset="0"/>
              </a:rPr>
              <a:t>app/View/Components </a:t>
            </a:r>
            <a:r>
              <a:rPr lang="fr-FR" sz="2000" dirty="0">
                <a:latin typeface="Times New Roman" panose="02020603050405020304" pitchFamily="18" charset="0"/>
                <a:cs typeface="Times New Roman" panose="02020603050405020304" pitchFamily="18" charset="0"/>
              </a:rPr>
              <a:t>et le dossier </a:t>
            </a:r>
            <a:r>
              <a:rPr lang="fr-FR" sz="2000" b="1" i="1" dirty="0">
                <a:latin typeface="Times New Roman" panose="02020603050405020304" pitchFamily="18" charset="0"/>
                <a:cs typeface="Times New Roman" panose="02020603050405020304" pitchFamily="18" charset="0"/>
              </a:rPr>
              <a:t>resources/views/components</a:t>
            </a:r>
            <a:r>
              <a:rPr lang="fr-FR" sz="2000" dirty="0">
                <a:latin typeface="Times New Roman" panose="02020603050405020304" pitchFamily="18" charset="0"/>
                <a:cs typeface="Times New Roman" panose="02020603050405020304" pitchFamily="18" charset="0"/>
              </a:rPr>
              <a:t>, de sorte qu'aucun autre enregistrement de composant n'est généralement requis.</a:t>
            </a:r>
          </a:p>
          <a:p>
            <a:pPr marL="0" indent="0">
              <a:buNone/>
            </a:pPr>
            <a:r>
              <a:rPr lang="fr-FR" sz="2000" dirty="0">
                <a:latin typeface="Times New Roman" panose="02020603050405020304" pitchFamily="18" charset="0"/>
                <a:cs typeface="Times New Roman" panose="02020603050405020304" pitchFamily="18" charset="0"/>
              </a:rPr>
              <a:t>Vous pouvez également créer des composants dans des sous-répertoires :</a:t>
            </a:r>
          </a:p>
          <a:p>
            <a:pPr marL="0" indent="0">
              <a:buNone/>
            </a:pPr>
            <a:endParaRPr lang="fr-FR" sz="2000" dirty="0">
              <a:latin typeface="Times New Roman" panose="02020603050405020304" pitchFamily="18" charset="0"/>
              <a:cs typeface="Times New Roman" panose="02020603050405020304" pitchFamily="18" charset="0"/>
            </a:endParaRPr>
          </a:p>
          <a:p>
            <a:pPr marL="0" indent="0">
              <a:buNone/>
            </a:pPr>
            <a:endParaRPr lang="fr-FR" sz="2000" dirty="0">
              <a:latin typeface="Times New Roman" panose="02020603050405020304" pitchFamily="18" charset="0"/>
              <a:cs typeface="Times New Roman" panose="02020603050405020304" pitchFamily="18" charset="0"/>
            </a:endParaRPr>
          </a:p>
          <a:p>
            <a:pPr marL="0" indent="0">
              <a:buNone/>
            </a:pPr>
            <a:r>
              <a:rPr lang="fr-FR" sz="2000" dirty="0">
                <a:latin typeface="Times New Roman" panose="02020603050405020304" pitchFamily="18" charset="0"/>
                <a:cs typeface="Times New Roman" panose="02020603050405020304" pitchFamily="18" charset="0"/>
              </a:rPr>
              <a:t>La commande ci-dessus créera un </a:t>
            </a:r>
            <a:r>
              <a:rPr lang="fr-FR" sz="2000" b="1" dirty="0">
                <a:solidFill>
                  <a:srgbClr val="C00000"/>
                </a:solidFill>
                <a:latin typeface="Times New Roman" panose="02020603050405020304" pitchFamily="18" charset="0"/>
                <a:cs typeface="Times New Roman" panose="02020603050405020304" pitchFamily="18" charset="0"/>
              </a:rPr>
              <a:t>Input</a:t>
            </a:r>
            <a:r>
              <a:rPr lang="fr-FR" sz="2000" dirty="0">
                <a:latin typeface="Times New Roman" panose="02020603050405020304" pitchFamily="18" charset="0"/>
                <a:cs typeface="Times New Roman" panose="02020603050405020304" pitchFamily="18" charset="0"/>
              </a:rPr>
              <a:t> composant dans le dossier  </a:t>
            </a:r>
            <a:r>
              <a:rPr lang="fr-FR" sz="2000" b="1" i="1" dirty="0">
                <a:latin typeface="Times New Roman" panose="02020603050405020304" pitchFamily="18" charset="0"/>
                <a:cs typeface="Times New Roman" panose="02020603050405020304" pitchFamily="18" charset="0"/>
              </a:rPr>
              <a:t>app/View/Components/Forms </a:t>
            </a:r>
            <a:r>
              <a:rPr lang="fr-FR" sz="2000" dirty="0">
                <a:latin typeface="Times New Roman" panose="02020603050405020304" pitchFamily="18" charset="0"/>
                <a:cs typeface="Times New Roman" panose="02020603050405020304" pitchFamily="18" charset="0"/>
              </a:rPr>
              <a:t>et la vue sera placée dans le dossier </a:t>
            </a:r>
            <a:r>
              <a:rPr lang="fr-FR" sz="2000" b="1" i="1" dirty="0">
                <a:latin typeface="Times New Roman" panose="02020603050405020304" pitchFamily="18" charset="0"/>
                <a:cs typeface="Times New Roman" panose="02020603050405020304" pitchFamily="18" charset="0"/>
              </a:rPr>
              <a:t>resources/views/components/forms</a:t>
            </a:r>
            <a:r>
              <a:rPr lang="fr-FR" sz="2000" dirty="0">
                <a:latin typeface="Times New Roman" panose="02020603050405020304" pitchFamily="18" charset="0"/>
                <a:cs typeface="Times New Roman" panose="02020603050405020304" pitchFamily="18" charset="0"/>
              </a:rPr>
              <a:t>.</a:t>
            </a:r>
          </a:p>
        </p:txBody>
      </p:sp>
      <p:sp>
        <p:nvSpPr>
          <p:cNvPr id="6" name="Rectangle : coins arrondis 5">
            <a:extLst>
              <a:ext uri="{FF2B5EF4-FFF2-40B4-BE49-F238E27FC236}">
                <a16:creationId xmlns:a16="http://schemas.microsoft.com/office/drawing/2014/main" id="{04B62C57-27EC-431F-8C1E-B0B0FFB5B95B}"/>
              </a:ext>
            </a:extLst>
          </p:cNvPr>
          <p:cNvSpPr/>
          <p:nvPr/>
        </p:nvSpPr>
        <p:spPr>
          <a:xfrm>
            <a:off x="1907704" y="4581128"/>
            <a:ext cx="4683148" cy="43204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00B0F0"/>
                </a:solidFill>
                <a:latin typeface="inherit"/>
              </a:rPr>
              <a:t>php artisan </a:t>
            </a:r>
            <a:r>
              <a:rPr lang="en-US" sz="2000" dirty="0">
                <a:solidFill>
                  <a:srgbClr val="C00000"/>
                </a:solidFill>
                <a:latin typeface="inherit"/>
              </a:rPr>
              <a:t>make:component </a:t>
            </a:r>
            <a:r>
              <a:rPr lang="en-US" sz="2000" dirty="0">
                <a:solidFill>
                  <a:srgbClr val="00B050"/>
                </a:solidFill>
                <a:latin typeface="inherit"/>
              </a:rPr>
              <a:t>Forms/Input</a:t>
            </a:r>
            <a:endParaRPr lang="en-US" sz="2000" dirty="0">
              <a:solidFill>
                <a:srgbClr val="00B050"/>
              </a:solidFill>
              <a:latin typeface="Source Code Pro"/>
            </a:endParaRPr>
          </a:p>
        </p:txBody>
      </p:sp>
    </p:spTree>
    <p:extLst>
      <p:ext uri="{BB962C8B-B14F-4D97-AF65-F5344CB8AC3E}">
        <p14:creationId xmlns:p14="http://schemas.microsoft.com/office/powerpoint/2010/main" val="3321377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Manipulation des Vues </a:t>
            </a:r>
          </a:p>
          <a:p>
            <a:pPr lvl="1">
              <a:buFont typeface="Wingdings" panose="05000000000000000000" pitchFamily="2" charset="2"/>
              <a:buChar char="ü"/>
            </a:pPr>
            <a:r>
              <a:rPr lang="fr-FR" sz="2000" dirty="0">
                <a:solidFill>
                  <a:srgbClr val="00B0F0"/>
                </a:solidFill>
              </a:rPr>
              <a:t>Les composants(suite)</a:t>
            </a:r>
            <a:endParaRPr lang="fr-FR" sz="2000" b="1" i="1" dirty="0">
              <a:solidFill>
                <a:schemeClr val="tx1"/>
              </a:solidFill>
            </a:endParaRPr>
          </a:p>
          <a:p>
            <a:r>
              <a:rPr lang="fr-FR" sz="2000" dirty="0">
                <a:latin typeface="Times New Roman" panose="02020603050405020304" pitchFamily="18" charset="0"/>
                <a:cs typeface="Times New Roman" panose="02020603050405020304" pitchFamily="18" charset="0"/>
              </a:rPr>
              <a:t>Créer un composant anonyme (un composant avec uniquement un modèle Blade et aucune classe)</a:t>
            </a:r>
            <a:endParaRPr lang="fr-FR" sz="2000" b="1" i="1" dirty="0">
              <a:latin typeface="Times New Roman" panose="02020603050405020304" pitchFamily="18" charset="0"/>
              <a:cs typeface="Times New Roman" panose="02020603050405020304" pitchFamily="18" charset="0"/>
            </a:endParaRPr>
          </a:p>
          <a:p>
            <a:pPr marL="0" indent="0">
              <a:buNone/>
            </a:pPr>
            <a:endParaRPr lang="fr-FR" sz="2000" b="1" i="1" dirty="0">
              <a:latin typeface="Times New Roman" panose="02020603050405020304" pitchFamily="18" charset="0"/>
              <a:cs typeface="Times New Roman" panose="02020603050405020304" pitchFamily="18" charset="0"/>
            </a:endParaRPr>
          </a:p>
          <a:p>
            <a:pPr marL="0" indent="0">
              <a:buNone/>
            </a:pPr>
            <a:endParaRPr lang="fr-FR" sz="2000" b="1" i="1" dirty="0">
              <a:latin typeface="Times New Roman" panose="02020603050405020304" pitchFamily="18" charset="0"/>
              <a:cs typeface="Times New Roman" panose="02020603050405020304" pitchFamily="18" charset="0"/>
            </a:endParaRPr>
          </a:p>
          <a:p>
            <a:pPr marL="0" indent="0">
              <a:buNone/>
            </a:pPr>
            <a:r>
              <a:rPr lang="fr-FR" sz="2000" dirty="0">
                <a:latin typeface="Times New Roman" panose="02020603050405020304" pitchFamily="18" charset="0"/>
                <a:cs typeface="Times New Roman" panose="02020603050405020304" pitchFamily="18" charset="0"/>
              </a:rPr>
              <a:t>Créera un fichier Blade </a:t>
            </a:r>
            <a:r>
              <a:rPr lang="fr-FR" sz="2000" b="1" i="1" dirty="0">
                <a:latin typeface="Times New Roman" panose="02020603050405020304" pitchFamily="18" charset="0"/>
                <a:cs typeface="Times New Roman" panose="02020603050405020304" pitchFamily="18" charset="0"/>
              </a:rPr>
              <a:t>resources/views/components/forms/input.blade.php </a:t>
            </a:r>
            <a:r>
              <a:rPr lang="fr-FR" sz="2000" dirty="0">
                <a:latin typeface="Times New Roman" panose="02020603050405020304" pitchFamily="18" charset="0"/>
                <a:cs typeface="Times New Roman" panose="02020603050405020304" pitchFamily="18" charset="0"/>
              </a:rPr>
              <a:t>qui peut être rendu en tant que composant via </a:t>
            </a:r>
            <a:r>
              <a:rPr lang="fr-FR" sz="2000" b="1" dirty="0">
                <a:latin typeface="Times New Roman" panose="02020603050405020304" pitchFamily="18" charset="0"/>
                <a:cs typeface="Times New Roman" panose="02020603050405020304" pitchFamily="18" charset="0"/>
              </a:rPr>
              <a:t>&lt;x-forms.input /&gt;.</a:t>
            </a:r>
          </a:p>
          <a:p>
            <a:pPr marL="0" indent="0">
              <a:buNone/>
            </a:pPr>
            <a:endParaRPr lang="fr-FR" sz="2000" b="1" dirty="0">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04B62C57-27EC-431F-8C1E-B0B0FFB5B95B}"/>
              </a:ext>
            </a:extLst>
          </p:cNvPr>
          <p:cNvSpPr/>
          <p:nvPr/>
        </p:nvSpPr>
        <p:spPr>
          <a:xfrm>
            <a:off x="2123728" y="3630724"/>
            <a:ext cx="5333848" cy="43204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00B0F0"/>
                </a:solidFill>
                <a:latin typeface="inherit"/>
              </a:rPr>
              <a:t>php artisan </a:t>
            </a:r>
            <a:r>
              <a:rPr lang="en-US" sz="2000" dirty="0">
                <a:solidFill>
                  <a:srgbClr val="C00000"/>
                </a:solidFill>
                <a:latin typeface="inherit"/>
              </a:rPr>
              <a:t>make:component </a:t>
            </a:r>
            <a:r>
              <a:rPr lang="en-US" sz="2000" dirty="0">
                <a:solidFill>
                  <a:srgbClr val="00B050"/>
                </a:solidFill>
                <a:latin typeface="inherit"/>
              </a:rPr>
              <a:t>forms.input </a:t>
            </a:r>
            <a:r>
              <a:rPr lang="en-US" sz="2000" dirty="0">
                <a:solidFill>
                  <a:srgbClr val="0070C0"/>
                </a:solidFill>
                <a:latin typeface="inherit"/>
              </a:rPr>
              <a:t>--view</a:t>
            </a:r>
            <a:endParaRPr lang="en-US" sz="2000" dirty="0">
              <a:solidFill>
                <a:srgbClr val="0070C0"/>
              </a:solidFill>
              <a:latin typeface="Source Code Pro"/>
            </a:endParaRPr>
          </a:p>
        </p:txBody>
      </p:sp>
    </p:spTree>
    <p:extLst>
      <p:ext uri="{BB962C8B-B14F-4D97-AF65-F5344CB8AC3E}">
        <p14:creationId xmlns:p14="http://schemas.microsoft.com/office/powerpoint/2010/main" val="205791671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2113</TotalTime>
  <Words>2354</Words>
  <Application>Microsoft Office PowerPoint</Application>
  <PresentationFormat>Affichage à l'écran (4:3)</PresentationFormat>
  <Paragraphs>254</Paragraphs>
  <Slides>20</Slides>
  <Notes>0</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20</vt:i4>
      </vt:variant>
    </vt:vector>
  </HeadingPairs>
  <TitlesOfParts>
    <vt:vector size="31" baseType="lpstr">
      <vt:lpstr>Angsana New</vt:lpstr>
      <vt:lpstr>Arial</vt:lpstr>
      <vt:lpstr>Calibri</vt:lpstr>
      <vt:lpstr>Courier New</vt:lpstr>
      <vt:lpstr>inherit</vt:lpstr>
      <vt:lpstr>SFMono-Regular</vt:lpstr>
      <vt:lpstr>Source Code Pro</vt:lpstr>
      <vt:lpstr>source-code-pro</vt:lpstr>
      <vt:lpstr>Times New Roman</vt:lpstr>
      <vt:lpstr>Wingdings</vt:lpstr>
      <vt:lpstr>Thème Office</vt:lpstr>
      <vt:lpstr>Présentation PowerPoint</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 DOT NET Langage VB.NET Réalisé par M. Hamid Belyazidi Année Scolaire 2011/2012 </dc:title>
  <dc:creator>Belyazidi</dc:creator>
  <cp:lastModifiedBy>HAMID BELYAZIDI</cp:lastModifiedBy>
  <cp:revision>319</cp:revision>
  <dcterms:created xsi:type="dcterms:W3CDTF">2011-10-01T12:57:10Z</dcterms:created>
  <dcterms:modified xsi:type="dcterms:W3CDTF">2025-10-09T13:02:42Z</dcterms:modified>
</cp:coreProperties>
</file>