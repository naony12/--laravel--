
<file path=[Content_Types].xml><?xml version="1.0" encoding="utf-8"?>
<Types xmlns="http://schemas.openxmlformats.org/package/2006/content-types">
  <Default Extension="jpeg" ContentType="image/jpe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79" r:id="rId3"/>
    <p:sldId id="282" r:id="rId4"/>
    <p:sldId id="323" r:id="rId5"/>
    <p:sldId id="324" r:id="rId6"/>
    <p:sldId id="325" r:id="rId7"/>
    <p:sldId id="326" r:id="rId8"/>
    <p:sldId id="327" r:id="rId9"/>
    <p:sldId id="328" r:id="rId10"/>
    <p:sldId id="329" r:id="rId11"/>
    <p:sldId id="330" r:id="rId12"/>
    <p:sldId id="331" r:id="rId13"/>
    <p:sldId id="332" r:id="rId14"/>
    <p:sldId id="333" r:id="rId15"/>
    <p:sldId id="334" r:id="rId16"/>
    <p:sldId id="335" r:id="rId17"/>
    <p:sldId id="336" r:id="rId18"/>
    <p:sldId id="337" r:id="rId19"/>
    <p:sldId id="338" r:id="rId20"/>
    <p:sldId id="339" r:id="rId21"/>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291" autoAdjust="0"/>
  </p:normalViewPr>
  <p:slideViewPr>
    <p:cSldViewPr>
      <p:cViewPr varScale="1">
        <p:scale>
          <a:sx n="70" d="100"/>
          <a:sy n="70" d="100"/>
        </p:scale>
        <p:origin x="1386" y="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02/10/2025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02/10/2025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02/10/2025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02/10/2025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DECD4C85-A4FC-445A-8CEF-D1C520D6A608}" type="datetimeFigureOut">
              <a:rPr lang="fr-FR" smtClean="0"/>
              <a:pPr/>
              <a:t>02/10/2025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DECD4C85-A4FC-445A-8CEF-D1C520D6A608}" type="datetimeFigureOut">
              <a:rPr lang="fr-FR" smtClean="0"/>
              <a:pPr/>
              <a:t>02/10/2025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ECD4C85-A4FC-445A-8CEF-D1C520D6A608}" type="datetimeFigureOut">
              <a:rPr lang="fr-FR" smtClean="0"/>
              <a:pPr/>
              <a:t>02/10/2025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02/10/2025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02/10/2025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02/10/2025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02/10/2025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D4C85-A4FC-445A-8CEF-D1C520D6A608}" type="datetimeFigureOut">
              <a:rPr lang="fr-FR" smtClean="0"/>
              <a:pPr/>
              <a:t>02/10/2025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027249-2045-409D-A865-90E3C3AB8354}"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webp"/><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CC8FE52E-C8A6-526A-FE8D-9E903455EB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12" name="Rectangle : coins arrondis 11">
            <a:extLst>
              <a:ext uri="{FF2B5EF4-FFF2-40B4-BE49-F238E27FC236}">
                <a16:creationId xmlns:a16="http://schemas.microsoft.com/office/drawing/2014/main" id="{83837E31-76B9-4358-BD34-E36AC93E87F7}"/>
              </a:ext>
            </a:extLst>
          </p:cNvPr>
          <p:cNvSpPr/>
          <p:nvPr/>
        </p:nvSpPr>
        <p:spPr>
          <a:xfrm>
            <a:off x="1818159" y="901657"/>
            <a:ext cx="5472608" cy="522317"/>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428596" y="1500174"/>
            <a:ext cx="8229600" cy="4525963"/>
          </a:xfrm>
        </p:spPr>
        <p:txBody>
          <a:bodyPr/>
          <a:lstStyle/>
          <a:p>
            <a:pPr marL="514350" indent="-514350">
              <a:buNone/>
            </a:pPr>
            <a:endParaRPr lang="fr-FR" u="sng" dirty="0">
              <a:solidFill>
                <a:schemeClr val="tx1">
                  <a:lumMod val="95000"/>
                  <a:lumOff val="5000"/>
                </a:schemeClr>
              </a:solidFill>
            </a:endParaRPr>
          </a:p>
          <a:p>
            <a:pPr>
              <a:buNone/>
            </a:pPr>
            <a:endParaRPr lang="fr-FR" dirty="0"/>
          </a:p>
        </p:txBody>
      </p:sp>
      <p:pic>
        <p:nvPicPr>
          <p:cNvPr id="9" name="Image 8">
            <a:extLst>
              <a:ext uri="{FF2B5EF4-FFF2-40B4-BE49-F238E27FC236}">
                <a16:creationId xmlns:a16="http://schemas.microsoft.com/office/drawing/2014/main" id="{27108DB9-4B51-4327-BAA9-34CE9E2C27A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165113"/>
            <a:ext cx="864096" cy="704850"/>
          </a:xfrm>
          <a:prstGeom prst="rect">
            <a:avLst/>
          </a:prstGeom>
          <a:noFill/>
          <a:ln>
            <a:noFill/>
          </a:ln>
        </p:spPr>
      </p:pic>
      <p:graphicFrame>
        <p:nvGraphicFramePr>
          <p:cNvPr id="7" name="Tableau 6">
            <a:extLst>
              <a:ext uri="{FF2B5EF4-FFF2-40B4-BE49-F238E27FC236}">
                <a16:creationId xmlns:a16="http://schemas.microsoft.com/office/drawing/2014/main" id="{670F5631-B51C-4E5A-A708-40AE055435D7}"/>
              </a:ext>
            </a:extLst>
          </p:cNvPr>
          <p:cNvGraphicFramePr>
            <a:graphicFrameLocks noGrp="1"/>
          </p:cNvGraphicFramePr>
          <p:nvPr>
            <p:extLst>
              <p:ext uri="{D42A27DB-BD31-4B8C-83A1-F6EECF244321}">
                <p14:modId xmlns:p14="http://schemas.microsoft.com/office/powerpoint/2010/main" val="3075449119"/>
              </p:ext>
            </p:extLst>
          </p:nvPr>
        </p:nvGraphicFramePr>
        <p:xfrm>
          <a:off x="1259632" y="479438"/>
          <a:ext cx="6124575" cy="314325"/>
        </p:xfrm>
        <a:graphic>
          <a:graphicData uri="http://schemas.openxmlformats.org/drawingml/2006/table">
            <a:tbl>
              <a:tblPr/>
              <a:tblGrid>
                <a:gridCol w="6124575">
                  <a:extLst>
                    <a:ext uri="{9D8B030D-6E8A-4147-A177-3AD203B41FA5}">
                      <a16:colId xmlns:a16="http://schemas.microsoft.com/office/drawing/2014/main" val="399840801"/>
                    </a:ext>
                  </a:extLst>
                </a:gridCol>
              </a:tblGrid>
              <a:tr h="314325">
                <a:tc>
                  <a:txBody>
                    <a:bodyPr/>
                    <a:lstStyle/>
                    <a:p>
                      <a:pPr algn="ctr">
                        <a:lnSpc>
                          <a:spcPct val="115000"/>
                        </a:lnSpc>
                        <a:spcBef>
                          <a:spcPts val="1200"/>
                        </a:spcBef>
                        <a:spcAft>
                          <a:spcPts val="1200"/>
                        </a:spcAft>
                      </a:pPr>
                      <a:r>
                        <a:rPr lang="fr-FR" sz="1400" b="1" i="1" dirty="0">
                          <a:effectLst/>
                          <a:latin typeface="Calibri" panose="020F0502020204030204" pitchFamily="34" charset="0"/>
                          <a:ea typeface="Times New Roman" panose="02020603050405020304" pitchFamily="18" charset="0"/>
                          <a:cs typeface="Arial" panose="020B0604020202020204" pitchFamily="34" charset="0"/>
                        </a:rPr>
                        <a:t>Direction Régionale Rabat – Salé - Kénitra</a:t>
                      </a:r>
                      <a:endParaRPr lang="fr-FR" sz="1000" dirty="0">
                        <a:effectLst/>
                        <a:latin typeface="Times New Roman" panose="02020603050405020304" pitchFamily="18" charset="0"/>
                        <a:ea typeface="Times New Roman" panose="02020603050405020304" pitchFamily="18" charset="0"/>
                      </a:endParaRPr>
                    </a:p>
                  </a:txBody>
                  <a:tcPr marL="44450" marR="4445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3340731"/>
                  </a:ext>
                </a:extLst>
              </a:tr>
            </a:tbl>
          </a:graphicData>
        </a:graphic>
      </p:graphicFrame>
      <p:sp>
        <p:nvSpPr>
          <p:cNvPr id="8" name="Rectangle 7">
            <a:extLst>
              <a:ext uri="{FF2B5EF4-FFF2-40B4-BE49-F238E27FC236}">
                <a16:creationId xmlns:a16="http://schemas.microsoft.com/office/drawing/2014/main" id="{389DDFF2-F8CB-41BE-B914-4AF57B786865}"/>
              </a:ext>
            </a:extLst>
          </p:cNvPr>
          <p:cNvSpPr/>
          <p:nvPr/>
        </p:nvSpPr>
        <p:spPr>
          <a:xfrm>
            <a:off x="6783409" y="6287016"/>
            <a:ext cx="2188420" cy="369332"/>
          </a:xfrm>
          <a:prstGeom prst="rect">
            <a:avLst/>
          </a:prstGeom>
        </p:spPr>
        <p:txBody>
          <a:bodyPr wrap="none">
            <a:spAutoFit/>
          </a:bodyPr>
          <a:lstStyle/>
          <a:p>
            <a:pPr algn="ctr"/>
            <a:r>
              <a:rPr lang="fr-FR" b="1" i="1" dirty="0">
                <a:solidFill>
                  <a:srgbClr val="FF0000"/>
                </a:solidFill>
                <a:latin typeface="Angsana New" pitchFamily="18" charset="-34"/>
                <a:cs typeface="Angsana New" pitchFamily="18" charset="-34"/>
              </a:rPr>
              <a:t>Réalisé par M. Hamid </a:t>
            </a:r>
            <a:r>
              <a:rPr lang="fr-FR" b="1" i="1" dirty="0" err="1">
                <a:solidFill>
                  <a:srgbClr val="FF0000"/>
                </a:solidFill>
                <a:latin typeface="Angsana New" pitchFamily="18" charset="-34"/>
                <a:cs typeface="Angsana New" pitchFamily="18" charset="-34"/>
              </a:rPr>
              <a:t>Belyazidi</a:t>
            </a:r>
            <a:endParaRPr lang="fr-FR" b="1" i="1" dirty="0">
              <a:solidFill>
                <a:srgbClr val="FF0000"/>
              </a:solidFill>
              <a:latin typeface="Angsana New" pitchFamily="18" charset="-34"/>
              <a:cs typeface="Angsana New" pitchFamily="18" charset="-34"/>
            </a:endParaRPr>
          </a:p>
        </p:txBody>
      </p:sp>
      <p:sp>
        <p:nvSpPr>
          <p:cNvPr id="10" name="Rectangle 9">
            <a:extLst>
              <a:ext uri="{FF2B5EF4-FFF2-40B4-BE49-F238E27FC236}">
                <a16:creationId xmlns:a16="http://schemas.microsoft.com/office/drawing/2014/main" id="{43E213D3-8E98-4129-BEC2-FBE648C34139}"/>
              </a:ext>
            </a:extLst>
          </p:cNvPr>
          <p:cNvSpPr/>
          <p:nvPr/>
        </p:nvSpPr>
        <p:spPr>
          <a:xfrm>
            <a:off x="6784214" y="148206"/>
            <a:ext cx="2186817" cy="369332"/>
          </a:xfrm>
          <a:prstGeom prst="rect">
            <a:avLst/>
          </a:prstGeom>
        </p:spPr>
        <p:txBody>
          <a:bodyPr wrap="none">
            <a:spAutoFit/>
          </a:bodyPr>
          <a:lstStyle/>
          <a:p>
            <a:pPr algn="ctr"/>
            <a:r>
              <a:rPr lang="fr-FR" b="1" i="1" dirty="0">
                <a:latin typeface="Angsana New" pitchFamily="18" charset="-34"/>
                <a:cs typeface="Angsana New" pitchFamily="18" charset="-34"/>
              </a:rPr>
              <a:t>Année de formation :2025/2026</a:t>
            </a:r>
          </a:p>
        </p:txBody>
      </p:sp>
      <p:sp>
        <p:nvSpPr>
          <p:cNvPr id="11" name="Rectangle 10">
            <a:extLst>
              <a:ext uri="{FF2B5EF4-FFF2-40B4-BE49-F238E27FC236}">
                <a16:creationId xmlns:a16="http://schemas.microsoft.com/office/drawing/2014/main" id="{B7A9E4E8-707B-4C64-92ED-A5F3701B082E}"/>
              </a:ext>
            </a:extLst>
          </p:cNvPr>
          <p:cNvSpPr/>
          <p:nvPr/>
        </p:nvSpPr>
        <p:spPr>
          <a:xfrm>
            <a:off x="1853233" y="892617"/>
            <a:ext cx="5328592" cy="468077"/>
          </a:xfrm>
          <a:prstGeom prst="rect">
            <a:avLst/>
          </a:prstGeom>
        </p:spPr>
        <p:txBody>
          <a:bodyPr wrap="square">
            <a:spAutoFit/>
          </a:bodyPr>
          <a:lstStyle/>
          <a:p>
            <a:pPr algn="ctr">
              <a:lnSpc>
                <a:spcPct val="107000"/>
              </a:lnSpc>
              <a:spcAft>
                <a:spcPts val="800"/>
              </a:spcAft>
            </a:pPr>
            <a:r>
              <a:rPr lang="fr-FR" sz="2400" b="1" dirty="0">
                <a:solidFill>
                  <a:schemeClr val="accent1">
                    <a:lumMod val="75000"/>
                  </a:schemeClr>
                </a:solidFill>
                <a:latin typeface="Times New Roman" panose="02020603050405020304" pitchFamily="18" charset="0"/>
                <a:ea typeface="Calibri" panose="020F0502020204030204" pitchFamily="34" charset="0"/>
                <a:cs typeface="Arial" panose="020B0604020202020204" pitchFamily="34" charset="0"/>
              </a:rPr>
              <a:t>Développer en back-end</a:t>
            </a:r>
            <a:endParaRPr lang="fr-FR" sz="2400" dirty="0">
              <a:solidFill>
                <a:schemeClr val="accent1">
                  <a:lumMod val="75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46F5AEB-5EF8-495E-97C3-D51D6A6A9F31}"/>
              </a:ext>
            </a:extLst>
          </p:cNvPr>
          <p:cNvSpPr/>
          <p:nvPr/>
        </p:nvSpPr>
        <p:spPr>
          <a:xfrm>
            <a:off x="485804" y="5970327"/>
            <a:ext cx="2850852" cy="523220"/>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gn="ctr"/>
            <a:r>
              <a:rPr lang="fr-FR" sz="2800" dirty="0"/>
              <a:t>Template BLADE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0" indent="0">
              <a:buNone/>
            </a:pPr>
            <a:r>
              <a:rPr lang="fr-FR" sz="2400" b="1" dirty="0">
                <a:solidFill>
                  <a:srgbClr val="002060"/>
                </a:solidFill>
                <a:latin typeface="Times New Roman" panose="02020603050405020304" pitchFamily="18" charset="0"/>
                <a:cs typeface="Times New Roman" panose="02020603050405020304" pitchFamily="18" charset="0"/>
              </a:rPr>
              <a:t>Introduction</a:t>
            </a: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Découvrir les notions fondamentales des </a:t>
            </a:r>
            <a:r>
              <a:rPr lang="fr-FR" sz="1600" dirty="0" err="1">
                <a:solidFill>
                  <a:schemeClr val="tx1"/>
                </a:solidFill>
                <a:latin typeface="Times New Roman" panose="02020603050405020304" pitchFamily="18" charset="0"/>
                <a:cs typeface="Times New Roman" panose="02020603050405020304" pitchFamily="18" charset="0"/>
              </a:rPr>
              <a:t>Frameworks</a:t>
            </a:r>
            <a:r>
              <a:rPr lang="fr-FR" sz="1600" dirty="0">
                <a:solidFill>
                  <a:schemeClr val="tx1"/>
                </a:solidFill>
                <a:latin typeface="Times New Roman" panose="02020603050405020304" pitchFamily="18" charset="0"/>
                <a:cs typeface="Times New Roman" panose="02020603050405020304" pitchFamily="18" charset="0"/>
              </a:rPr>
              <a:t> PHP</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Préparer l’environnement de Laravel</a:t>
            </a:r>
            <a:endParaRPr lang="fr-FR" sz="2400" dirty="0">
              <a:solidFill>
                <a:schemeClr val="tx1"/>
              </a:solidFill>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Programmer avec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Connaître les fondements du modèle MVC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Maîtriser le Framework Laravel</a:t>
            </a:r>
            <a:endParaRPr lang="fr-FR" sz="2400" dirty="0">
              <a:latin typeface="Times New Roman" panose="02020603050405020304" pitchFamily="18" charset="0"/>
              <a:cs typeface="Times New Roman" panose="02020603050405020304" pitchFamily="18" charset="0"/>
            </a:endParaRP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Approfondir la programmation Laravel</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Gérer la sécurité</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Interagir avec la base de données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l’ORM Eloquent</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Prendre en charge les tests</a:t>
            </a:r>
            <a:endParaRPr lang="fr-FR" sz="2400" dirty="0">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Administrer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éléments essentiels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Personnaliser graphiquement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outils avancés d’un CMS</a:t>
            </a:r>
          </a:p>
          <a:p>
            <a:pPr marL="0" lvl="1" indent="0">
              <a:buNone/>
            </a:pPr>
            <a:r>
              <a:rPr lang="fr-FR" sz="2400" b="1" dirty="0">
                <a:solidFill>
                  <a:srgbClr val="002060"/>
                </a:solidFill>
                <a:latin typeface="Times New Roman" panose="02020603050405020304" pitchFamily="18" charset="0"/>
                <a:cs typeface="Times New Roman" panose="02020603050405020304" pitchFamily="18" charset="0"/>
              </a:rPr>
              <a:t>Conclusion</a:t>
            </a:r>
          </a:p>
          <a:p>
            <a:pPr marL="457200" lvl="0" indent="-457200">
              <a:buFont typeface="+mj-lt"/>
              <a:buAutoNum type="alphaUcPeriod"/>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48747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Gestion du routage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Utilisation des Middleware (définition, enregistrement, paramétrage, terminate)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Protection CSRF</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contrôleurs</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requêtes http</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réponses http</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vues</a:t>
            </a:r>
          </a:p>
          <a:p>
            <a:pPr lvl="2">
              <a:buFont typeface="Wingdings" panose="05000000000000000000" pitchFamily="2" charset="2"/>
              <a:buChar char="ü"/>
            </a:pPr>
            <a:r>
              <a:rPr lang="fr-FR" sz="2200" b="1" dirty="0">
                <a:solidFill>
                  <a:srgbClr val="00B050"/>
                </a:solidFill>
                <a:latin typeface="Times New Roman" panose="02020603050405020304" pitchFamily="18" charset="0"/>
                <a:cs typeface="Times New Roman" panose="02020603050405020304" pitchFamily="18" charset="0"/>
              </a:rPr>
              <a:t>Création des template Blade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Génération d’URL</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sessions HTTP</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Validation des données d’entrée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Gestion des erreurs</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Journalisation (</a:t>
            </a:r>
            <a:r>
              <a:rPr lang="fr-FR" sz="2200" dirty="0" err="1">
                <a:latin typeface="Times New Roman" panose="02020603050405020304" pitchFamily="18" charset="0"/>
                <a:cs typeface="Times New Roman" panose="02020603050405020304" pitchFamily="18" charset="0"/>
              </a:rPr>
              <a:t>logging</a:t>
            </a:r>
            <a:r>
              <a:rPr lang="fr-FR" sz="2200" dirty="0">
                <a:latin typeface="Times New Roman" panose="02020603050405020304" pitchFamily="18" charset="0"/>
                <a:cs typeface="Times New Roman" panose="02020603050405020304" pitchFamily="18" charset="0"/>
              </a:rPr>
              <a:t>)</a:t>
            </a:r>
          </a:p>
          <a:p>
            <a:pPr lvl="2">
              <a:buFont typeface="Wingdings" panose="05000000000000000000" pitchFamily="2" charset="2"/>
              <a:buChar char="ü"/>
            </a:pPr>
            <a:endParaRPr lang="fr-FR" sz="2000" dirty="0">
              <a:latin typeface="Times New Roman" panose="02020603050405020304" pitchFamily="18" charset="0"/>
              <a:cs typeface="Times New Roman" panose="02020603050405020304" pitchFamily="18" charset="0"/>
            </a:endParaRP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lvl="1" indent="-342900">
              <a:buFont typeface="+mj-lt"/>
              <a:buAutoNum type="arabicPeriod"/>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74851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Création des Template Blade</a:t>
            </a:r>
          </a:p>
          <a:p>
            <a:pPr lvl="2">
              <a:buFont typeface="Wingdings" panose="05000000000000000000" pitchFamily="2" charset="2"/>
              <a:buChar char="ü"/>
            </a:pPr>
            <a:r>
              <a:rPr lang="fr-FR" sz="2200" dirty="0">
                <a:solidFill>
                  <a:srgbClr val="00B0F0"/>
                </a:solidFill>
              </a:rPr>
              <a:t>Définition</a:t>
            </a:r>
            <a:endParaRPr lang="fr-FR" sz="2000" dirty="0">
              <a:latin typeface="Times New Roman" panose="02020603050405020304" pitchFamily="18" charset="0"/>
              <a:cs typeface="Times New Roman" panose="02020603050405020304" pitchFamily="18" charset="0"/>
            </a:endParaRPr>
          </a:p>
          <a:p>
            <a:pPr marL="400050" lvl="1" indent="0">
              <a:buNone/>
            </a:pPr>
            <a:r>
              <a:rPr lang="fr-FR" sz="2000" b="1" dirty="0">
                <a:latin typeface="Times New Roman" panose="02020603050405020304" pitchFamily="18" charset="0"/>
                <a:cs typeface="Times New Roman" panose="02020603050405020304" pitchFamily="18" charset="0"/>
              </a:rPr>
              <a:t>Blade</a:t>
            </a:r>
            <a:r>
              <a:rPr lang="fr-FR" sz="2000" dirty="0">
                <a:latin typeface="Times New Roman" panose="02020603050405020304" pitchFamily="18" charset="0"/>
                <a:cs typeface="Times New Roman" panose="02020603050405020304" pitchFamily="18" charset="0"/>
              </a:rPr>
              <a:t> est le moteur de Template utilisé par Laravel. Son but est de permettre d’utiliser du PHP sur notre vue mais d’une manière assez particulière. Pour créer un fichier qui utilise le moteur de Template Blade il vous faut ajouter l’extension </a:t>
            </a:r>
            <a:r>
              <a:rPr lang="fr-FR" sz="2000" b="1" i="1" dirty="0">
                <a:latin typeface="Times New Roman" panose="02020603050405020304" pitchFamily="18" charset="0"/>
                <a:cs typeface="Times New Roman" panose="02020603050405020304" pitchFamily="18" charset="0"/>
              </a:rPr>
              <a:t>“.blade.php”. </a:t>
            </a:r>
            <a:r>
              <a:rPr lang="fr-FR" sz="2000" dirty="0">
                <a:latin typeface="Times New Roman" panose="02020603050405020304" pitchFamily="18" charset="0"/>
                <a:cs typeface="Times New Roman" panose="02020603050405020304" pitchFamily="18" charset="0"/>
              </a:rPr>
              <a:t>Comme nous l’avons vu dans la présentation de l’architecture de Laravel, les fichiers de vos vues se situent dans le dossier </a:t>
            </a:r>
            <a:r>
              <a:rPr lang="fr-FR" sz="2000" b="1" i="1" dirty="0">
                <a:latin typeface="Times New Roman" panose="02020603050405020304" pitchFamily="18" charset="0"/>
                <a:cs typeface="Times New Roman" panose="02020603050405020304" pitchFamily="18" charset="0"/>
              </a:rPr>
              <a:t>resources/views</a:t>
            </a:r>
            <a:r>
              <a:rPr lang="fr-FR" sz="2000" dirty="0">
                <a:latin typeface="Times New Roman" panose="02020603050405020304" pitchFamily="18" charset="0"/>
                <a:cs typeface="Times New Roman" panose="02020603050405020304" pitchFamily="18" charset="0"/>
              </a:rPr>
              <a:t>.</a:t>
            </a:r>
          </a:p>
          <a:p>
            <a:pPr marL="400050" lvl="1" indent="0">
              <a:buNone/>
            </a:pPr>
            <a:r>
              <a:rPr lang="fr-FR" sz="2000" dirty="0">
                <a:latin typeface="Times New Roman" panose="02020603050405020304" pitchFamily="18" charset="0"/>
                <a:cs typeface="Times New Roman" panose="02020603050405020304" pitchFamily="18" charset="0"/>
              </a:rPr>
              <a:t>La première fonctionnalité la plus basique de Blade est l’affichage d’une simple variable :</a:t>
            </a:r>
          </a:p>
          <a:p>
            <a:pPr marL="400050" lvl="1" indent="0">
              <a:buNone/>
            </a:pPr>
            <a:r>
              <a:rPr lang="fr-FR" sz="2000" dirty="0">
                <a:latin typeface="Times New Roman" panose="02020603050405020304" pitchFamily="18" charset="0"/>
                <a:cs typeface="Times New Roman" panose="02020603050405020304" pitchFamily="18" charset="0"/>
              </a:rPr>
              <a:t>Exemple : </a:t>
            </a:r>
          </a:p>
          <a:p>
            <a:pPr marL="400050" lvl="1" indent="0">
              <a:buNone/>
            </a:pPr>
            <a:r>
              <a:rPr lang="fr-FR" sz="2000" dirty="0">
                <a:latin typeface="Times New Roman" panose="02020603050405020304" pitchFamily="18" charset="0"/>
                <a:cs typeface="Times New Roman" panose="02020603050405020304" pitchFamily="18" charset="0"/>
              </a:rPr>
              <a:t>Si je transmets à ma vue la variable </a:t>
            </a:r>
            <a:r>
              <a:rPr lang="fr-FR" sz="2000" b="1" i="1" dirty="0">
                <a:solidFill>
                  <a:srgbClr val="0070C0"/>
                </a:solidFill>
                <a:latin typeface="Times New Roman" panose="02020603050405020304" pitchFamily="18" charset="0"/>
                <a:cs typeface="Times New Roman" panose="02020603050405020304" pitchFamily="18" charset="0"/>
              </a:rPr>
              <a:t>$</a:t>
            </a:r>
            <a:r>
              <a:rPr lang="fr-FR" sz="2000" b="1" i="1" dirty="0" err="1">
                <a:solidFill>
                  <a:srgbClr val="0070C0"/>
                </a:solidFill>
                <a:latin typeface="Times New Roman" panose="02020603050405020304" pitchFamily="18" charset="0"/>
                <a:cs typeface="Times New Roman" panose="02020603050405020304" pitchFamily="18" charset="0"/>
              </a:rPr>
              <a:t>maVariable</a:t>
            </a:r>
            <a:r>
              <a:rPr lang="fr-FR" sz="2000" b="1" i="1" dirty="0">
                <a:solidFill>
                  <a:srgbClr val="0070C0"/>
                </a:solidFill>
                <a:latin typeface="Times New Roman" panose="02020603050405020304" pitchFamily="18" charset="0"/>
                <a:cs typeface="Times New Roman" panose="02020603050405020304" pitchFamily="18" charset="0"/>
              </a:rPr>
              <a:t> </a:t>
            </a:r>
            <a:r>
              <a:rPr lang="fr-FR" sz="2000" b="1" i="1" dirty="0">
                <a:latin typeface="Times New Roman" panose="02020603050405020304" pitchFamily="18" charset="0"/>
                <a:cs typeface="Times New Roman" panose="02020603050405020304" pitchFamily="18" charset="0"/>
              </a:rPr>
              <a:t>= ‘</a:t>
            </a:r>
            <a:r>
              <a:rPr lang="fr-FR" sz="2000" b="1" i="1" dirty="0">
                <a:solidFill>
                  <a:srgbClr val="00B050"/>
                </a:solidFill>
                <a:latin typeface="Times New Roman" panose="02020603050405020304" pitchFamily="18" charset="0"/>
                <a:cs typeface="Times New Roman" panose="02020603050405020304" pitchFamily="18" charset="0"/>
              </a:rPr>
              <a:t>Hello World !’ </a:t>
            </a:r>
            <a:r>
              <a:rPr lang="fr-FR" sz="2000" dirty="0">
                <a:latin typeface="Times New Roman" panose="02020603050405020304" pitchFamily="18" charset="0"/>
                <a:cs typeface="Times New Roman" panose="02020603050405020304" pitchFamily="18" charset="0"/>
              </a:rPr>
              <a:t>Dans ma vue </a:t>
            </a:r>
            <a:r>
              <a:rPr lang="fr-FR" sz="2000" b="1" i="1" dirty="0">
                <a:solidFill>
                  <a:schemeClr val="accent6"/>
                </a:solidFill>
                <a:latin typeface="Times New Roman" panose="02020603050405020304" pitchFamily="18" charset="0"/>
                <a:cs typeface="Times New Roman" panose="02020603050405020304" pitchFamily="18" charset="0"/>
              </a:rPr>
              <a:t>{{ $maVaribale }} </a:t>
            </a:r>
            <a:r>
              <a:rPr lang="fr-FR" sz="2000" dirty="0">
                <a:latin typeface="Times New Roman" panose="02020603050405020304" pitchFamily="18" charset="0"/>
                <a:cs typeface="Times New Roman" panose="02020603050405020304" pitchFamily="18" charset="0"/>
              </a:rPr>
              <a:t>affichera </a:t>
            </a:r>
            <a:r>
              <a:rPr lang="fr-FR" sz="2000" dirty="0">
                <a:solidFill>
                  <a:srgbClr val="00B050"/>
                </a:solidFill>
                <a:latin typeface="Times New Roman" panose="02020603050405020304" pitchFamily="18" charset="0"/>
                <a:cs typeface="Times New Roman" panose="02020603050405020304" pitchFamily="18" charset="0"/>
              </a:rPr>
              <a:t>‘Hello World’ </a:t>
            </a:r>
            <a:r>
              <a:rPr lang="fr-FR" sz="2000" dirty="0">
                <a:latin typeface="Times New Roman" panose="02020603050405020304" pitchFamily="18" charset="0"/>
                <a:cs typeface="Times New Roman" panose="02020603050405020304" pitchFamily="18" charset="0"/>
              </a:rPr>
              <a:t>.</a:t>
            </a:r>
          </a:p>
          <a:p>
            <a:pPr lvl="1" indent="-342900">
              <a:buFont typeface="+mj-lt"/>
              <a:buAutoNum type="arabicPeriod"/>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12648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Création des Template Blade</a:t>
            </a:r>
          </a:p>
          <a:p>
            <a:pPr algn="ctr">
              <a:buFont typeface="Wingdings" panose="05000000000000000000" pitchFamily="2" charset="2"/>
              <a:buChar char="ü"/>
            </a:pPr>
            <a:r>
              <a:rPr lang="fr-FR" sz="2400" dirty="0">
                <a:solidFill>
                  <a:srgbClr val="00B0F0"/>
                </a:solidFill>
              </a:rPr>
              <a:t>Pour vous permettre de ne pas échapper les caractères html</a:t>
            </a:r>
            <a:endParaRPr lang="fr-FR" sz="2400" dirty="0">
              <a:latin typeface="Times New Roman" panose="02020603050405020304" pitchFamily="18" charset="0"/>
              <a:cs typeface="Times New Roman" panose="02020603050405020304" pitchFamily="18" charset="0"/>
            </a:endParaRPr>
          </a:p>
          <a:p>
            <a:pPr marL="400050" lvl="1" indent="0">
              <a:buNone/>
            </a:pPr>
            <a:r>
              <a:rPr lang="fr-FR" sz="2000" b="1" i="1" u="sng" dirty="0">
                <a:latin typeface="Times New Roman" panose="02020603050405020304" pitchFamily="18" charset="0"/>
                <a:cs typeface="Times New Roman" panose="02020603050405020304" pitchFamily="18" charset="0"/>
              </a:rPr>
              <a:t>Exemple </a:t>
            </a:r>
          </a:p>
          <a:p>
            <a:pPr marL="400050" lvl="1" indent="0">
              <a:buNone/>
            </a:pPr>
            <a:endParaRPr lang="fr-FR" sz="1800" dirty="0">
              <a:latin typeface="Times New Roman" panose="02020603050405020304" pitchFamily="18" charset="0"/>
              <a:cs typeface="Times New Roman" panose="02020603050405020304" pitchFamily="18" charset="0"/>
            </a:endParaRPr>
          </a:p>
          <a:p>
            <a:pPr marL="0" indent="0">
              <a:buNone/>
            </a:pPr>
            <a:r>
              <a:rPr lang="fr-FR" sz="2000" dirty="0">
                <a:solidFill>
                  <a:srgbClr val="0070C0"/>
                </a:solidFill>
                <a:latin typeface="Times New Roman" panose="02020603050405020304" pitchFamily="18" charset="0"/>
                <a:cs typeface="Times New Roman" panose="02020603050405020304" pitchFamily="18" charset="0"/>
              </a:rPr>
              <a:t>  $mavariable </a:t>
            </a:r>
            <a:r>
              <a:rPr lang="fr-FR" sz="2000" dirty="0">
                <a:solidFill>
                  <a:srgbClr val="00B050"/>
                </a:solidFill>
                <a:latin typeface="Times New Roman" panose="02020603050405020304" pitchFamily="18" charset="0"/>
                <a:cs typeface="Times New Roman" panose="02020603050405020304" pitchFamily="18" charset="0"/>
              </a:rPr>
              <a:t>= '&lt;h1&gt;Mon Titre&lt;/h1&gt;’;</a:t>
            </a:r>
          </a:p>
          <a:p>
            <a:pPr marL="0" indent="0">
              <a:buNone/>
            </a:pPr>
            <a:r>
              <a:rPr lang="fr-FR" sz="2000" dirty="0">
                <a:solidFill>
                  <a:srgbClr val="0070C0"/>
                </a:solidFill>
                <a:latin typeface="Times New Roman" panose="02020603050405020304" pitchFamily="18" charset="0"/>
                <a:cs typeface="Times New Roman" panose="02020603050405020304" pitchFamily="18" charset="0"/>
              </a:rPr>
              <a:t>  {{ $</a:t>
            </a:r>
            <a:r>
              <a:rPr lang="fr-FR" sz="2000" dirty="0" err="1">
                <a:solidFill>
                  <a:srgbClr val="0070C0"/>
                </a:solidFill>
                <a:latin typeface="Times New Roman" panose="02020603050405020304" pitchFamily="18" charset="0"/>
                <a:cs typeface="Times New Roman" panose="02020603050405020304" pitchFamily="18" charset="0"/>
              </a:rPr>
              <a:t>maVariable</a:t>
            </a:r>
            <a:r>
              <a:rPr lang="fr-FR" sz="2000" dirty="0">
                <a:solidFill>
                  <a:srgbClr val="0070C0"/>
                </a:solidFill>
                <a:latin typeface="Times New Roman" panose="02020603050405020304" pitchFamily="18" charset="0"/>
                <a:cs typeface="Times New Roman" panose="02020603050405020304" pitchFamily="18" charset="0"/>
              </a:rPr>
              <a:t> }}  </a:t>
            </a:r>
            <a:r>
              <a:rPr lang="fr-FR" sz="2000" dirty="0">
                <a:solidFill>
                  <a:schemeClr val="bg1">
                    <a:lumMod val="50000"/>
                  </a:schemeClr>
                </a:solidFill>
                <a:latin typeface="Times New Roman" panose="02020603050405020304" pitchFamily="18" charset="0"/>
                <a:cs typeface="Times New Roman" panose="02020603050405020304" pitchFamily="18" charset="0"/>
              </a:rPr>
              <a:t>&lt;!-- donnera : '&lt;h1&gt;Mon Titre&lt;/h1&gt;' --&gt;</a:t>
            </a:r>
          </a:p>
          <a:p>
            <a:pPr marL="0" indent="0">
              <a:buNone/>
            </a:pPr>
            <a:r>
              <a:rPr lang="fr-FR" sz="2000" dirty="0">
                <a:solidFill>
                  <a:srgbClr val="0070C0"/>
                </a:solidFill>
                <a:latin typeface="Times New Roman" panose="02020603050405020304" pitchFamily="18" charset="0"/>
                <a:cs typeface="Times New Roman" panose="02020603050405020304" pitchFamily="18" charset="0"/>
              </a:rPr>
              <a:t>  {</a:t>
            </a:r>
            <a:r>
              <a:rPr lang="fr-FR" sz="2000" dirty="0">
                <a:solidFill>
                  <a:schemeClr val="accent6"/>
                </a:solidFill>
                <a:latin typeface="Times New Roman" panose="02020603050405020304" pitchFamily="18" charset="0"/>
                <a:cs typeface="Times New Roman" panose="02020603050405020304" pitchFamily="18" charset="0"/>
              </a:rPr>
              <a:t>!!</a:t>
            </a:r>
            <a:r>
              <a:rPr lang="fr-FR" sz="2000" dirty="0">
                <a:solidFill>
                  <a:srgbClr val="0070C0"/>
                </a:solidFill>
                <a:latin typeface="Times New Roman" panose="02020603050405020304" pitchFamily="18" charset="0"/>
                <a:cs typeface="Times New Roman" panose="02020603050405020304" pitchFamily="18" charset="0"/>
              </a:rPr>
              <a:t> $</a:t>
            </a:r>
            <a:r>
              <a:rPr lang="fr-FR" sz="2000" dirty="0" err="1">
                <a:solidFill>
                  <a:srgbClr val="0070C0"/>
                </a:solidFill>
                <a:latin typeface="Times New Roman" panose="02020603050405020304" pitchFamily="18" charset="0"/>
                <a:cs typeface="Times New Roman" panose="02020603050405020304" pitchFamily="18" charset="0"/>
              </a:rPr>
              <a:t>maVariable</a:t>
            </a:r>
            <a:r>
              <a:rPr lang="fr-FR" sz="2000" dirty="0">
                <a:solidFill>
                  <a:srgbClr val="0070C0"/>
                </a:solidFill>
                <a:latin typeface="Times New Roman" panose="02020603050405020304" pitchFamily="18" charset="0"/>
                <a:cs typeface="Times New Roman" panose="02020603050405020304" pitchFamily="18" charset="0"/>
              </a:rPr>
              <a:t> </a:t>
            </a:r>
            <a:r>
              <a:rPr lang="fr-FR" sz="2000" dirty="0">
                <a:solidFill>
                  <a:schemeClr val="accent6"/>
                </a:solidFill>
                <a:latin typeface="Times New Roman" panose="02020603050405020304" pitchFamily="18" charset="0"/>
                <a:cs typeface="Times New Roman" panose="02020603050405020304" pitchFamily="18" charset="0"/>
              </a:rPr>
              <a:t>!!</a:t>
            </a:r>
            <a:r>
              <a:rPr lang="fr-FR" sz="2000" dirty="0">
                <a:solidFill>
                  <a:srgbClr val="0070C0"/>
                </a:solidFill>
                <a:latin typeface="Times New Roman" panose="02020603050405020304" pitchFamily="18" charset="0"/>
                <a:cs typeface="Times New Roman" panose="02020603050405020304" pitchFamily="18" charset="0"/>
              </a:rPr>
              <a:t>}  </a:t>
            </a:r>
            <a:r>
              <a:rPr lang="fr-FR" sz="2000" dirty="0">
                <a:solidFill>
                  <a:schemeClr val="bg1">
                    <a:lumMod val="50000"/>
                  </a:schemeClr>
                </a:solidFill>
                <a:latin typeface="Times New Roman" panose="02020603050405020304" pitchFamily="18" charset="0"/>
                <a:cs typeface="Times New Roman" panose="02020603050405020304" pitchFamily="18" charset="0"/>
              </a:rPr>
              <a:t>&lt;!-- donnera : 'Mon Titre' dans une balise HTML h1 --&gt;</a:t>
            </a: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
        <p:nvSpPr>
          <p:cNvPr id="5" name="Rectangle : coins arrondis 4">
            <a:extLst>
              <a:ext uri="{FF2B5EF4-FFF2-40B4-BE49-F238E27FC236}">
                <a16:creationId xmlns:a16="http://schemas.microsoft.com/office/drawing/2014/main" id="{5B7D8339-1417-46E0-926D-6C918614FC78}"/>
              </a:ext>
            </a:extLst>
          </p:cNvPr>
          <p:cNvSpPr/>
          <p:nvPr/>
        </p:nvSpPr>
        <p:spPr>
          <a:xfrm>
            <a:off x="534572" y="3429000"/>
            <a:ext cx="7997868" cy="1656184"/>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114710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Création des Template Blade</a:t>
            </a:r>
          </a:p>
          <a:p>
            <a:pPr lvl="1">
              <a:buFont typeface="Wingdings" panose="05000000000000000000" pitchFamily="2" charset="2"/>
              <a:buChar char="ü"/>
            </a:pPr>
            <a:r>
              <a:rPr lang="fr-FR" sz="2400" dirty="0">
                <a:solidFill>
                  <a:srgbClr val="00B0F0"/>
                </a:solidFill>
              </a:rPr>
              <a:t>Les structures de contrôle </a:t>
            </a:r>
            <a:endParaRPr lang="fr-FR" sz="2400" dirty="0">
              <a:latin typeface="Times New Roman" panose="02020603050405020304" pitchFamily="18" charset="0"/>
              <a:cs typeface="Times New Roman" panose="02020603050405020304" pitchFamily="18" charset="0"/>
            </a:endParaRPr>
          </a:p>
          <a:p>
            <a:pPr marL="0" indent="0">
              <a:buNone/>
            </a:pPr>
            <a:r>
              <a:rPr lang="fr-FR" sz="2000" dirty="0">
                <a:latin typeface="Times New Roman" panose="02020603050405020304" pitchFamily="18" charset="0"/>
                <a:cs typeface="Times New Roman" panose="02020603050405020304" pitchFamily="18" charset="0"/>
              </a:rPr>
              <a:t>Blade vous permet de manipuler des données comme le ferait le PHP, il vous est donc possible d’utiliser les différentes structures de contrôle PHP existantes. À la différence que leur écriture diffèrent un tout petit peu.</a:t>
            </a:r>
          </a:p>
          <a:p>
            <a:pPr marL="400050" lvl="1" indent="0">
              <a:buNone/>
            </a:pPr>
            <a:endParaRPr lang="fr-FR" sz="1800" dirty="0">
              <a:latin typeface="Times New Roman" panose="02020603050405020304" pitchFamily="18" charset="0"/>
              <a:cs typeface="Times New Roman" panose="02020603050405020304" pitchFamily="18" charset="0"/>
            </a:endParaRPr>
          </a:p>
          <a:p>
            <a:pPr marL="400050" lvl="1" indent="0">
              <a:buNone/>
            </a:pPr>
            <a:r>
              <a:rPr lang="fr-FR" sz="2000" b="1" dirty="0">
                <a:latin typeface="Times New Roman" panose="02020603050405020304" pitchFamily="18" charset="0"/>
                <a:cs typeface="Times New Roman" panose="02020603050405020304" pitchFamily="18" charset="0"/>
              </a:rPr>
              <a:t>Pour mettre en place une condition :</a:t>
            </a:r>
          </a:p>
          <a:p>
            <a:pPr marL="400050" lvl="1" indent="0">
              <a:buNone/>
            </a:pPr>
            <a:endParaRPr lang="fr-FR" sz="2000" b="1" dirty="0">
              <a:latin typeface="Times New Roman" panose="02020603050405020304" pitchFamily="18" charset="0"/>
              <a:cs typeface="Times New Roman" panose="02020603050405020304" pitchFamily="18" charset="0"/>
            </a:endParaRPr>
          </a:p>
          <a:p>
            <a:pPr marL="400050" lvl="1" indent="0">
              <a:buNone/>
            </a:pPr>
            <a:endParaRPr lang="fr-FR" sz="1800" dirty="0">
              <a:latin typeface="Times New Roman" panose="02020603050405020304" pitchFamily="18" charset="0"/>
              <a:cs typeface="Times New Roman" panose="02020603050405020304" pitchFamily="18" charset="0"/>
            </a:endParaRPr>
          </a:p>
          <a:p>
            <a:pPr marL="0" indent="0" algn="ctr">
              <a:buNone/>
            </a:pPr>
            <a:r>
              <a:rPr lang="fr-FR" sz="2400" dirty="0">
                <a:solidFill>
                  <a:srgbClr val="7030A0"/>
                </a:solidFill>
                <a:latin typeface="Times New Roman" panose="02020603050405020304" pitchFamily="18" charset="0"/>
                <a:cs typeface="Times New Roman" panose="02020603050405020304" pitchFamily="18" charset="0"/>
              </a:rPr>
              <a:t>@if / @</a:t>
            </a:r>
            <a:r>
              <a:rPr lang="fr-FR" sz="2400" dirty="0" err="1">
                <a:solidFill>
                  <a:srgbClr val="7030A0"/>
                </a:solidFill>
                <a:latin typeface="Times New Roman" panose="02020603050405020304" pitchFamily="18" charset="0"/>
                <a:cs typeface="Times New Roman" panose="02020603050405020304" pitchFamily="18" charset="0"/>
              </a:rPr>
              <a:t>elseif</a:t>
            </a:r>
            <a:r>
              <a:rPr lang="fr-FR" sz="2400" dirty="0">
                <a:solidFill>
                  <a:srgbClr val="7030A0"/>
                </a:solidFill>
                <a:latin typeface="Times New Roman" panose="02020603050405020304" pitchFamily="18" charset="0"/>
                <a:cs typeface="Times New Roman" panose="02020603050405020304" pitchFamily="18" charset="0"/>
              </a:rPr>
              <a:t> / @</a:t>
            </a:r>
            <a:r>
              <a:rPr lang="fr-FR" sz="2400" dirty="0" err="1">
                <a:solidFill>
                  <a:srgbClr val="7030A0"/>
                </a:solidFill>
                <a:latin typeface="Times New Roman" panose="02020603050405020304" pitchFamily="18" charset="0"/>
                <a:cs typeface="Times New Roman" panose="02020603050405020304" pitchFamily="18" charset="0"/>
              </a:rPr>
              <a:t>else</a:t>
            </a:r>
            <a:r>
              <a:rPr lang="fr-FR" sz="2400" dirty="0">
                <a:solidFill>
                  <a:srgbClr val="7030A0"/>
                </a:solidFill>
                <a:latin typeface="Times New Roman" panose="02020603050405020304" pitchFamily="18" charset="0"/>
                <a:cs typeface="Times New Roman" panose="02020603050405020304" pitchFamily="18" charset="0"/>
              </a:rPr>
              <a:t>, @switch, @</a:t>
            </a:r>
            <a:r>
              <a:rPr lang="fr-FR" sz="2400" dirty="0" err="1">
                <a:solidFill>
                  <a:srgbClr val="7030A0"/>
                </a:solidFill>
                <a:latin typeface="Times New Roman" panose="02020603050405020304" pitchFamily="18" charset="0"/>
                <a:cs typeface="Times New Roman" panose="02020603050405020304" pitchFamily="18" charset="0"/>
              </a:rPr>
              <a:t>isset</a:t>
            </a:r>
            <a:r>
              <a:rPr lang="fr-FR" sz="2400" dirty="0">
                <a:solidFill>
                  <a:srgbClr val="7030A0"/>
                </a:solidFill>
                <a:latin typeface="Times New Roman" panose="02020603050405020304" pitchFamily="18" charset="0"/>
                <a:cs typeface="Times New Roman" panose="02020603050405020304" pitchFamily="18" charset="0"/>
              </a:rPr>
              <a:t>, @empty</a:t>
            </a:r>
            <a:endParaRPr lang="fr-FR" sz="2400" b="1" dirty="0">
              <a:solidFill>
                <a:srgbClr val="7030A0"/>
              </a:solidFill>
              <a:latin typeface="Times New Roman" panose="02020603050405020304" pitchFamily="18" charset="0"/>
              <a:cs typeface="Times New Roman" panose="02020603050405020304" pitchFamily="18" charset="0"/>
            </a:endParaRPr>
          </a:p>
          <a:p>
            <a:endParaRPr lang="fr-FR" dirty="0"/>
          </a:p>
        </p:txBody>
      </p:sp>
      <p:sp>
        <p:nvSpPr>
          <p:cNvPr id="5" name="Rectangle : coins arrondis 4">
            <a:extLst>
              <a:ext uri="{FF2B5EF4-FFF2-40B4-BE49-F238E27FC236}">
                <a16:creationId xmlns:a16="http://schemas.microsoft.com/office/drawing/2014/main" id="{5B7D8339-1417-46E0-926D-6C918614FC78}"/>
              </a:ext>
            </a:extLst>
          </p:cNvPr>
          <p:cNvSpPr/>
          <p:nvPr/>
        </p:nvSpPr>
        <p:spPr>
          <a:xfrm>
            <a:off x="1043608" y="5013176"/>
            <a:ext cx="7056784" cy="1080120"/>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201713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Création des Template Blade</a:t>
            </a:r>
          </a:p>
          <a:p>
            <a:pPr lvl="1">
              <a:buFont typeface="Wingdings" panose="05000000000000000000" pitchFamily="2" charset="2"/>
              <a:buChar char="ü"/>
            </a:pPr>
            <a:r>
              <a:rPr lang="fr-FR" sz="2400" dirty="0">
                <a:solidFill>
                  <a:srgbClr val="00B0F0"/>
                </a:solidFill>
              </a:rPr>
              <a:t>Les structures de contrôle </a:t>
            </a:r>
            <a:r>
              <a:rPr lang="fr-FR" sz="2400" dirty="0">
                <a:solidFill>
                  <a:srgbClr val="00B0F0"/>
                </a:solidFill>
                <a:sym typeface="Wingdings" panose="05000000000000000000" pitchFamily="2" charset="2"/>
              </a:rPr>
              <a:t>( </a:t>
            </a:r>
            <a:r>
              <a:rPr lang="fr-FR" sz="2400" dirty="0">
                <a:solidFill>
                  <a:srgbClr val="7030A0"/>
                </a:solidFill>
                <a:sym typeface="Wingdings" panose="05000000000000000000" pitchFamily="2" charset="2"/>
              </a:rPr>
              <a:t>@if, @</a:t>
            </a:r>
            <a:r>
              <a:rPr lang="fr-FR" sz="2400" dirty="0" err="1">
                <a:solidFill>
                  <a:srgbClr val="7030A0"/>
                </a:solidFill>
                <a:sym typeface="Wingdings" panose="05000000000000000000" pitchFamily="2" charset="2"/>
              </a:rPr>
              <a:t>elseif</a:t>
            </a:r>
            <a:r>
              <a:rPr lang="fr-FR" sz="2400" dirty="0">
                <a:solidFill>
                  <a:srgbClr val="7030A0"/>
                </a:solidFill>
                <a:sym typeface="Wingdings" panose="05000000000000000000" pitchFamily="2" charset="2"/>
              </a:rPr>
              <a:t>, @</a:t>
            </a:r>
            <a:r>
              <a:rPr lang="fr-FR" sz="2400" dirty="0" err="1">
                <a:solidFill>
                  <a:srgbClr val="7030A0"/>
                </a:solidFill>
                <a:sym typeface="Wingdings" panose="05000000000000000000" pitchFamily="2" charset="2"/>
              </a:rPr>
              <a:t>else</a:t>
            </a:r>
            <a:r>
              <a:rPr lang="fr-FR" sz="2400" dirty="0">
                <a:solidFill>
                  <a:srgbClr val="7030A0"/>
                </a:solidFill>
                <a:sym typeface="Wingdings" panose="05000000000000000000" pitchFamily="2" charset="2"/>
              </a:rPr>
              <a:t> </a:t>
            </a:r>
            <a:r>
              <a:rPr lang="fr-FR" sz="2400" dirty="0">
                <a:solidFill>
                  <a:srgbClr val="00B0F0"/>
                </a:solidFill>
                <a:sym typeface="Wingdings" panose="05000000000000000000" pitchFamily="2" charset="2"/>
              </a:rPr>
              <a:t>)</a:t>
            </a:r>
            <a:endParaRPr lang="fr-FR" sz="2000" b="1" dirty="0">
              <a:latin typeface="Times New Roman" panose="02020603050405020304" pitchFamily="18" charset="0"/>
              <a:cs typeface="Times New Roman" panose="02020603050405020304" pitchFamily="18" charset="0"/>
            </a:endParaRPr>
          </a:p>
          <a:p>
            <a:pPr marL="400050" lvl="1" indent="0">
              <a:buNone/>
            </a:pPr>
            <a:r>
              <a:rPr lang="fr-FR" sz="1900" dirty="0">
                <a:latin typeface="Times New Roman" panose="02020603050405020304" pitchFamily="18" charset="0"/>
                <a:cs typeface="Times New Roman" panose="02020603050405020304" pitchFamily="18" charset="0"/>
              </a:rPr>
              <a:t>        </a:t>
            </a:r>
            <a:r>
              <a:rPr lang="fr-FR" sz="1900" dirty="0">
                <a:solidFill>
                  <a:srgbClr val="C00000"/>
                </a:solidFill>
                <a:latin typeface="Times New Roman" panose="02020603050405020304" pitchFamily="18" charset="0"/>
                <a:cs typeface="Times New Roman" panose="02020603050405020304" pitchFamily="18" charset="0"/>
              </a:rPr>
              <a:t>$animal </a:t>
            </a:r>
            <a:r>
              <a:rPr lang="fr-FR" sz="1900" dirty="0">
                <a:latin typeface="Times New Roman" panose="02020603050405020304" pitchFamily="18" charset="0"/>
                <a:cs typeface="Times New Roman" panose="02020603050405020304" pitchFamily="18" charset="0"/>
              </a:rPr>
              <a:t>= </a:t>
            </a:r>
            <a:r>
              <a:rPr lang="fr-FR" sz="1900" dirty="0">
                <a:solidFill>
                  <a:srgbClr val="00B050"/>
                </a:solidFill>
                <a:latin typeface="Times New Roman" panose="02020603050405020304" pitchFamily="18" charset="0"/>
                <a:cs typeface="Times New Roman" panose="02020603050405020304" pitchFamily="18" charset="0"/>
              </a:rPr>
              <a:t>'cheval’</a:t>
            </a:r>
            <a:r>
              <a:rPr lang="fr-FR" sz="1900" dirty="0">
                <a:latin typeface="Times New Roman" panose="02020603050405020304" pitchFamily="18" charset="0"/>
                <a:cs typeface="Times New Roman" panose="02020603050405020304" pitchFamily="18" charset="0"/>
              </a:rPr>
              <a:t>;</a:t>
            </a:r>
          </a:p>
          <a:p>
            <a:pPr marL="400050" lvl="1" indent="0">
              <a:buNone/>
            </a:pPr>
            <a:r>
              <a:rPr lang="fr-FR" sz="1900" dirty="0">
                <a:solidFill>
                  <a:srgbClr val="7030A0"/>
                </a:solidFill>
                <a:latin typeface="Times New Roman" panose="02020603050405020304" pitchFamily="18" charset="0"/>
                <a:cs typeface="Times New Roman" panose="02020603050405020304" pitchFamily="18" charset="0"/>
              </a:rPr>
              <a:t>       @if </a:t>
            </a:r>
            <a:r>
              <a:rPr lang="fr-FR" sz="1900" dirty="0">
                <a:latin typeface="Times New Roman" panose="02020603050405020304" pitchFamily="18" charset="0"/>
                <a:cs typeface="Times New Roman" panose="02020603050405020304" pitchFamily="18" charset="0"/>
              </a:rPr>
              <a:t>( </a:t>
            </a:r>
            <a:r>
              <a:rPr lang="fr-FR" sz="1900" dirty="0">
                <a:solidFill>
                  <a:srgbClr val="C00000"/>
                </a:solidFill>
                <a:latin typeface="Times New Roman" panose="02020603050405020304" pitchFamily="18" charset="0"/>
                <a:cs typeface="Times New Roman" panose="02020603050405020304" pitchFamily="18" charset="0"/>
              </a:rPr>
              <a:t>$animal </a:t>
            </a:r>
            <a:r>
              <a:rPr lang="fr-FR" sz="1900" dirty="0">
                <a:latin typeface="Times New Roman" panose="02020603050405020304" pitchFamily="18" charset="0"/>
                <a:cs typeface="Times New Roman" panose="02020603050405020304" pitchFamily="18" charset="0"/>
              </a:rPr>
              <a:t>=== </a:t>
            </a:r>
            <a:r>
              <a:rPr lang="fr-FR" sz="1900" dirty="0">
                <a:solidFill>
                  <a:srgbClr val="00B050"/>
                </a:solidFill>
                <a:latin typeface="Times New Roman" panose="02020603050405020304" pitchFamily="18" charset="0"/>
                <a:cs typeface="Times New Roman" panose="02020603050405020304" pitchFamily="18" charset="0"/>
              </a:rPr>
              <a:t>'chien'</a:t>
            </a:r>
            <a:r>
              <a:rPr lang="fr-FR" sz="1900" dirty="0">
                <a:latin typeface="Times New Roman" panose="02020603050405020304" pitchFamily="18" charset="0"/>
                <a:cs typeface="Times New Roman" panose="02020603050405020304" pitchFamily="18" charset="0"/>
              </a:rPr>
              <a:t> )</a:t>
            </a:r>
          </a:p>
          <a:p>
            <a:pPr marL="400050" lvl="1" indent="0">
              <a:buNone/>
            </a:pPr>
            <a:r>
              <a:rPr lang="fr-FR" sz="1900" dirty="0">
                <a:latin typeface="Times New Roman" panose="02020603050405020304" pitchFamily="18" charset="0"/>
                <a:cs typeface="Times New Roman" panose="02020603050405020304" pitchFamily="18" charset="0"/>
              </a:rPr>
              <a:t>                       &lt;p&gt;L'animal est un chien.&lt;/p&gt;</a:t>
            </a:r>
          </a:p>
          <a:p>
            <a:pPr marL="400050" lvl="1" indent="0">
              <a:buNone/>
            </a:pPr>
            <a:r>
              <a:rPr lang="fr-FR" sz="1900" dirty="0">
                <a:latin typeface="Times New Roman" panose="02020603050405020304" pitchFamily="18" charset="0"/>
                <a:cs typeface="Times New Roman" panose="02020603050405020304" pitchFamily="18" charset="0"/>
              </a:rPr>
              <a:t>              </a:t>
            </a:r>
            <a:r>
              <a:rPr lang="fr-FR" sz="1900" dirty="0">
                <a:solidFill>
                  <a:srgbClr val="7030A0"/>
                </a:solidFill>
                <a:latin typeface="Times New Roman" panose="02020603050405020304" pitchFamily="18" charset="0"/>
                <a:cs typeface="Times New Roman" panose="02020603050405020304" pitchFamily="18" charset="0"/>
              </a:rPr>
              <a:t>@</a:t>
            </a:r>
            <a:r>
              <a:rPr lang="fr-FR" sz="1900" dirty="0" err="1">
                <a:solidFill>
                  <a:srgbClr val="7030A0"/>
                </a:solidFill>
                <a:latin typeface="Times New Roman" panose="02020603050405020304" pitchFamily="18" charset="0"/>
                <a:cs typeface="Times New Roman" panose="02020603050405020304" pitchFamily="18" charset="0"/>
              </a:rPr>
              <a:t>elseif</a:t>
            </a:r>
            <a:r>
              <a:rPr lang="fr-FR" sz="1900" dirty="0">
                <a:solidFill>
                  <a:srgbClr val="7030A0"/>
                </a:solidFill>
                <a:latin typeface="Times New Roman" panose="02020603050405020304" pitchFamily="18" charset="0"/>
                <a:cs typeface="Times New Roman" panose="02020603050405020304" pitchFamily="18" charset="0"/>
              </a:rPr>
              <a:t> </a:t>
            </a:r>
            <a:r>
              <a:rPr lang="fr-FR" sz="1900" dirty="0">
                <a:latin typeface="Times New Roman" panose="02020603050405020304" pitchFamily="18" charset="0"/>
                <a:cs typeface="Times New Roman" panose="02020603050405020304" pitchFamily="18" charset="0"/>
              </a:rPr>
              <a:t>( </a:t>
            </a:r>
            <a:r>
              <a:rPr lang="fr-FR" sz="1900" dirty="0">
                <a:solidFill>
                  <a:srgbClr val="C00000"/>
                </a:solidFill>
                <a:latin typeface="Times New Roman" panose="02020603050405020304" pitchFamily="18" charset="0"/>
                <a:cs typeface="Times New Roman" panose="02020603050405020304" pitchFamily="18" charset="0"/>
              </a:rPr>
              <a:t>$animal </a:t>
            </a:r>
            <a:r>
              <a:rPr lang="fr-FR" sz="1900" dirty="0">
                <a:latin typeface="Times New Roman" panose="02020603050405020304" pitchFamily="18" charset="0"/>
                <a:cs typeface="Times New Roman" panose="02020603050405020304" pitchFamily="18" charset="0"/>
              </a:rPr>
              <a:t>=== </a:t>
            </a:r>
            <a:r>
              <a:rPr lang="fr-FR" sz="1900" dirty="0">
                <a:solidFill>
                  <a:srgbClr val="00B050"/>
                </a:solidFill>
                <a:latin typeface="Times New Roman" panose="02020603050405020304" pitchFamily="18" charset="0"/>
                <a:cs typeface="Times New Roman" panose="02020603050405020304" pitchFamily="18" charset="0"/>
              </a:rPr>
              <a:t>'chat'</a:t>
            </a:r>
            <a:r>
              <a:rPr lang="fr-FR" sz="1900" dirty="0">
                <a:latin typeface="Times New Roman" panose="02020603050405020304" pitchFamily="18" charset="0"/>
                <a:cs typeface="Times New Roman" panose="02020603050405020304" pitchFamily="18" charset="0"/>
              </a:rPr>
              <a:t> )</a:t>
            </a:r>
          </a:p>
          <a:p>
            <a:pPr marL="400050" lvl="1" indent="0">
              <a:buNone/>
            </a:pPr>
            <a:r>
              <a:rPr lang="fr-FR" sz="1900" dirty="0">
                <a:latin typeface="Times New Roman" panose="02020603050405020304" pitchFamily="18" charset="0"/>
                <a:cs typeface="Times New Roman" panose="02020603050405020304" pitchFamily="18" charset="0"/>
              </a:rPr>
              <a:t>                       &lt;p&gt;L'animal n'est pas un chien.&lt;/p&gt;</a:t>
            </a:r>
          </a:p>
          <a:p>
            <a:pPr marL="400050" lvl="1" indent="0">
              <a:buNone/>
            </a:pPr>
            <a:r>
              <a:rPr lang="fr-FR" sz="1900" dirty="0">
                <a:latin typeface="Times New Roman" panose="02020603050405020304" pitchFamily="18" charset="0"/>
                <a:cs typeface="Times New Roman" panose="02020603050405020304" pitchFamily="18" charset="0"/>
              </a:rPr>
              <a:t>             </a:t>
            </a:r>
            <a:r>
              <a:rPr lang="fr-FR" sz="1900" dirty="0">
                <a:solidFill>
                  <a:srgbClr val="7030A0"/>
                </a:solidFill>
                <a:latin typeface="Times New Roman" panose="02020603050405020304" pitchFamily="18" charset="0"/>
                <a:cs typeface="Times New Roman" panose="02020603050405020304" pitchFamily="18" charset="0"/>
              </a:rPr>
              <a:t>@</a:t>
            </a:r>
            <a:r>
              <a:rPr lang="fr-FR" sz="1900" dirty="0" err="1">
                <a:solidFill>
                  <a:srgbClr val="7030A0"/>
                </a:solidFill>
                <a:latin typeface="Times New Roman" panose="02020603050405020304" pitchFamily="18" charset="0"/>
                <a:cs typeface="Times New Roman" panose="02020603050405020304" pitchFamily="18" charset="0"/>
              </a:rPr>
              <a:t>else</a:t>
            </a:r>
            <a:endParaRPr lang="fr-FR" sz="1900" dirty="0">
              <a:solidFill>
                <a:srgbClr val="7030A0"/>
              </a:solidFill>
              <a:latin typeface="Times New Roman" panose="02020603050405020304" pitchFamily="18" charset="0"/>
              <a:cs typeface="Times New Roman" panose="02020603050405020304" pitchFamily="18" charset="0"/>
            </a:endParaRPr>
          </a:p>
          <a:p>
            <a:pPr marL="400050" lvl="1" indent="0">
              <a:buNone/>
            </a:pPr>
            <a:r>
              <a:rPr lang="fr-FR" sz="1900" dirty="0">
                <a:latin typeface="Times New Roman" panose="02020603050405020304" pitchFamily="18" charset="0"/>
                <a:cs typeface="Times New Roman" panose="02020603050405020304" pitchFamily="18" charset="0"/>
              </a:rPr>
              <a:t>                     &lt;p&gt;L'animal n'est ni un chat ni un chien.&lt;/p&gt;</a:t>
            </a:r>
          </a:p>
          <a:p>
            <a:pPr marL="400050" lvl="1" indent="0">
              <a:buNone/>
            </a:pPr>
            <a:r>
              <a:rPr lang="fr-FR" sz="1900" dirty="0">
                <a:latin typeface="Times New Roman" panose="02020603050405020304" pitchFamily="18" charset="0"/>
                <a:cs typeface="Times New Roman" panose="02020603050405020304" pitchFamily="18" charset="0"/>
              </a:rPr>
              <a:t>      </a:t>
            </a:r>
            <a:r>
              <a:rPr lang="fr-FR" sz="1900" dirty="0">
                <a:solidFill>
                  <a:srgbClr val="7030A0"/>
                </a:solidFill>
                <a:latin typeface="Times New Roman" panose="02020603050405020304" pitchFamily="18" charset="0"/>
                <a:cs typeface="Times New Roman" panose="02020603050405020304" pitchFamily="18" charset="0"/>
              </a:rPr>
              <a:t>@</a:t>
            </a:r>
            <a:r>
              <a:rPr lang="fr-FR" sz="1900" dirty="0" err="1">
                <a:solidFill>
                  <a:srgbClr val="7030A0"/>
                </a:solidFill>
                <a:latin typeface="Times New Roman" panose="02020603050405020304" pitchFamily="18" charset="0"/>
                <a:cs typeface="Times New Roman" panose="02020603050405020304" pitchFamily="18" charset="0"/>
              </a:rPr>
              <a:t>endif</a:t>
            </a:r>
            <a:endParaRPr lang="fr-FR" sz="1900" dirty="0">
              <a:solidFill>
                <a:srgbClr val="7030A0"/>
              </a:solidFill>
              <a:latin typeface="Times New Roman" panose="02020603050405020304" pitchFamily="18" charset="0"/>
              <a:cs typeface="Times New Roman" panose="02020603050405020304" pitchFamily="18" charset="0"/>
            </a:endParaRPr>
          </a:p>
          <a:p>
            <a:pPr marL="400050" lvl="1" indent="0">
              <a:buNone/>
            </a:pPr>
            <a:endParaRPr lang="fr-FR" sz="1900" dirty="0">
              <a:latin typeface="Times New Roman" panose="02020603050405020304" pitchFamily="18" charset="0"/>
              <a:cs typeface="Times New Roman" panose="02020603050405020304" pitchFamily="18" charset="0"/>
            </a:endParaRPr>
          </a:p>
          <a:p>
            <a:pPr marL="400050" lvl="1" indent="0">
              <a:buNone/>
            </a:pPr>
            <a:r>
              <a:rPr lang="fr-FR" sz="1900" dirty="0">
                <a:solidFill>
                  <a:schemeClr val="bg1">
                    <a:lumMod val="50000"/>
                  </a:schemeClr>
                </a:solidFill>
                <a:latin typeface="Times New Roman" panose="02020603050405020304" pitchFamily="18" charset="0"/>
                <a:cs typeface="Times New Roman" panose="02020603050405020304" pitchFamily="18" charset="0"/>
              </a:rPr>
              <a:t>&lt;!-- donnera : --&gt;</a:t>
            </a:r>
          </a:p>
          <a:p>
            <a:pPr marL="400050" lvl="1" indent="0">
              <a:buNone/>
            </a:pPr>
            <a:r>
              <a:rPr lang="fr-FR" sz="1900" dirty="0">
                <a:latin typeface="Times New Roman" panose="02020603050405020304" pitchFamily="18" charset="0"/>
                <a:cs typeface="Times New Roman" panose="02020603050405020304" pitchFamily="18" charset="0"/>
              </a:rPr>
              <a:t>&lt;p&gt;L'animal n'est ni un chat ni un chien.&lt;/p&gt;</a:t>
            </a:r>
          </a:p>
          <a:p>
            <a:endParaRPr lang="fr-FR" dirty="0"/>
          </a:p>
        </p:txBody>
      </p:sp>
      <p:sp>
        <p:nvSpPr>
          <p:cNvPr id="5" name="Rectangle : coins arrondis 4">
            <a:extLst>
              <a:ext uri="{FF2B5EF4-FFF2-40B4-BE49-F238E27FC236}">
                <a16:creationId xmlns:a16="http://schemas.microsoft.com/office/drawing/2014/main" id="{5B7D8339-1417-46E0-926D-6C918614FC78}"/>
              </a:ext>
            </a:extLst>
          </p:cNvPr>
          <p:cNvSpPr/>
          <p:nvPr/>
        </p:nvSpPr>
        <p:spPr>
          <a:xfrm>
            <a:off x="611560" y="2780928"/>
            <a:ext cx="7488832" cy="2664296"/>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 coins arrondis 5">
            <a:extLst>
              <a:ext uri="{FF2B5EF4-FFF2-40B4-BE49-F238E27FC236}">
                <a16:creationId xmlns:a16="http://schemas.microsoft.com/office/drawing/2014/main" id="{42385FDF-0D7C-44E9-A743-F7CB8A4F7B69}"/>
              </a:ext>
            </a:extLst>
          </p:cNvPr>
          <p:cNvSpPr/>
          <p:nvPr/>
        </p:nvSpPr>
        <p:spPr>
          <a:xfrm>
            <a:off x="611560" y="5619114"/>
            <a:ext cx="7488832" cy="848522"/>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022544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Création des Template Blade</a:t>
            </a:r>
          </a:p>
          <a:p>
            <a:pPr lvl="1">
              <a:buFont typeface="Wingdings" panose="05000000000000000000" pitchFamily="2" charset="2"/>
              <a:buChar char="ü"/>
            </a:pPr>
            <a:r>
              <a:rPr lang="fr-FR" sz="2400" dirty="0">
                <a:solidFill>
                  <a:srgbClr val="00B0F0"/>
                </a:solidFill>
              </a:rPr>
              <a:t>Les structures de contrôle </a:t>
            </a:r>
            <a:r>
              <a:rPr lang="fr-FR" sz="2400" dirty="0">
                <a:solidFill>
                  <a:srgbClr val="00B0F0"/>
                </a:solidFill>
                <a:sym typeface="Wingdings" panose="05000000000000000000" pitchFamily="2" charset="2"/>
              </a:rPr>
              <a:t>( </a:t>
            </a:r>
            <a:r>
              <a:rPr lang="fr-FR" sz="2400" dirty="0">
                <a:solidFill>
                  <a:srgbClr val="7030A0"/>
                </a:solidFill>
                <a:sym typeface="Wingdings" panose="05000000000000000000" pitchFamily="2" charset="2"/>
              </a:rPr>
              <a:t>@switch </a:t>
            </a:r>
            <a:r>
              <a:rPr lang="fr-FR" sz="2400" dirty="0">
                <a:solidFill>
                  <a:srgbClr val="00B0F0"/>
                </a:solidFill>
                <a:sym typeface="Wingdings" panose="05000000000000000000" pitchFamily="2" charset="2"/>
              </a:rPr>
              <a:t>)</a:t>
            </a:r>
            <a:endParaRPr lang="fr-FR" sz="2000" b="1" dirty="0">
              <a:latin typeface="Times New Roman" panose="02020603050405020304" pitchFamily="18" charset="0"/>
              <a:cs typeface="Times New Roman" panose="02020603050405020304" pitchFamily="18" charset="0"/>
            </a:endParaRPr>
          </a:p>
          <a:p>
            <a:pPr marL="400050" lvl="1" indent="0">
              <a:buNone/>
            </a:pPr>
            <a:r>
              <a:rPr lang="fr-FR" sz="1900" dirty="0">
                <a:latin typeface="Times New Roman" panose="02020603050405020304" pitchFamily="18" charset="0"/>
                <a:cs typeface="Times New Roman" panose="02020603050405020304" pitchFamily="18" charset="0"/>
              </a:rPr>
              <a:t>        </a:t>
            </a:r>
            <a:r>
              <a:rPr lang="fr-FR" sz="1900" dirty="0">
                <a:solidFill>
                  <a:srgbClr val="7030A0"/>
                </a:solidFill>
                <a:latin typeface="Times New Roman" panose="02020603050405020304" pitchFamily="18" charset="0"/>
                <a:cs typeface="Times New Roman" panose="02020603050405020304" pitchFamily="18" charset="0"/>
              </a:rPr>
              <a:t>@switch</a:t>
            </a:r>
            <a:r>
              <a:rPr lang="fr-FR" sz="1900" dirty="0">
                <a:solidFill>
                  <a:srgbClr val="C00000"/>
                </a:solidFill>
                <a:latin typeface="Times New Roman" panose="02020603050405020304" pitchFamily="18" charset="0"/>
                <a:cs typeface="Times New Roman" panose="02020603050405020304" pitchFamily="18" charset="0"/>
              </a:rPr>
              <a:t>($</a:t>
            </a:r>
            <a:r>
              <a:rPr lang="fr-FR" sz="1900" dirty="0" err="1">
                <a:solidFill>
                  <a:srgbClr val="C00000"/>
                </a:solidFill>
                <a:latin typeface="Times New Roman" panose="02020603050405020304" pitchFamily="18" charset="0"/>
                <a:cs typeface="Times New Roman" panose="02020603050405020304" pitchFamily="18" charset="0"/>
              </a:rPr>
              <a:t>age</a:t>
            </a:r>
            <a:r>
              <a:rPr lang="fr-FR" sz="1900" dirty="0">
                <a:solidFill>
                  <a:srgbClr val="C00000"/>
                </a:solidFill>
                <a:latin typeface="Times New Roman" panose="02020603050405020304" pitchFamily="18" charset="0"/>
                <a:cs typeface="Times New Roman" panose="02020603050405020304" pitchFamily="18" charset="0"/>
              </a:rPr>
              <a:t>)</a:t>
            </a:r>
          </a:p>
          <a:p>
            <a:pPr marL="400050" lvl="1" indent="0">
              <a:buNone/>
            </a:pPr>
            <a:r>
              <a:rPr lang="fr-FR" sz="1900" dirty="0">
                <a:solidFill>
                  <a:srgbClr val="C00000"/>
                </a:solidFill>
                <a:latin typeface="Times New Roman" panose="02020603050405020304" pitchFamily="18" charset="0"/>
                <a:cs typeface="Times New Roman" panose="02020603050405020304" pitchFamily="18" charset="0"/>
              </a:rPr>
              <a:t>             </a:t>
            </a:r>
            <a:r>
              <a:rPr lang="fr-FR" sz="1900" dirty="0">
                <a:solidFill>
                  <a:srgbClr val="7030A0"/>
                </a:solidFill>
                <a:latin typeface="Times New Roman" panose="02020603050405020304" pitchFamily="18" charset="0"/>
                <a:cs typeface="Times New Roman" panose="02020603050405020304" pitchFamily="18" charset="0"/>
              </a:rPr>
              <a:t>@case</a:t>
            </a:r>
            <a:r>
              <a:rPr lang="fr-FR" sz="1900" dirty="0">
                <a:solidFill>
                  <a:srgbClr val="C00000"/>
                </a:solidFill>
                <a:latin typeface="Times New Roman" panose="02020603050405020304" pitchFamily="18" charset="0"/>
                <a:cs typeface="Times New Roman" panose="02020603050405020304" pitchFamily="18" charset="0"/>
              </a:rPr>
              <a:t>( $</a:t>
            </a:r>
            <a:r>
              <a:rPr lang="fr-FR" sz="1900" dirty="0" err="1">
                <a:solidFill>
                  <a:srgbClr val="C00000"/>
                </a:solidFill>
                <a:latin typeface="Times New Roman" panose="02020603050405020304" pitchFamily="18" charset="0"/>
                <a:cs typeface="Times New Roman" panose="02020603050405020304" pitchFamily="18" charset="0"/>
              </a:rPr>
              <a:t>age</a:t>
            </a:r>
            <a:r>
              <a:rPr lang="fr-FR" sz="1900" dirty="0">
                <a:solidFill>
                  <a:srgbClr val="C00000"/>
                </a:solidFill>
                <a:latin typeface="Times New Roman" panose="02020603050405020304" pitchFamily="18" charset="0"/>
                <a:cs typeface="Times New Roman" panose="02020603050405020304" pitchFamily="18" charset="0"/>
              </a:rPr>
              <a:t> &lt; 18 )</a:t>
            </a:r>
          </a:p>
          <a:p>
            <a:pPr marL="400050" lvl="1" indent="0">
              <a:buNone/>
            </a:pPr>
            <a:r>
              <a:rPr lang="fr-FR" sz="1900" dirty="0">
                <a:solidFill>
                  <a:schemeClr val="tx1"/>
                </a:solidFill>
                <a:latin typeface="Times New Roman" panose="02020603050405020304" pitchFamily="18" charset="0"/>
                <a:cs typeface="Times New Roman" panose="02020603050405020304" pitchFamily="18" charset="0"/>
              </a:rPr>
              <a:t>                      &lt;p&gt;La personne est mineure.&lt;/p&gt;</a:t>
            </a:r>
          </a:p>
          <a:p>
            <a:pPr marL="400050" lvl="1" indent="0">
              <a:buNone/>
            </a:pPr>
            <a:r>
              <a:rPr lang="fr-FR" sz="1900" dirty="0">
                <a:solidFill>
                  <a:srgbClr val="C00000"/>
                </a:solidFill>
                <a:latin typeface="Times New Roman" panose="02020603050405020304" pitchFamily="18" charset="0"/>
                <a:cs typeface="Times New Roman" panose="02020603050405020304" pitchFamily="18" charset="0"/>
              </a:rPr>
              <a:t>                      </a:t>
            </a:r>
            <a:r>
              <a:rPr lang="fr-FR" sz="1900" dirty="0">
                <a:solidFill>
                  <a:srgbClr val="7030A0"/>
                </a:solidFill>
                <a:latin typeface="Times New Roman" panose="02020603050405020304" pitchFamily="18" charset="0"/>
                <a:cs typeface="Times New Roman" panose="02020603050405020304" pitchFamily="18" charset="0"/>
              </a:rPr>
              <a:t>@break</a:t>
            </a:r>
          </a:p>
          <a:p>
            <a:pPr marL="400050" lvl="1" indent="0">
              <a:buNone/>
            </a:pPr>
            <a:r>
              <a:rPr lang="fr-FR" sz="1900" dirty="0">
                <a:solidFill>
                  <a:srgbClr val="C00000"/>
                </a:solidFill>
                <a:latin typeface="Times New Roman" panose="02020603050405020304" pitchFamily="18" charset="0"/>
                <a:cs typeface="Times New Roman" panose="02020603050405020304" pitchFamily="18" charset="0"/>
              </a:rPr>
              <a:t>             </a:t>
            </a:r>
            <a:r>
              <a:rPr lang="fr-FR" sz="1900" dirty="0">
                <a:solidFill>
                  <a:srgbClr val="7030A0"/>
                </a:solidFill>
                <a:latin typeface="Times New Roman" panose="02020603050405020304" pitchFamily="18" charset="0"/>
                <a:cs typeface="Times New Roman" panose="02020603050405020304" pitchFamily="18" charset="0"/>
              </a:rPr>
              <a:t>@case</a:t>
            </a:r>
            <a:r>
              <a:rPr lang="fr-FR" sz="1900" dirty="0">
                <a:solidFill>
                  <a:srgbClr val="C00000"/>
                </a:solidFill>
                <a:latin typeface="Times New Roman" panose="02020603050405020304" pitchFamily="18" charset="0"/>
                <a:cs typeface="Times New Roman" panose="02020603050405020304" pitchFamily="18" charset="0"/>
              </a:rPr>
              <a:t>( $</a:t>
            </a:r>
            <a:r>
              <a:rPr lang="fr-FR" sz="1900" dirty="0" err="1">
                <a:solidFill>
                  <a:srgbClr val="C00000"/>
                </a:solidFill>
                <a:latin typeface="Times New Roman" panose="02020603050405020304" pitchFamily="18" charset="0"/>
                <a:cs typeface="Times New Roman" panose="02020603050405020304" pitchFamily="18" charset="0"/>
              </a:rPr>
              <a:t>age</a:t>
            </a:r>
            <a:r>
              <a:rPr lang="fr-FR" sz="1900" dirty="0">
                <a:solidFill>
                  <a:srgbClr val="C00000"/>
                </a:solidFill>
                <a:latin typeface="Times New Roman" panose="02020603050405020304" pitchFamily="18" charset="0"/>
                <a:cs typeface="Times New Roman" panose="02020603050405020304" pitchFamily="18" charset="0"/>
              </a:rPr>
              <a:t> &gt; 18 )</a:t>
            </a:r>
          </a:p>
          <a:p>
            <a:pPr marL="400050" lvl="1" indent="0">
              <a:buNone/>
            </a:pPr>
            <a:r>
              <a:rPr lang="fr-FR" sz="1900" dirty="0">
                <a:solidFill>
                  <a:srgbClr val="C00000"/>
                </a:solidFill>
                <a:latin typeface="Times New Roman" panose="02020603050405020304" pitchFamily="18" charset="0"/>
                <a:cs typeface="Times New Roman" panose="02020603050405020304" pitchFamily="18" charset="0"/>
              </a:rPr>
              <a:t>                       </a:t>
            </a:r>
            <a:r>
              <a:rPr lang="fr-FR" sz="1900" dirty="0">
                <a:solidFill>
                  <a:schemeClr val="tx1"/>
                </a:solidFill>
                <a:latin typeface="Times New Roman" panose="02020603050405020304" pitchFamily="18" charset="0"/>
                <a:cs typeface="Times New Roman" panose="02020603050405020304" pitchFamily="18" charset="0"/>
              </a:rPr>
              <a:t>&lt;p&gt;La personne est majeure.&lt;/p&gt;</a:t>
            </a:r>
          </a:p>
          <a:p>
            <a:pPr marL="400050" lvl="1" indent="0">
              <a:buNone/>
            </a:pPr>
            <a:r>
              <a:rPr lang="fr-FR" sz="1900" dirty="0">
                <a:solidFill>
                  <a:srgbClr val="C00000"/>
                </a:solidFill>
                <a:latin typeface="Times New Roman" panose="02020603050405020304" pitchFamily="18" charset="0"/>
                <a:cs typeface="Times New Roman" panose="02020603050405020304" pitchFamily="18" charset="0"/>
              </a:rPr>
              <a:t>                      </a:t>
            </a:r>
            <a:r>
              <a:rPr lang="fr-FR" sz="1900" dirty="0">
                <a:solidFill>
                  <a:srgbClr val="7030A0"/>
                </a:solidFill>
                <a:latin typeface="Times New Roman" panose="02020603050405020304" pitchFamily="18" charset="0"/>
                <a:cs typeface="Times New Roman" panose="02020603050405020304" pitchFamily="18" charset="0"/>
              </a:rPr>
              <a:t>@break</a:t>
            </a:r>
          </a:p>
          <a:p>
            <a:pPr marL="400050" lvl="1" indent="0">
              <a:buNone/>
            </a:pPr>
            <a:r>
              <a:rPr lang="fr-FR" sz="1900" dirty="0">
                <a:solidFill>
                  <a:srgbClr val="C00000"/>
                </a:solidFill>
                <a:latin typeface="Times New Roman" panose="02020603050405020304" pitchFamily="18" charset="0"/>
                <a:cs typeface="Times New Roman" panose="02020603050405020304" pitchFamily="18" charset="0"/>
              </a:rPr>
              <a:t>            </a:t>
            </a:r>
            <a:r>
              <a:rPr lang="fr-FR" sz="1900" dirty="0">
                <a:solidFill>
                  <a:srgbClr val="7030A0"/>
                </a:solidFill>
                <a:latin typeface="Times New Roman" panose="02020603050405020304" pitchFamily="18" charset="0"/>
                <a:cs typeface="Times New Roman" panose="02020603050405020304" pitchFamily="18" charset="0"/>
              </a:rPr>
              <a:t>@default</a:t>
            </a:r>
          </a:p>
          <a:p>
            <a:pPr marL="400050" lvl="1" indent="0">
              <a:buNone/>
            </a:pPr>
            <a:r>
              <a:rPr lang="fr-FR" sz="1900" dirty="0">
                <a:solidFill>
                  <a:srgbClr val="C00000"/>
                </a:solidFill>
                <a:latin typeface="Times New Roman" panose="02020603050405020304" pitchFamily="18" charset="0"/>
                <a:cs typeface="Times New Roman" panose="02020603050405020304" pitchFamily="18" charset="0"/>
              </a:rPr>
              <a:t>                     </a:t>
            </a:r>
            <a:r>
              <a:rPr lang="fr-FR" sz="1900" dirty="0">
                <a:solidFill>
                  <a:schemeClr val="tx1"/>
                </a:solidFill>
                <a:latin typeface="Times New Roman" panose="02020603050405020304" pitchFamily="18" charset="0"/>
                <a:cs typeface="Times New Roman" panose="02020603050405020304" pitchFamily="18" charset="0"/>
              </a:rPr>
              <a:t>&lt;p&gt;valeur par défaut.&lt;/p&gt;</a:t>
            </a:r>
          </a:p>
          <a:p>
            <a:pPr marL="400050" lvl="1" indent="0">
              <a:buNone/>
            </a:pPr>
            <a:r>
              <a:rPr lang="fr-FR" sz="1900" dirty="0">
                <a:solidFill>
                  <a:srgbClr val="7030A0"/>
                </a:solidFill>
                <a:latin typeface="Times New Roman" panose="02020603050405020304" pitchFamily="18" charset="0"/>
                <a:cs typeface="Times New Roman" panose="02020603050405020304" pitchFamily="18" charset="0"/>
              </a:rPr>
              <a:t>      @</a:t>
            </a:r>
            <a:r>
              <a:rPr lang="fr-FR" sz="1900" dirty="0" err="1">
                <a:solidFill>
                  <a:srgbClr val="7030A0"/>
                </a:solidFill>
                <a:latin typeface="Times New Roman" panose="02020603050405020304" pitchFamily="18" charset="0"/>
                <a:cs typeface="Times New Roman" panose="02020603050405020304" pitchFamily="18" charset="0"/>
              </a:rPr>
              <a:t>endswitch</a:t>
            </a:r>
            <a:endParaRPr lang="fr-FR" sz="1900" dirty="0">
              <a:solidFill>
                <a:srgbClr val="7030A0"/>
              </a:solidFill>
              <a:latin typeface="Times New Roman" panose="02020603050405020304" pitchFamily="18" charset="0"/>
              <a:cs typeface="Times New Roman" panose="02020603050405020304" pitchFamily="18" charset="0"/>
            </a:endParaRPr>
          </a:p>
          <a:p>
            <a:endParaRPr lang="fr-FR" dirty="0"/>
          </a:p>
        </p:txBody>
      </p:sp>
      <p:sp>
        <p:nvSpPr>
          <p:cNvPr id="5" name="Rectangle : coins arrondis 4">
            <a:extLst>
              <a:ext uri="{FF2B5EF4-FFF2-40B4-BE49-F238E27FC236}">
                <a16:creationId xmlns:a16="http://schemas.microsoft.com/office/drawing/2014/main" id="{5B7D8339-1417-46E0-926D-6C918614FC78}"/>
              </a:ext>
            </a:extLst>
          </p:cNvPr>
          <p:cNvSpPr/>
          <p:nvPr/>
        </p:nvSpPr>
        <p:spPr>
          <a:xfrm>
            <a:off x="611560" y="2924944"/>
            <a:ext cx="7488832" cy="3542692"/>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99479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Création des Template Blade</a:t>
            </a:r>
          </a:p>
          <a:p>
            <a:pPr lvl="1">
              <a:buFont typeface="Wingdings" panose="05000000000000000000" pitchFamily="2" charset="2"/>
              <a:buChar char="ü"/>
            </a:pPr>
            <a:r>
              <a:rPr lang="fr-FR" sz="2400" dirty="0">
                <a:solidFill>
                  <a:srgbClr val="00B0F0"/>
                </a:solidFill>
              </a:rPr>
              <a:t>Les structures de contrôle </a:t>
            </a:r>
            <a:r>
              <a:rPr lang="fr-FR" sz="2400" dirty="0">
                <a:solidFill>
                  <a:srgbClr val="00B0F0"/>
                </a:solidFill>
                <a:sym typeface="Wingdings" panose="05000000000000000000" pitchFamily="2" charset="2"/>
              </a:rPr>
              <a:t>( </a:t>
            </a:r>
            <a:r>
              <a:rPr lang="fr-FR" sz="2400" dirty="0">
                <a:solidFill>
                  <a:srgbClr val="7030A0"/>
                </a:solidFill>
                <a:sym typeface="Wingdings" panose="05000000000000000000" pitchFamily="2" charset="2"/>
              </a:rPr>
              <a:t>@</a:t>
            </a:r>
            <a:r>
              <a:rPr lang="fr-FR" sz="2400" dirty="0" err="1">
                <a:solidFill>
                  <a:srgbClr val="7030A0"/>
                </a:solidFill>
                <a:sym typeface="Wingdings" panose="05000000000000000000" pitchFamily="2" charset="2"/>
              </a:rPr>
              <a:t>isset</a:t>
            </a:r>
            <a:r>
              <a:rPr lang="fr-FR" sz="2400" dirty="0">
                <a:solidFill>
                  <a:srgbClr val="7030A0"/>
                </a:solidFill>
                <a:sym typeface="Wingdings" panose="05000000000000000000" pitchFamily="2" charset="2"/>
              </a:rPr>
              <a:t> </a:t>
            </a:r>
            <a:r>
              <a:rPr lang="fr-FR" sz="2400" dirty="0">
                <a:solidFill>
                  <a:srgbClr val="00B0F0"/>
                </a:solidFill>
                <a:sym typeface="Wingdings" panose="05000000000000000000" pitchFamily="2" charset="2"/>
              </a:rPr>
              <a:t>)</a:t>
            </a:r>
          </a:p>
          <a:p>
            <a:pPr marL="457200" lvl="1" indent="0">
              <a:buNone/>
            </a:pPr>
            <a:endParaRPr lang="fr-FR" sz="2000" b="1" dirty="0">
              <a:latin typeface="Times New Roman" panose="02020603050405020304" pitchFamily="18" charset="0"/>
              <a:cs typeface="Times New Roman" panose="02020603050405020304" pitchFamily="18" charset="0"/>
            </a:endParaRPr>
          </a:p>
          <a:p>
            <a:pPr marL="400050" lvl="1" indent="0">
              <a:buNone/>
            </a:pPr>
            <a:r>
              <a:rPr lang="fr-FR" sz="1900" dirty="0">
                <a:latin typeface="Times New Roman" panose="02020603050405020304" pitchFamily="18" charset="0"/>
                <a:cs typeface="Times New Roman" panose="02020603050405020304" pitchFamily="18" charset="0"/>
              </a:rPr>
              <a:t>  </a:t>
            </a:r>
            <a:r>
              <a:rPr lang="fr-FR" sz="1900" dirty="0">
                <a:solidFill>
                  <a:srgbClr val="C00000"/>
                </a:solidFill>
                <a:latin typeface="Times New Roman" panose="02020603050405020304" pitchFamily="18" charset="0"/>
                <a:cs typeface="Times New Roman" panose="02020603050405020304" pitchFamily="18" charset="0"/>
              </a:rPr>
              <a:t>$produit </a:t>
            </a:r>
            <a:r>
              <a:rPr lang="fr-FR" sz="1900" dirty="0">
                <a:latin typeface="Times New Roman" panose="02020603050405020304" pitchFamily="18" charset="0"/>
                <a:cs typeface="Times New Roman" panose="02020603050405020304" pitchFamily="18" charset="0"/>
              </a:rPr>
              <a:t>= </a:t>
            </a:r>
            <a:r>
              <a:rPr lang="fr-FR" sz="1900" dirty="0">
                <a:solidFill>
                  <a:srgbClr val="00B050"/>
                </a:solidFill>
                <a:latin typeface="Times New Roman" panose="02020603050405020304" pitchFamily="18" charset="0"/>
                <a:cs typeface="Times New Roman" panose="02020603050405020304" pitchFamily="18" charset="0"/>
              </a:rPr>
              <a:t>'costume’</a:t>
            </a:r>
            <a:r>
              <a:rPr lang="fr-FR" sz="1900" dirty="0">
                <a:latin typeface="Times New Roman" panose="02020603050405020304" pitchFamily="18" charset="0"/>
                <a:cs typeface="Times New Roman" panose="02020603050405020304" pitchFamily="18" charset="0"/>
              </a:rPr>
              <a:t>;</a:t>
            </a:r>
          </a:p>
          <a:p>
            <a:pPr marL="400050" lvl="1" indent="0">
              <a:buNone/>
            </a:pPr>
            <a:endParaRPr lang="fr-FR" sz="1900" dirty="0">
              <a:latin typeface="Times New Roman" panose="02020603050405020304" pitchFamily="18" charset="0"/>
              <a:cs typeface="Times New Roman" panose="02020603050405020304" pitchFamily="18" charset="0"/>
            </a:endParaRPr>
          </a:p>
          <a:p>
            <a:pPr marL="400050" lvl="1" indent="0">
              <a:buNone/>
            </a:pPr>
            <a:r>
              <a:rPr lang="fr-FR" sz="1900" dirty="0">
                <a:latin typeface="Times New Roman" panose="02020603050405020304" pitchFamily="18" charset="0"/>
                <a:cs typeface="Times New Roman" panose="02020603050405020304" pitchFamily="18" charset="0"/>
              </a:rPr>
              <a:t>  </a:t>
            </a:r>
            <a:r>
              <a:rPr lang="fr-FR" sz="1900" dirty="0">
                <a:solidFill>
                  <a:srgbClr val="7030A0"/>
                </a:solidFill>
                <a:latin typeface="Times New Roman" panose="02020603050405020304" pitchFamily="18" charset="0"/>
                <a:cs typeface="Times New Roman" panose="02020603050405020304" pitchFamily="18" charset="0"/>
              </a:rPr>
              <a:t>@</a:t>
            </a:r>
            <a:r>
              <a:rPr lang="fr-FR" sz="1900" dirty="0" err="1">
                <a:solidFill>
                  <a:srgbClr val="7030A0"/>
                </a:solidFill>
                <a:latin typeface="Times New Roman" panose="02020603050405020304" pitchFamily="18" charset="0"/>
                <a:cs typeface="Times New Roman" panose="02020603050405020304" pitchFamily="18" charset="0"/>
              </a:rPr>
              <a:t>isset</a:t>
            </a:r>
            <a:r>
              <a:rPr lang="fr-FR" sz="1900" dirty="0">
                <a:solidFill>
                  <a:srgbClr val="C00000"/>
                </a:solidFill>
                <a:latin typeface="Times New Roman" panose="02020603050405020304" pitchFamily="18" charset="0"/>
                <a:cs typeface="Times New Roman" panose="02020603050405020304" pitchFamily="18" charset="0"/>
              </a:rPr>
              <a:t>($produit</a:t>
            </a:r>
            <a:r>
              <a:rPr lang="fr-FR" sz="1900" dirty="0">
                <a:latin typeface="Times New Roman" panose="02020603050405020304" pitchFamily="18" charset="0"/>
                <a:cs typeface="Times New Roman" panose="02020603050405020304" pitchFamily="18" charset="0"/>
              </a:rPr>
              <a:t>)</a:t>
            </a:r>
          </a:p>
          <a:p>
            <a:pPr marL="400050" lvl="1" indent="0">
              <a:buNone/>
            </a:pPr>
            <a:r>
              <a:rPr lang="fr-FR" sz="1900" dirty="0">
                <a:latin typeface="Times New Roman" panose="02020603050405020304" pitchFamily="18" charset="0"/>
                <a:cs typeface="Times New Roman" panose="02020603050405020304" pitchFamily="18" charset="0"/>
              </a:rPr>
              <a:t>       &lt;p&gt;Le produit existe&lt;/p&gt;</a:t>
            </a:r>
          </a:p>
          <a:p>
            <a:pPr marL="400050" lvl="1" indent="0">
              <a:buNone/>
            </a:pPr>
            <a:r>
              <a:rPr lang="fr-FR" sz="1900" dirty="0">
                <a:latin typeface="Times New Roman" panose="02020603050405020304" pitchFamily="18" charset="0"/>
                <a:cs typeface="Times New Roman" panose="02020603050405020304" pitchFamily="18" charset="0"/>
              </a:rPr>
              <a:t>  </a:t>
            </a:r>
            <a:r>
              <a:rPr lang="fr-FR" sz="1900" dirty="0">
                <a:solidFill>
                  <a:srgbClr val="7030A0"/>
                </a:solidFill>
                <a:latin typeface="Times New Roman" panose="02020603050405020304" pitchFamily="18" charset="0"/>
                <a:cs typeface="Times New Roman" panose="02020603050405020304" pitchFamily="18" charset="0"/>
              </a:rPr>
              <a:t>@</a:t>
            </a:r>
            <a:r>
              <a:rPr lang="fr-FR" sz="1900" dirty="0" err="1">
                <a:solidFill>
                  <a:srgbClr val="7030A0"/>
                </a:solidFill>
                <a:latin typeface="Times New Roman" panose="02020603050405020304" pitchFamily="18" charset="0"/>
                <a:cs typeface="Times New Roman" panose="02020603050405020304" pitchFamily="18" charset="0"/>
              </a:rPr>
              <a:t>endisset</a:t>
            </a:r>
            <a:endParaRPr lang="fr-FR" sz="1900" dirty="0">
              <a:solidFill>
                <a:srgbClr val="7030A0"/>
              </a:solidFill>
              <a:latin typeface="Times New Roman" panose="02020603050405020304" pitchFamily="18" charset="0"/>
              <a:cs typeface="Times New Roman" panose="02020603050405020304" pitchFamily="18" charset="0"/>
            </a:endParaRPr>
          </a:p>
          <a:p>
            <a:pPr marL="400050" lvl="1" indent="0">
              <a:buNone/>
            </a:pPr>
            <a:endParaRPr lang="fr-FR" sz="1900" dirty="0">
              <a:latin typeface="Times New Roman" panose="02020603050405020304" pitchFamily="18" charset="0"/>
              <a:cs typeface="Times New Roman" panose="02020603050405020304" pitchFamily="18" charset="0"/>
            </a:endParaRPr>
          </a:p>
          <a:p>
            <a:pPr marL="400050" lvl="1" indent="0">
              <a:buNone/>
            </a:pPr>
            <a:r>
              <a:rPr lang="fr-FR" sz="1900" dirty="0">
                <a:solidFill>
                  <a:schemeClr val="bg1">
                    <a:lumMod val="50000"/>
                  </a:schemeClr>
                </a:solidFill>
                <a:latin typeface="Times New Roman" panose="02020603050405020304" pitchFamily="18" charset="0"/>
                <a:cs typeface="Times New Roman" panose="02020603050405020304" pitchFamily="18" charset="0"/>
              </a:rPr>
              <a:t>&lt;!-- donnera : --&gt;</a:t>
            </a:r>
          </a:p>
          <a:p>
            <a:pPr marL="400050" lvl="1" indent="0">
              <a:buNone/>
            </a:pPr>
            <a:r>
              <a:rPr lang="fr-FR" sz="1900" dirty="0">
                <a:latin typeface="Times New Roman" panose="02020603050405020304" pitchFamily="18" charset="0"/>
                <a:cs typeface="Times New Roman" panose="02020603050405020304" pitchFamily="18" charset="0"/>
              </a:rPr>
              <a:t>&lt;p&gt;Le produit existe&lt;/p&gt;</a:t>
            </a:r>
            <a:endParaRPr lang="fr-FR" dirty="0"/>
          </a:p>
        </p:txBody>
      </p:sp>
      <p:sp>
        <p:nvSpPr>
          <p:cNvPr id="5" name="Rectangle : coins arrondis 4">
            <a:extLst>
              <a:ext uri="{FF2B5EF4-FFF2-40B4-BE49-F238E27FC236}">
                <a16:creationId xmlns:a16="http://schemas.microsoft.com/office/drawing/2014/main" id="{5B7D8339-1417-46E0-926D-6C918614FC78}"/>
              </a:ext>
            </a:extLst>
          </p:cNvPr>
          <p:cNvSpPr/>
          <p:nvPr/>
        </p:nvSpPr>
        <p:spPr>
          <a:xfrm>
            <a:off x="628227" y="3212976"/>
            <a:ext cx="7488832" cy="1944216"/>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 coins arrondis 5">
            <a:extLst>
              <a:ext uri="{FF2B5EF4-FFF2-40B4-BE49-F238E27FC236}">
                <a16:creationId xmlns:a16="http://schemas.microsoft.com/office/drawing/2014/main" id="{6BD5B906-ABD1-43A6-A94E-0A2C2182B38D}"/>
              </a:ext>
            </a:extLst>
          </p:cNvPr>
          <p:cNvSpPr/>
          <p:nvPr/>
        </p:nvSpPr>
        <p:spPr>
          <a:xfrm>
            <a:off x="623465" y="5301208"/>
            <a:ext cx="7488832" cy="892696"/>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72272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Création des Template Blade</a:t>
            </a:r>
          </a:p>
          <a:p>
            <a:pPr lvl="1">
              <a:buFont typeface="Wingdings" panose="05000000000000000000" pitchFamily="2" charset="2"/>
              <a:buChar char="ü"/>
            </a:pPr>
            <a:r>
              <a:rPr lang="fr-FR" sz="2400" dirty="0">
                <a:solidFill>
                  <a:srgbClr val="00B0F0"/>
                </a:solidFill>
              </a:rPr>
              <a:t>Les structures de contrôle </a:t>
            </a:r>
            <a:r>
              <a:rPr lang="fr-FR" sz="2400" dirty="0">
                <a:solidFill>
                  <a:srgbClr val="00B0F0"/>
                </a:solidFill>
                <a:sym typeface="Wingdings" panose="05000000000000000000" pitchFamily="2" charset="2"/>
              </a:rPr>
              <a:t>( </a:t>
            </a:r>
            <a:r>
              <a:rPr lang="fr-FR" sz="2400" dirty="0">
                <a:solidFill>
                  <a:srgbClr val="7030A0"/>
                </a:solidFill>
                <a:sym typeface="Wingdings" panose="05000000000000000000" pitchFamily="2" charset="2"/>
              </a:rPr>
              <a:t>@empty </a:t>
            </a:r>
            <a:r>
              <a:rPr lang="fr-FR" sz="2400" dirty="0">
                <a:solidFill>
                  <a:srgbClr val="00B0F0"/>
                </a:solidFill>
                <a:sym typeface="Wingdings" panose="05000000000000000000" pitchFamily="2" charset="2"/>
              </a:rPr>
              <a:t>)</a:t>
            </a:r>
          </a:p>
          <a:p>
            <a:pPr marL="457200" lvl="1" indent="0">
              <a:buNone/>
            </a:pPr>
            <a:endParaRPr lang="fr-FR" sz="2000" b="1" dirty="0">
              <a:latin typeface="Times New Roman" panose="02020603050405020304" pitchFamily="18" charset="0"/>
              <a:cs typeface="Times New Roman" panose="02020603050405020304" pitchFamily="18" charset="0"/>
            </a:endParaRPr>
          </a:p>
          <a:p>
            <a:pPr marL="400050" lvl="1" indent="0">
              <a:buNone/>
            </a:pPr>
            <a:r>
              <a:rPr lang="fr-FR" sz="1900" dirty="0">
                <a:solidFill>
                  <a:srgbClr val="C00000"/>
                </a:solidFill>
                <a:latin typeface="Times New Roman" panose="02020603050405020304" pitchFamily="18" charset="0"/>
                <a:cs typeface="Times New Roman" panose="02020603050405020304" pitchFamily="18" charset="0"/>
              </a:rPr>
              <a:t>$produit </a:t>
            </a:r>
            <a:r>
              <a:rPr lang="fr-FR" sz="1900" dirty="0">
                <a:latin typeface="Times New Roman" panose="02020603050405020304" pitchFamily="18" charset="0"/>
                <a:cs typeface="Times New Roman" panose="02020603050405020304" pitchFamily="18" charset="0"/>
              </a:rPr>
              <a:t>= '';</a:t>
            </a:r>
          </a:p>
          <a:p>
            <a:pPr marL="400050" lvl="1" indent="0">
              <a:buNone/>
            </a:pPr>
            <a:r>
              <a:rPr lang="fr-FR" sz="1900" dirty="0">
                <a:solidFill>
                  <a:srgbClr val="7030A0"/>
                </a:solidFill>
                <a:latin typeface="Times New Roman" panose="02020603050405020304" pitchFamily="18" charset="0"/>
                <a:cs typeface="Times New Roman" panose="02020603050405020304" pitchFamily="18" charset="0"/>
              </a:rPr>
              <a:t>@empty</a:t>
            </a:r>
            <a:r>
              <a:rPr lang="fr-FR" sz="1900" dirty="0">
                <a:solidFill>
                  <a:srgbClr val="C00000"/>
                </a:solidFill>
                <a:latin typeface="Times New Roman" panose="02020603050405020304" pitchFamily="18" charset="0"/>
                <a:cs typeface="Times New Roman" panose="02020603050405020304" pitchFamily="18" charset="0"/>
              </a:rPr>
              <a:t>($produit</a:t>
            </a:r>
            <a:r>
              <a:rPr lang="fr-FR" sz="1900" dirty="0">
                <a:latin typeface="Times New Roman" panose="02020603050405020304" pitchFamily="18" charset="0"/>
                <a:cs typeface="Times New Roman" panose="02020603050405020304" pitchFamily="18" charset="0"/>
              </a:rPr>
              <a:t>)</a:t>
            </a:r>
          </a:p>
          <a:p>
            <a:pPr marL="400050" lvl="1" indent="0">
              <a:buNone/>
            </a:pPr>
            <a:r>
              <a:rPr lang="fr-FR" sz="1900" dirty="0">
                <a:latin typeface="Times New Roman" panose="02020603050405020304" pitchFamily="18" charset="0"/>
                <a:cs typeface="Times New Roman" panose="02020603050405020304" pitchFamily="18" charset="0"/>
              </a:rPr>
              <a:t>    &lt;p&gt;Le produit n'existe pas.&lt;/p&gt;</a:t>
            </a:r>
          </a:p>
          <a:p>
            <a:pPr marL="400050" lvl="1" indent="0">
              <a:buNone/>
            </a:pPr>
            <a:r>
              <a:rPr lang="fr-FR" sz="1900" dirty="0">
                <a:solidFill>
                  <a:srgbClr val="7030A0"/>
                </a:solidFill>
                <a:latin typeface="Times New Roman" panose="02020603050405020304" pitchFamily="18" charset="0"/>
                <a:cs typeface="Times New Roman" panose="02020603050405020304" pitchFamily="18" charset="0"/>
              </a:rPr>
              <a:t>@</a:t>
            </a:r>
            <a:r>
              <a:rPr lang="fr-FR" sz="1900" dirty="0" err="1">
                <a:solidFill>
                  <a:srgbClr val="7030A0"/>
                </a:solidFill>
                <a:latin typeface="Times New Roman" panose="02020603050405020304" pitchFamily="18" charset="0"/>
                <a:cs typeface="Times New Roman" panose="02020603050405020304" pitchFamily="18" charset="0"/>
              </a:rPr>
              <a:t>endempty</a:t>
            </a:r>
            <a:endParaRPr lang="fr-FR" sz="1900" dirty="0">
              <a:solidFill>
                <a:srgbClr val="7030A0"/>
              </a:solidFill>
              <a:latin typeface="Times New Roman" panose="02020603050405020304" pitchFamily="18" charset="0"/>
              <a:cs typeface="Times New Roman" panose="02020603050405020304" pitchFamily="18" charset="0"/>
            </a:endParaRPr>
          </a:p>
          <a:p>
            <a:pPr marL="400050" lvl="1" indent="0">
              <a:buNone/>
            </a:pPr>
            <a:endParaRPr lang="fr-FR" sz="1900" dirty="0">
              <a:solidFill>
                <a:schemeClr val="bg1">
                  <a:lumMod val="50000"/>
                </a:schemeClr>
              </a:solidFill>
              <a:latin typeface="Times New Roman" panose="02020603050405020304" pitchFamily="18" charset="0"/>
              <a:cs typeface="Times New Roman" panose="02020603050405020304" pitchFamily="18" charset="0"/>
            </a:endParaRPr>
          </a:p>
          <a:p>
            <a:pPr marL="400050" lvl="1" indent="0">
              <a:buNone/>
            </a:pPr>
            <a:endParaRPr lang="fr-FR" sz="1900" dirty="0">
              <a:solidFill>
                <a:schemeClr val="bg1">
                  <a:lumMod val="50000"/>
                </a:schemeClr>
              </a:solidFill>
              <a:latin typeface="Times New Roman" panose="02020603050405020304" pitchFamily="18" charset="0"/>
              <a:cs typeface="Times New Roman" panose="02020603050405020304" pitchFamily="18" charset="0"/>
            </a:endParaRPr>
          </a:p>
          <a:p>
            <a:pPr marL="400050" lvl="1" indent="0">
              <a:buNone/>
            </a:pPr>
            <a:r>
              <a:rPr lang="fr-FR" sz="1900" dirty="0">
                <a:solidFill>
                  <a:schemeClr val="bg1">
                    <a:lumMod val="50000"/>
                  </a:schemeClr>
                </a:solidFill>
                <a:latin typeface="Times New Roman" panose="02020603050405020304" pitchFamily="18" charset="0"/>
                <a:cs typeface="Times New Roman" panose="02020603050405020304" pitchFamily="18" charset="0"/>
              </a:rPr>
              <a:t>&lt;!-- donnera : --&gt;</a:t>
            </a:r>
          </a:p>
          <a:p>
            <a:pPr marL="400050" lvl="1" indent="0">
              <a:buNone/>
            </a:pPr>
            <a:r>
              <a:rPr lang="fr-FR" sz="1900" dirty="0">
                <a:solidFill>
                  <a:schemeClr val="tx1"/>
                </a:solidFill>
                <a:latin typeface="Times New Roman" panose="02020603050405020304" pitchFamily="18" charset="0"/>
                <a:cs typeface="Times New Roman" panose="02020603050405020304" pitchFamily="18" charset="0"/>
              </a:rPr>
              <a:t>&lt;p&gt;Le produit n'existe pas.&lt;/p&gt;</a:t>
            </a:r>
            <a:endParaRPr lang="fr-FR" dirty="0">
              <a:solidFill>
                <a:schemeClr val="tx1"/>
              </a:solidFill>
            </a:endParaRPr>
          </a:p>
        </p:txBody>
      </p:sp>
      <p:sp>
        <p:nvSpPr>
          <p:cNvPr id="5" name="Rectangle : coins arrondis 4">
            <a:extLst>
              <a:ext uri="{FF2B5EF4-FFF2-40B4-BE49-F238E27FC236}">
                <a16:creationId xmlns:a16="http://schemas.microsoft.com/office/drawing/2014/main" id="{5B7D8339-1417-46E0-926D-6C918614FC78}"/>
              </a:ext>
            </a:extLst>
          </p:cNvPr>
          <p:cNvSpPr/>
          <p:nvPr/>
        </p:nvSpPr>
        <p:spPr>
          <a:xfrm>
            <a:off x="628227" y="3212976"/>
            <a:ext cx="7488832" cy="1756792"/>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 coins arrondis 5">
            <a:extLst>
              <a:ext uri="{FF2B5EF4-FFF2-40B4-BE49-F238E27FC236}">
                <a16:creationId xmlns:a16="http://schemas.microsoft.com/office/drawing/2014/main" id="{6BD5B906-ABD1-43A6-A94E-0A2C2182B38D}"/>
              </a:ext>
            </a:extLst>
          </p:cNvPr>
          <p:cNvSpPr/>
          <p:nvPr/>
        </p:nvSpPr>
        <p:spPr>
          <a:xfrm>
            <a:off x="623465" y="5301208"/>
            <a:ext cx="7488832" cy="892696"/>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725957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Création des Template Blade</a:t>
            </a:r>
          </a:p>
          <a:p>
            <a:pPr lvl="1">
              <a:buFont typeface="Wingdings" panose="05000000000000000000" pitchFamily="2" charset="2"/>
              <a:buChar char="ü"/>
            </a:pPr>
            <a:r>
              <a:rPr lang="fr-FR" sz="2400" dirty="0">
                <a:solidFill>
                  <a:srgbClr val="00B0F0"/>
                </a:solidFill>
              </a:rPr>
              <a:t>Les structures de contrôle </a:t>
            </a:r>
            <a:endParaRPr lang="fr-FR" sz="1800" dirty="0">
              <a:latin typeface="Times New Roman" panose="02020603050405020304" pitchFamily="18" charset="0"/>
              <a:cs typeface="Times New Roman" panose="02020603050405020304" pitchFamily="18" charset="0"/>
            </a:endParaRPr>
          </a:p>
          <a:p>
            <a:pPr marL="400050" lvl="1" indent="0">
              <a:buNone/>
            </a:pPr>
            <a:r>
              <a:rPr lang="fr-FR" sz="2000" b="1" dirty="0">
                <a:latin typeface="Times New Roman" panose="02020603050405020304" pitchFamily="18" charset="0"/>
                <a:cs typeface="Times New Roman" panose="02020603050405020304" pitchFamily="18" charset="0"/>
              </a:rPr>
              <a:t>Pour réaliser une boucle</a:t>
            </a:r>
          </a:p>
          <a:p>
            <a:pPr marL="400050" lvl="1" indent="0">
              <a:buNone/>
            </a:pPr>
            <a:endParaRPr lang="fr-FR" sz="2000" b="1" dirty="0">
              <a:latin typeface="Times New Roman" panose="02020603050405020304" pitchFamily="18" charset="0"/>
              <a:cs typeface="Times New Roman" panose="02020603050405020304" pitchFamily="18" charset="0"/>
            </a:endParaRPr>
          </a:p>
          <a:p>
            <a:pPr marL="400050" lvl="1" indent="0">
              <a:buNone/>
            </a:pPr>
            <a:endParaRPr lang="fr-FR" sz="1800" dirty="0">
              <a:latin typeface="Times New Roman" panose="02020603050405020304" pitchFamily="18" charset="0"/>
              <a:cs typeface="Times New Roman" panose="02020603050405020304" pitchFamily="18" charset="0"/>
            </a:endParaRPr>
          </a:p>
          <a:p>
            <a:pPr marL="0" indent="0" algn="ctr">
              <a:buNone/>
            </a:pPr>
            <a:endParaRPr lang="fr-FR" sz="2400" dirty="0">
              <a:solidFill>
                <a:srgbClr val="7030A0"/>
              </a:solidFill>
              <a:latin typeface="Times New Roman" panose="02020603050405020304" pitchFamily="18" charset="0"/>
              <a:cs typeface="Times New Roman" panose="02020603050405020304" pitchFamily="18" charset="0"/>
            </a:endParaRPr>
          </a:p>
          <a:p>
            <a:pPr marL="0" indent="0" algn="ctr">
              <a:buNone/>
            </a:pPr>
            <a:r>
              <a:rPr lang="fr-FR" sz="2400" dirty="0">
                <a:solidFill>
                  <a:srgbClr val="7030A0"/>
                </a:solidFill>
                <a:latin typeface="Times New Roman" panose="02020603050405020304" pitchFamily="18" charset="0"/>
                <a:cs typeface="Times New Roman" panose="02020603050405020304" pitchFamily="18" charset="0"/>
              </a:rPr>
              <a:t>@for, @foreach, @forelse et @</a:t>
            </a:r>
            <a:r>
              <a:rPr lang="fr-FR" sz="2400" dirty="0" err="1">
                <a:solidFill>
                  <a:srgbClr val="7030A0"/>
                </a:solidFill>
                <a:latin typeface="Times New Roman" panose="02020603050405020304" pitchFamily="18" charset="0"/>
                <a:cs typeface="Times New Roman" panose="02020603050405020304" pitchFamily="18" charset="0"/>
              </a:rPr>
              <a:t>while</a:t>
            </a:r>
            <a:endParaRPr lang="fr-FR" sz="2400" b="1" dirty="0">
              <a:solidFill>
                <a:srgbClr val="7030A0"/>
              </a:solidFill>
              <a:latin typeface="Times New Roman" panose="02020603050405020304" pitchFamily="18" charset="0"/>
              <a:cs typeface="Times New Roman" panose="02020603050405020304" pitchFamily="18" charset="0"/>
            </a:endParaRPr>
          </a:p>
          <a:p>
            <a:endParaRPr lang="fr-FR" dirty="0"/>
          </a:p>
        </p:txBody>
      </p:sp>
      <p:sp>
        <p:nvSpPr>
          <p:cNvPr id="5" name="Rectangle : coins arrondis 4">
            <a:extLst>
              <a:ext uri="{FF2B5EF4-FFF2-40B4-BE49-F238E27FC236}">
                <a16:creationId xmlns:a16="http://schemas.microsoft.com/office/drawing/2014/main" id="{5B7D8339-1417-46E0-926D-6C918614FC78}"/>
              </a:ext>
            </a:extLst>
          </p:cNvPr>
          <p:cNvSpPr/>
          <p:nvPr/>
        </p:nvSpPr>
        <p:spPr>
          <a:xfrm>
            <a:off x="1043608" y="3873994"/>
            <a:ext cx="7056784" cy="1715246"/>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500033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Création des Template Blade</a:t>
            </a:r>
          </a:p>
          <a:p>
            <a:pPr lvl="1">
              <a:buFont typeface="Wingdings" panose="05000000000000000000" pitchFamily="2" charset="2"/>
              <a:buChar char="ü"/>
            </a:pPr>
            <a:r>
              <a:rPr lang="fr-FR" sz="2400" dirty="0">
                <a:solidFill>
                  <a:srgbClr val="00B0F0"/>
                </a:solidFill>
              </a:rPr>
              <a:t>Les structures de contrôle </a:t>
            </a:r>
            <a:r>
              <a:rPr lang="fr-FR" sz="2400" dirty="0">
                <a:solidFill>
                  <a:srgbClr val="00B0F0"/>
                </a:solidFill>
                <a:sym typeface="Wingdings" panose="05000000000000000000" pitchFamily="2" charset="2"/>
              </a:rPr>
              <a:t>( </a:t>
            </a:r>
            <a:r>
              <a:rPr lang="fr-FR" sz="2400" dirty="0">
                <a:solidFill>
                  <a:srgbClr val="7030A0"/>
                </a:solidFill>
                <a:sym typeface="Wingdings" panose="05000000000000000000" pitchFamily="2" charset="2"/>
              </a:rPr>
              <a:t>@</a:t>
            </a:r>
            <a:r>
              <a:rPr lang="fr-FR" sz="2400" dirty="0" err="1">
                <a:solidFill>
                  <a:srgbClr val="7030A0"/>
                </a:solidFill>
                <a:sym typeface="Wingdings" panose="05000000000000000000" pitchFamily="2" charset="2"/>
              </a:rPr>
              <a:t>while</a:t>
            </a:r>
            <a:r>
              <a:rPr lang="fr-FR" sz="2400" dirty="0">
                <a:solidFill>
                  <a:srgbClr val="7030A0"/>
                </a:solidFill>
                <a:sym typeface="Wingdings" panose="05000000000000000000" pitchFamily="2" charset="2"/>
              </a:rPr>
              <a:t> </a:t>
            </a:r>
            <a:r>
              <a:rPr lang="fr-FR" sz="2400" dirty="0">
                <a:solidFill>
                  <a:srgbClr val="00B0F0"/>
                </a:solidFill>
                <a:sym typeface="Wingdings" panose="05000000000000000000" pitchFamily="2" charset="2"/>
              </a:rPr>
              <a:t>)</a:t>
            </a:r>
          </a:p>
          <a:p>
            <a:pPr marL="457200" lvl="1" indent="0">
              <a:buNone/>
            </a:pPr>
            <a:endParaRPr lang="fr-FR" sz="2000" b="1" dirty="0">
              <a:latin typeface="Times New Roman" panose="02020603050405020304" pitchFamily="18" charset="0"/>
              <a:cs typeface="Times New Roman" panose="02020603050405020304" pitchFamily="18" charset="0"/>
            </a:endParaRPr>
          </a:p>
          <a:p>
            <a:pPr marL="400050" lvl="1" indent="0">
              <a:buNone/>
            </a:pPr>
            <a:r>
              <a:rPr lang="fr-FR" sz="1900" dirty="0">
                <a:solidFill>
                  <a:srgbClr val="C00000"/>
                </a:solidFill>
                <a:latin typeface="Times New Roman" panose="02020603050405020304" pitchFamily="18" charset="0"/>
                <a:cs typeface="Times New Roman" panose="02020603050405020304" pitchFamily="18" charset="0"/>
              </a:rPr>
              <a:t>$i = </a:t>
            </a:r>
            <a:r>
              <a:rPr lang="fr-FR" sz="1900" dirty="0">
                <a:solidFill>
                  <a:schemeClr val="tx1"/>
                </a:solidFill>
                <a:latin typeface="Times New Roman" panose="02020603050405020304" pitchFamily="18" charset="0"/>
                <a:cs typeface="Times New Roman" panose="02020603050405020304" pitchFamily="18" charset="0"/>
              </a:rPr>
              <a:t>1</a:t>
            </a:r>
            <a:r>
              <a:rPr lang="fr-FR" sz="1900" dirty="0">
                <a:solidFill>
                  <a:srgbClr val="C00000"/>
                </a:solidFill>
                <a:latin typeface="Times New Roman" panose="02020603050405020304" pitchFamily="18" charset="0"/>
                <a:cs typeface="Times New Roman" panose="02020603050405020304" pitchFamily="18" charset="0"/>
              </a:rPr>
              <a:t>;</a:t>
            </a:r>
          </a:p>
          <a:p>
            <a:pPr marL="400050" lvl="1" indent="0">
              <a:buNone/>
            </a:pPr>
            <a:r>
              <a:rPr lang="fr-FR" sz="1900" dirty="0">
                <a:solidFill>
                  <a:srgbClr val="7030A0"/>
                </a:solidFill>
                <a:latin typeface="Times New Roman" panose="02020603050405020304" pitchFamily="18" charset="0"/>
                <a:cs typeface="Times New Roman" panose="02020603050405020304" pitchFamily="18" charset="0"/>
              </a:rPr>
              <a:t>@</a:t>
            </a:r>
            <a:r>
              <a:rPr lang="fr-FR" sz="1900" dirty="0" err="1">
                <a:solidFill>
                  <a:srgbClr val="7030A0"/>
                </a:solidFill>
                <a:latin typeface="Times New Roman" panose="02020603050405020304" pitchFamily="18" charset="0"/>
                <a:cs typeface="Times New Roman" panose="02020603050405020304" pitchFamily="18" charset="0"/>
              </a:rPr>
              <a:t>while</a:t>
            </a:r>
            <a:r>
              <a:rPr lang="fr-FR" sz="1900" dirty="0">
                <a:solidFill>
                  <a:srgbClr val="7030A0"/>
                </a:solidFill>
                <a:latin typeface="Times New Roman" panose="02020603050405020304" pitchFamily="18" charset="0"/>
                <a:cs typeface="Times New Roman" panose="02020603050405020304" pitchFamily="18" charset="0"/>
              </a:rPr>
              <a:t> </a:t>
            </a:r>
            <a:r>
              <a:rPr lang="fr-FR" sz="1900" dirty="0">
                <a:solidFill>
                  <a:srgbClr val="C00000"/>
                </a:solidFill>
                <a:latin typeface="Times New Roman" panose="02020603050405020304" pitchFamily="18" charset="0"/>
                <a:cs typeface="Times New Roman" panose="02020603050405020304" pitchFamily="18" charset="0"/>
              </a:rPr>
              <a:t>($i &lt; </a:t>
            </a:r>
            <a:r>
              <a:rPr lang="fr-FR" sz="1900" dirty="0">
                <a:solidFill>
                  <a:schemeClr val="tx1"/>
                </a:solidFill>
                <a:latin typeface="Times New Roman" panose="02020603050405020304" pitchFamily="18" charset="0"/>
                <a:cs typeface="Times New Roman" panose="02020603050405020304" pitchFamily="18" charset="0"/>
              </a:rPr>
              <a:t>3</a:t>
            </a:r>
            <a:r>
              <a:rPr lang="fr-FR" sz="1900" dirty="0">
                <a:solidFill>
                  <a:srgbClr val="C00000"/>
                </a:solidFill>
                <a:latin typeface="Times New Roman" panose="02020603050405020304" pitchFamily="18" charset="0"/>
                <a:cs typeface="Times New Roman" panose="02020603050405020304" pitchFamily="18" charset="0"/>
              </a:rPr>
              <a:t>)</a:t>
            </a:r>
          </a:p>
          <a:p>
            <a:pPr marL="400050" lvl="1" indent="0">
              <a:buNone/>
            </a:pPr>
            <a:r>
              <a:rPr lang="fr-FR" sz="1900" dirty="0">
                <a:solidFill>
                  <a:srgbClr val="C00000"/>
                </a:solidFill>
                <a:latin typeface="Times New Roman" panose="02020603050405020304" pitchFamily="18" charset="0"/>
                <a:cs typeface="Times New Roman" panose="02020603050405020304" pitchFamily="18" charset="0"/>
              </a:rPr>
              <a:t>    </a:t>
            </a:r>
            <a:r>
              <a:rPr lang="fr-FR" sz="1900" dirty="0">
                <a:solidFill>
                  <a:schemeClr val="tx1"/>
                </a:solidFill>
                <a:latin typeface="Times New Roman" panose="02020603050405020304" pitchFamily="18" charset="0"/>
                <a:cs typeface="Times New Roman" panose="02020603050405020304" pitchFamily="18" charset="0"/>
              </a:rPr>
              <a:t>&lt;p&gt;</a:t>
            </a:r>
            <a:r>
              <a:rPr lang="fr-FR" sz="1900" dirty="0">
                <a:solidFill>
                  <a:srgbClr val="C00000"/>
                </a:solidFill>
                <a:latin typeface="Times New Roman" panose="02020603050405020304" pitchFamily="18" charset="0"/>
                <a:cs typeface="Times New Roman" panose="02020603050405020304" pitchFamily="18" charset="0"/>
              </a:rPr>
              <a:t>$i </a:t>
            </a:r>
            <a:r>
              <a:rPr lang="fr-FR" sz="1900" dirty="0">
                <a:solidFill>
                  <a:schemeClr val="tx1"/>
                </a:solidFill>
                <a:latin typeface="Times New Roman" panose="02020603050405020304" pitchFamily="18" charset="0"/>
                <a:cs typeface="Times New Roman" panose="02020603050405020304" pitchFamily="18" charset="0"/>
              </a:rPr>
              <a:t>est égal à {{</a:t>
            </a:r>
            <a:r>
              <a:rPr lang="fr-FR" sz="1900" dirty="0">
                <a:solidFill>
                  <a:srgbClr val="C00000"/>
                </a:solidFill>
                <a:latin typeface="Times New Roman" panose="02020603050405020304" pitchFamily="18" charset="0"/>
                <a:cs typeface="Times New Roman" panose="02020603050405020304" pitchFamily="18" charset="0"/>
              </a:rPr>
              <a:t> $i ++ </a:t>
            </a:r>
            <a:r>
              <a:rPr lang="fr-FR" sz="1900" dirty="0">
                <a:solidFill>
                  <a:schemeClr val="tx1"/>
                </a:solidFill>
                <a:latin typeface="Times New Roman" panose="02020603050405020304" pitchFamily="18" charset="0"/>
                <a:cs typeface="Times New Roman" panose="02020603050405020304" pitchFamily="18" charset="0"/>
              </a:rPr>
              <a:t>}}&lt;/p&gt;</a:t>
            </a:r>
          </a:p>
          <a:p>
            <a:pPr marL="400050" lvl="1" indent="0">
              <a:buNone/>
            </a:pPr>
            <a:r>
              <a:rPr lang="fr-FR" sz="1900" dirty="0">
                <a:solidFill>
                  <a:srgbClr val="7030A0"/>
                </a:solidFill>
                <a:latin typeface="Times New Roman" panose="02020603050405020304" pitchFamily="18" charset="0"/>
                <a:cs typeface="Times New Roman" panose="02020603050405020304" pitchFamily="18" charset="0"/>
              </a:rPr>
              <a:t>@</a:t>
            </a:r>
            <a:r>
              <a:rPr lang="fr-FR" sz="1900" dirty="0" err="1">
                <a:solidFill>
                  <a:srgbClr val="7030A0"/>
                </a:solidFill>
                <a:latin typeface="Times New Roman" panose="02020603050405020304" pitchFamily="18" charset="0"/>
                <a:cs typeface="Times New Roman" panose="02020603050405020304" pitchFamily="18" charset="0"/>
              </a:rPr>
              <a:t>endwhile</a:t>
            </a:r>
            <a:endParaRPr lang="fr-FR" sz="1900" dirty="0">
              <a:solidFill>
                <a:srgbClr val="7030A0"/>
              </a:solidFill>
              <a:latin typeface="Times New Roman" panose="02020603050405020304" pitchFamily="18" charset="0"/>
              <a:cs typeface="Times New Roman" panose="02020603050405020304" pitchFamily="18" charset="0"/>
            </a:endParaRPr>
          </a:p>
          <a:p>
            <a:pPr marL="400050" lvl="1" indent="0">
              <a:buNone/>
            </a:pPr>
            <a:endParaRPr lang="fr-FR" sz="1900" dirty="0">
              <a:solidFill>
                <a:schemeClr val="bg1">
                  <a:lumMod val="50000"/>
                </a:schemeClr>
              </a:solidFill>
              <a:latin typeface="Times New Roman" panose="02020603050405020304" pitchFamily="18" charset="0"/>
              <a:cs typeface="Times New Roman" panose="02020603050405020304" pitchFamily="18" charset="0"/>
            </a:endParaRPr>
          </a:p>
          <a:p>
            <a:pPr marL="400050" lvl="1" indent="0">
              <a:buNone/>
            </a:pPr>
            <a:r>
              <a:rPr lang="fr-FR" sz="1900" dirty="0">
                <a:solidFill>
                  <a:schemeClr val="bg1">
                    <a:lumMod val="50000"/>
                  </a:schemeClr>
                </a:solidFill>
                <a:latin typeface="Times New Roman" panose="02020603050405020304" pitchFamily="18" charset="0"/>
                <a:cs typeface="Times New Roman" panose="02020603050405020304" pitchFamily="18" charset="0"/>
              </a:rPr>
              <a:t>&lt;!-- donnera : --&gt;</a:t>
            </a:r>
          </a:p>
          <a:p>
            <a:pPr marL="400050" lvl="1" indent="0">
              <a:buNone/>
            </a:pPr>
            <a:r>
              <a:rPr lang="fr-FR" sz="1900" dirty="0">
                <a:solidFill>
                  <a:schemeClr val="tx1"/>
                </a:solidFill>
                <a:latin typeface="Times New Roman" panose="02020603050405020304" pitchFamily="18" charset="0"/>
                <a:cs typeface="Times New Roman" panose="02020603050405020304" pitchFamily="18" charset="0"/>
              </a:rPr>
              <a:t>&lt;p&gt;$i est égal à 1&lt;/p&gt;</a:t>
            </a:r>
          </a:p>
          <a:p>
            <a:pPr marL="400050" lvl="1" indent="0">
              <a:buNone/>
            </a:pPr>
            <a:r>
              <a:rPr lang="fr-FR" sz="1900" dirty="0">
                <a:solidFill>
                  <a:schemeClr val="tx1"/>
                </a:solidFill>
                <a:latin typeface="Times New Roman" panose="02020603050405020304" pitchFamily="18" charset="0"/>
                <a:cs typeface="Times New Roman" panose="02020603050405020304" pitchFamily="18" charset="0"/>
              </a:rPr>
              <a:t>&lt;p&gt;$i est égal à 2&lt;/p&gt;</a:t>
            </a:r>
            <a:endParaRPr lang="fr-FR" dirty="0">
              <a:solidFill>
                <a:schemeClr val="tx1"/>
              </a:solidFill>
            </a:endParaRPr>
          </a:p>
        </p:txBody>
      </p:sp>
      <p:sp>
        <p:nvSpPr>
          <p:cNvPr id="5" name="Rectangle : coins arrondis 4">
            <a:extLst>
              <a:ext uri="{FF2B5EF4-FFF2-40B4-BE49-F238E27FC236}">
                <a16:creationId xmlns:a16="http://schemas.microsoft.com/office/drawing/2014/main" id="{5B7D8339-1417-46E0-926D-6C918614FC78}"/>
              </a:ext>
            </a:extLst>
          </p:cNvPr>
          <p:cNvSpPr/>
          <p:nvPr/>
        </p:nvSpPr>
        <p:spPr>
          <a:xfrm>
            <a:off x="628227" y="3212976"/>
            <a:ext cx="7488832" cy="1756792"/>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 coins arrondis 5">
            <a:extLst>
              <a:ext uri="{FF2B5EF4-FFF2-40B4-BE49-F238E27FC236}">
                <a16:creationId xmlns:a16="http://schemas.microsoft.com/office/drawing/2014/main" id="{6BD5B906-ABD1-43A6-A94E-0A2C2182B38D}"/>
              </a:ext>
            </a:extLst>
          </p:cNvPr>
          <p:cNvSpPr/>
          <p:nvPr/>
        </p:nvSpPr>
        <p:spPr>
          <a:xfrm>
            <a:off x="623465" y="5085184"/>
            <a:ext cx="7488832" cy="1080120"/>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792365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Création des Template Blade</a:t>
            </a:r>
          </a:p>
          <a:p>
            <a:pPr lvl="1">
              <a:buFont typeface="Wingdings" panose="05000000000000000000" pitchFamily="2" charset="2"/>
              <a:buChar char="ü"/>
            </a:pPr>
            <a:r>
              <a:rPr lang="fr-FR" sz="2400" dirty="0">
                <a:solidFill>
                  <a:srgbClr val="00B0F0"/>
                </a:solidFill>
              </a:rPr>
              <a:t>Les structures de contrôle </a:t>
            </a:r>
            <a:r>
              <a:rPr lang="fr-FR" sz="2400" dirty="0">
                <a:solidFill>
                  <a:srgbClr val="00B0F0"/>
                </a:solidFill>
                <a:sym typeface="Wingdings" panose="05000000000000000000" pitchFamily="2" charset="2"/>
              </a:rPr>
              <a:t>( </a:t>
            </a:r>
            <a:r>
              <a:rPr lang="fr-FR" sz="2400" dirty="0">
                <a:solidFill>
                  <a:srgbClr val="7030A0"/>
                </a:solidFill>
                <a:sym typeface="Wingdings" panose="05000000000000000000" pitchFamily="2" charset="2"/>
              </a:rPr>
              <a:t>@foreach </a:t>
            </a:r>
            <a:r>
              <a:rPr lang="fr-FR" sz="2400" dirty="0">
                <a:solidFill>
                  <a:srgbClr val="00B0F0"/>
                </a:solidFill>
                <a:sym typeface="Wingdings" panose="05000000000000000000" pitchFamily="2" charset="2"/>
              </a:rPr>
              <a:t>)</a:t>
            </a:r>
          </a:p>
          <a:p>
            <a:pPr marL="457200" lvl="1" indent="0">
              <a:buNone/>
            </a:pPr>
            <a:endParaRPr lang="fr-FR" sz="2000" b="1" dirty="0">
              <a:latin typeface="Times New Roman" panose="02020603050405020304" pitchFamily="18" charset="0"/>
              <a:cs typeface="Times New Roman" panose="02020603050405020304" pitchFamily="18" charset="0"/>
            </a:endParaRPr>
          </a:p>
          <a:p>
            <a:pPr marL="400050" lvl="1" indent="0">
              <a:buNone/>
            </a:pPr>
            <a:r>
              <a:rPr lang="fr-FR" sz="1900" dirty="0">
                <a:solidFill>
                  <a:srgbClr val="C00000"/>
                </a:solidFill>
                <a:latin typeface="Times New Roman" panose="02020603050405020304" pitchFamily="18" charset="0"/>
                <a:cs typeface="Times New Roman" panose="02020603050405020304" pitchFamily="18" charset="0"/>
              </a:rPr>
              <a:t>$</a:t>
            </a:r>
            <a:r>
              <a:rPr lang="fr-FR" sz="1900" dirty="0" err="1">
                <a:solidFill>
                  <a:srgbClr val="C00000"/>
                </a:solidFill>
                <a:latin typeface="Times New Roman" panose="02020603050405020304" pitchFamily="18" charset="0"/>
                <a:cs typeface="Times New Roman" panose="02020603050405020304" pitchFamily="18" charset="0"/>
              </a:rPr>
              <a:t>letters</a:t>
            </a:r>
            <a:r>
              <a:rPr lang="fr-FR" sz="1900" dirty="0">
                <a:solidFill>
                  <a:srgbClr val="C00000"/>
                </a:solidFill>
                <a:latin typeface="Times New Roman" panose="02020603050405020304" pitchFamily="18" charset="0"/>
                <a:cs typeface="Times New Roman" panose="02020603050405020304" pitchFamily="18" charset="0"/>
              </a:rPr>
              <a:t> = </a:t>
            </a:r>
            <a:r>
              <a:rPr lang="fr-FR" sz="1900" dirty="0">
                <a:solidFill>
                  <a:schemeClr val="tx1"/>
                </a:solidFill>
                <a:latin typeface="Times New Roman" panose="02020603050405020304" pitchFamily="18" charset="0"/>
                <a:cs typeface="Times New Roman" panose="02020603050405020304" pitchFamily="18" charset="0"/>
              </a:rPr>
              <a:t>['a', 'b', 'c']</a:t>
            </a:r>
            <a:r>
              <a:rPr lang="fr-FR" sz="1900" dirty="0">
                <a:solidFill>
                  <a:srgbClr val="C00000"/>
                </a:solidFill>
                <a:latin typeface="Times New Roman" panose="02020603050405020304" pitchFamily="18" charset="0"/>
                <a:cs typeface="Times New Roman" panose="02020603050405020304" pitchFamily="18" charset="0"/>
              </a:rPr>
              <a:t>;</a:t>
            </a:r>
          </a:p>
          <a:p>
            <a:pPr marL="400050" lvl="1" indent="0">
              <a:buNone/>
            </a:pPr>
            <a:r>
              <a:rPr lang="fr-FR" sz="1900" dirty="0">
                <a:solidFill>
                  <a:srgbClr val="7030A0"/>
                </a:solidFill>
                <a:latin typeface="Times New Roman" panose="02020603050405020304" pitchFamily="18" charset="0"/>
                <a:cs typeface="Times New Roman" panose="02020603050405020304" pitchFamily="18" charset="0"/>
              </a:rPr>
              <a:t>@foreach </a:t>
            </a:r>
            <a:r>
              <a:rPr lang="fr-FR" sz="1900" dirty="0">
                <a:solidFill>
                  <a:srgbClr val="C00000"/>
                </a:solidFill>
                <a:latin typeface="Times New Roman" panose="02020603050405020304" pitchFamily="18" charset="0"/>
                <a:cs typeface="Times New Roman" panose="02020603050405020304" pitchFamily="18" charset="0"/>
              </a:rPr>
              <a:t>( $</a:t>
            </a:r>
            <a:r>
              <a:rPr lang="fr-FR" sz="1900" dirty="0" err="1">
                <a:solidFill>
                  <a:srgbClr val="C00000"/>
                </a:solidFill>
                <a:latin typeface="Times New Roman" panose="02020603050405020304" pitchFamily="18" charset="0"/>
                <a:cs typeface="Times New Roman" panose="02020603050405020304" pitchFamily="18" charset="0"/>
              </a:rPr>
              <a:t>letters</a:t>
            </a:r>
            <a:r>
              <a:rPr lang="fr-FR" sz="1900" dirty="0">
                <a:solidFill>
                  <a:srgbClr val="C00000"/>
                </a:solidFill>
                <a:latin typeface="Times New Roman" panose="02020603050405020304" pitchFamily="18" charset="0"/>
                <a:cs typeface="Times New Roman" panose="02020603050405020304" pitchFamily="18" charset="0"/>
              </a:rPr>
              <a:t> </a:t>
            </a:r>
            <a:r>
              <a:rPr lang="fr-FR" sz="1900" dirty="0">
                <a:solidFill>
                  <a:schemeClr val="tx1"/>
                </a:solidFill>
                <a:latin typeface="Times New Roman" panose="02020603050405020304" pitchFamily="18" charset="0"/>
                <a:cs typeface="Times New Roman" panose="02020603050405020304" pitchFamily="18" charset="0"/>
              </a:rPr>
              <a:t>as</a:t>
            </a:r>
            <a:r>
              <a:rPr lang="fr-FR" sz="1900" dirty="0">
                <a:solidFill>
                  <a:srgbClr val="C00000"/>
                </a:solidFill>
                <a:latin typeface="Times New Roman" panose="02020603050405020304" pitchFamily="18" charset="0"/>
                <a:cs typeface="Times New Roman" panose="02020603050405020304" pitchFamily="18" charset="0"/>
              </a:rPr>
              <a:t> $</a:t>
            </a:r>
            <a:r>
              <a:rPr lang="fr-FR" sz="1900" dirty="0" err="1">
                <a:solidFill>
                  <a:srgbClr val="C00000"/>
                </a:solidFill>
                <a:latin typeface="Times New Roman" panose="02020603050405020304" pitchFamily="18" charset="0"/>
                <a:cs typeface="Times New Roman" panose="02020603050405020304" pitchFamily="18" charset="0"/>
              </a:rPr>
              <a:t>letter</a:t>
            </a:r>
            <a:r>
              <a:rPr lang="fr-FR" sz="1900" dirty="0">
                <a:solidFill>
                  <a:srgbClr val="C00000"/>
                </a:solidFill>
                <a:latin typeface="Times New Roman" panose="02020603050405020304" pitchFamily="18" charset="0"/>
                <a:cs typeface="Times New Roman" panose="02020603050405020304" pitchFamily="18" charset="0"/>
              </a:rPr>
              <a:t> )</a:t>
            </a:r>
          </a:p>
          <a:p>
            <a:pPr marL="400050" lvl="1" indent="0">
              <a:buNone/>
            </a:pPr>
            <a:r>
              <a:rPr lang="fr-FR" sz="1900" dirty="0">
                <a:solidFill>
                  <a:schemeClr val="bg1">
                    <a:lumMod val="50000"/>
                  </a:schemeClr>
                </a:solidFill>
                <a:latin typeface="Times New Roman" panose="02020603050405020304" pitchFamily="18" charset="0"/>
                <a:cs typeface="Times New Roman" panose="02020603050405020304" pitchFamily="18" charset="0"/>
              </a:rPr>
              <a:t>&lt;!-- mon code exemple : --&gt;</a:t>
            </a:r>
          </a:p>
          <a:p>
            <a:pPr marL="400050" lvl="1" indent="0">
              <a:buNone/>
            </a:pPr>
            <a:r>
              <a:rPr lang="fr-FR" sz="1900" dirty="0">
                <a:solidFill>
                  <a:schemeClr val="tx1"/>
                </a:solidFill>
                <a:latin typeface="Times New Roman" panose="02020603050405020304" pitchFamily="18" charset="0"/>
                <a:cs typeface="Times New Roman" panose="02020603050405020304" pitchFamily="18" charset="0"/>
              </a:rPr>
              <a:t>&lt;p&gt;Lettre : </a:t>
            </a:r>
            <a:r>
              <a:rPr lang="fr-FR" sz="1900" dirty="0">
                <a:solidFill>
                  <a:srgbClr val="C00000"/>
                </a:solidFill>
                <a:latin typeface="Times New Roman" panose="02020603050405020304" pitchFamily="18" charset="0"/>
                <a:cs typeface="Times New Roman" panose="02020603050405020304" pitchFamily="18" charset="0"/>
              </a:rPr>
              <a:t>{{ $</a:t>
            </a:r>
            <a:r>
              <a:rPr lang="fr-FR" sz="1900" dirty="0" err="1">
                <a:solidFill>
                  <a:srgbClr val="C00000"/>
                </a:solidFill>
                <a:latin typeface="Times New Roman" panose="02020603050405020304" pitchFamily="18" charset="0"/>
                <a:cs typeface="Times New Roman" panose="02020603050405020304" pitchFamily="18" charset="0"/>
              </a:rPr>
              <a:t>letter</a:t>
            </a:r>
            <a:r>
              <a:rPr lang="fr-FR" sz="1900" dirty="0">
                <a:solidFill>
                  <a:srgbClr val="C00000"/>
                </a:solidFill>
                <a:latin typeface="Times New Roman" panose="02020603050405020304" pitchFamily="18" charset="0"/>
                <a:cs typeface="Times New Roman" panose="02020603050405020304" pitchFamily="18" charset="0"/>
              </a:rPr>
              <a:t> }} </a:t>
            </a:r>
            <a:r>
              <a:rPr lang="fr-FR" sz="1900" dirty="0">
                <a:solidFill>
                  <a:schemeClr val="tx1"/>
                </a:solidFill>
                <a:latin typeface="Times New Roman" panose="02020603050405020304" pitchFamily="18" charset="0"/>
                <a:cs typeface="Times New Roman" panose="02020603050405020304" pitchFamily="18" charset="0"/>
              </a:rPr>
              <a:t>&lt;/p&gt;</a:t>
            </a:r>
          </a:p>
          <a:p>
            <a:pPr marL="400050" lvl="1" indent="0">
              <a:buNone/>
            </a:pPr>
            <a:r>
              <a:rPr lang="fr-FR" sz="1900" dirty="0">
                <a:solidFill>
                  <a:srgbClr val="7030A0"/>
                </a:solidFill>
                <a:latin typeface="Times New Roman" panose="02020603050405020304" pitchFamily="18" charset="0"/>
                <a:cs typeface="Times New Roman" panose="02020603050405020304" pitchFamily="18" charset="0"/>
              </a:rPr>
              <a:t>@</a:t>
            </a:r>
            <a:r>
              <a:rPr lang="fr-FR" sz="1900" dirty="0" err="1">
                <a:solidFill>
                  <a:srgbClr val="7030A0"/>
                </a:solidFill>
                <a:latin typeface="Times New Roman" panose="02020603050405020304" pitchFamily="18" charset="0"/>
                <a:cs typeface="Times New Roman" panose="02020603050405020304" pitchFamily="18" charset="0"/>
              </a:rPr>
              <a:t>endforeach</a:t>
            </a:r>
            <a:endParaRPr lang="fr-FR" sz="1900" dirty="0">
              <a:solidFill>
                <a:srgbClr val="7030A0"/>
              </a:solidFill>
              <a:latin typeface="Times New Roman" panose="02020603050405020304" pitchFamily="18" charset="0"/>
              <a:cs typeface="Times New Roman" panose="02020603050405020304" pitchFamily="18" charset="0"/>
            </a:endParaRPr>
          </a:p>
          <a:p>
            <a:pPr marL="400050" lvl="1" indent="0">
              <a:buNone/>
            </a:pPr>
            <a:endParaRPr lang="fr-FR" sz="1900" dirty="0">
              <a:solidFill>
                <a:schemeClr val="bg1">
                  <a:lumMod val="50000"/>
                </a:schemeClr>
              </a:solidFill>
              <a:latin typeface="Times New Roman" panose="02020603050405020304" pitchFamily="18" charset="0"/>
              <a:cs typeface="Times New Roman" panose="02020603050405020304" pitchFamily="18" charset="0"/>
            </a:endParaRPr>
          </a:p>
          <a:p>
            <a:pPr marL="400050" lvl="1" indent="0">
              <a:buNone/>
            </a:pPr>
            <a:endParaRPr lang="fr-FR" sz="1900" dirty="0">
              <a:solidFill>
                <a:schemeClr val="bg1">
                  <a:lumMod val="50000"/>
                </a:schemeClr>
              </a:solidFill>
              <a:latin typeface="Times New Roman" panose="02020603050405020304" pitchFamily="18" charset="0"/>
              <a:cs typeface="Times New Roman" panose="02020603050405020304" pitchFamily="18" charset="0"/>
            </a:endParaRPr>
          </a:p>
          <a:p>
            <a:pPr marL="400050" lvl="1" indent="0">
              <a:buNone/>
            </a:pPr>
            <a:r>
              <a:rPr lang="fr-FR" sz="1900" dirty="0">
                <a:solidFill>
                  <a:schemeClr val="bg1">
                    <a:lumMod val="50000"/>
                  </a:schemeClr>
                </a:solidFill>
                <a:latin typeface="Times New Roman" panose="02020603050405020304" pitchFamily="18" charset="0"/>
                <a:cs typeface="Times New Roman" panose="02020603050405020304" pitchFamily="18" charset="0"/>
              </a:rPr>
              <a:t>&lt;!-- donnera : --&gt;</a:t>
            </a:r>
          </a:p>
          <a:p>
            <a:pPr marL="400050" lvl="1" indent="0">
              <a:buNone/>
            </a:pPr>
            <a:r>
              <a:rPr lang="fr-FR" sz="1900" dirty="0">
                <a:solidFill>
                  <a:schemeClr val="tx1"/>
                </a:solidFill>
                <a:latin typeface="Times New Roman" panose="02020603050405020304" pitchFamily="18" charset="0"/>
                <a:cs typeface="Times New Roman" panose="02020603050405020304" pitchFamily="18" charset="0"/>
              </a:rPr>
              <a:t>&lt;p&gt;Lettre : a&lt;/p&gt;</a:t>
            </a:r>
          </a:p>
          <a:p>
            <a:pPr marL="400050" lvl="1" indent="0">
              <a:buNone/>
            </a:pPr>
            <a:r>
              <a:rPr lang="fr-FR" sz="1900" dirty="0">
                <a:solidFill>
                  <a:schemeClr val="tx1"/>
                </a:solidFill>
                <a:latin typeface="Times New Roman" panose="02020603050405020304" pitchFamily="18" charset="0"/>
                <a:cs typeface="Times New Roman" panose="02020603050405020304" pitchFamily="18" charset="0"/>
              </a:rPr>
              <a:t>&lt;p&gt;Lettre : b&lt;/p&gt;</a:t>
            </a:r>
          </a:p>
          <a:p>
            <a:pPr marL="400050" lvl="1" indent="0">
              <a:buNone/>
            </a:pPr>
            <a:r>
              <a:rPr lang="fr-FR" sz="1900" dirty="0">
                <a:solidFill>
                  <a:schemeClr val="tx1"/>
                </a:solidFill>
                <a:latin typeface="Times New Roman" panose="02020603050405020304" pitchFamily="18" charset="0"/>
                <a:cs typeface="Times New Roman" panose="02020603050405020304" pitchFamily="18" charset="0"/>
              </a:rPr>
              <a:t>&lt;p&gt;Lettre : c&lt;/p&gt;</a:t>
            </a:r>
            <a:endParaRPr lang="fr-FR" dirty="0">
              <a:solidFill>
                <a:schemeClr val="tx1"/>
              </a:solidFill>
            </a:endParaRPr>
          </a:p>
        </p:txBody>
      </p:sp>
      <p:sp>
        <p:nvSpPr>
          <p:cNvPr id="5" name="Rectangle : coins arrondis 4">
            <a:extLst>
              <a:ext uri="{FF2B5EF4-FFF2-40B4-BE49-F238E27FC236}">
                <a16:creationId xmlns:a16="http://schemas.microsoft.com/office/drawing/2014/main" id="{5B7D8339-1417-46E0-926D-6C918614FC78}"/>
              </a:ext>
            </a:extLst>
          </p:cNvPr>
          <p:cNvSpPr/>
          <p:nvPr/>
        </p:nvSpPr>
        <p:spPr>
          <a:xfrm>
            <a:off x="604142" y="2834626"/>
            <a:ext cx="7488832" cy="2016224"/>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 coins arrondis 5">
            <a:extLst>
              <a:ext uri="{FF2B5EF4-FFF2-40B4-BE49-F238E27FC236}">
                <a16:creationId xmlns:a16="http://schemas.microsoft.com/office/drawing/2014/main" id="{6BD5B906-ABD1-43A6-A94E-0A2C2182B38D}"/>
              </a:ext>
            </a:extLst>
          </p:cNvPr>
          <p:cNvSpPr/>
          <p:nvPr/>
        </p:nvSpPr>
        <p:spPr>
          <a:xfrm>
            <a:off x="604142" y="4941168"/>
            <a:ext cx="7488832" cy="1547283"/>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637145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Création des Template Blade</a:t>
            </a:r>
          </a:p>
          <a:p>
            <a:pPr lvl="1">
              <a:buFont typeface="Wingdings" panose="05000000000000000000" pitchFamily="2" charset="2"/>
              <a:buChar char="ü"/>
            </a:pPr>
            <a:r>
              <a:rPr lang="fr-FR" sz="2400" dirty="0">
                <a:solidFill>
                  <a:srgbClr val="00B0F0"/>
                </a:solidFill>
              </a:rPr>
              <a:t>Les structures de contrôle </a:t>
            </a:r>
            <a:r>
              <a:rPr lang="fr-FR" sz="2400" dirty="0">
                <a:solidFill>
                  <a:srgbClr val="00B0F0"/>
                </a:solidFill>
                <a:sym typeface="Wingdings" panose="05000000000000000000" pitchFamily="2" charset="2"/>
              </a:rPr>
              <a:t>( </a:t>
            </a:r>
            <a:r>
              <a:rPr lang="fr-FR" sz="2400" dirty="0">
                <a:solidFill>
                  <a:srgbClr val="7030A0"/>
                </a:solidFill>
                <a:sym typeface="Wingdings" panose="05000000000000000000" pitchFamily="2" charset="2"/>
              </a:rPr>
              <a:t>@for </a:t>
            </a:r>
            <a:r>
              <a:rPr lang="fr-FR" sz="2400" dirty="0">
                <a:solidFill>
                  <a:srgbClr val="00B0F0"/>
                </a:solidFill>
                <a:sym typeface="Wingdings" panose="05000000000000000000" pitchFamily="2" charset="2"/>
              </a:rPr>
              <a:t>)</a:t>
            </a:r>
          </a:p>
          <a:p>
            <a:pPr marL="457200" lvl="1" indent="0">
              <a:buNone/>
            </a:pPr>
            <a:endParaRPr lang="fr-FR" sz="2000" b="1" dirty="0">
              <a:latin typeface="Times New Roman" panose="02020603050405020304" pitchFamily="18" charset="0"/>
              <a:cs typeface="Times New Roman" panose="02020603050405020304" pitchFamily="18" charset="0"/>
            </a:endParaRPr>
          </a:p>
          <a:p>
            <a:pPr marL="400050" lvl="1" indent="0">
              <a:buNone/>
            </a:pPr>
            <a:r>
              <a:rPr lang="en-US" sz="1900" dirty="0">
                <a:solidFill>
                  <a:srgbClr val="C00000"/>
                </a:solidFill>
                <a:latin typeface="Times New Roman" panose="02020603050405020304" pitchFamily="18" charset="0"/>
                <a:cs typeface="Times New Roman" panose="02020603050405020304" pitchFamily="18" charset="0"/>
              </a:rPr>
              <a:t>$numbers = </a:t>
            </a:r>
            <a:r>
              <a:rPr lang="en-US" sz="1900" dirty="0">
                <a:solidFill>
                  <a:schemeClr val="tx1"/>
                </a:solidFill>
                <a:latin typeface="Times New Roman" panose="02020603050405020304" pitchFamily="18" charset="0"/>
                <a:cs typeface="Times New Roman" panose="02020603050405020304" pitchFamily="18" charset="0"/>
              </a:rPr>
              <a:t>[1, 2, 3];</a:t>
            </a:r>
          </a:p>
          <a:p>
            <a:pPr marL="400050" lvl="1" indent="0">
              <a:buNone/>
            </a:pPr>
            <a:r>
              <a:rPr lang="en-US" sz="1900" dirty="0">
                <a:solidFill>
                  <a:srgbClr val="7030A0"/>
                </a:solidFill>
                <a:latin typeface="Times New Roman" panose="02020603050405020304" pitchFamily="18" charset="0"/>
                <a:cs typeface="Times New Roman" panose="02020603050405020304" pitchFamily="18" charset="0"/>
              </a:rPr>
              <a:t>@for </a:t>
            </a:r>
            <a:r>
              <a:rPr lang="en-US" sz="1900" dirty="0">
                <a:solidFill>
                  <a:srgbClr val="C00000"/>
                </a:solidFill>
                <a:latin typeface="Times New Roman" panose="02020603050405020304" pitchFamily="18" charset="0"/>
                <a:cs typeface="Times New Roman" panose="02020603050405020304" pitchFamily="18" charset="0"/>
              </a:rPr>
              <a:t>($</a:t>
            </a:r>
            <a:r>
              <a:rPr lang="en-US" sz="1900" dirty="0" err="1">
                <a:solidFill>
                  <a:srgbClr val="C00000"/>
                </a:solidFill>
                <a:latin typeface="Times New Roman" panose="02020603050405020304" pitchFamily="18" charset="0"/>
                <a:cs typeface="Times New Roman" panose="02020603050405020304" pitchFamily="18" charset="0"/>
              </a:rPr>
              <a:t>i</a:t>
            </a:r>
            <a:r>
              <a:rPr lang="en-US" sz="1900" dirty="0">
                <a:solidFill>
                  <a:srgbClr val="C00000"/>
                </a:solidFill>
                <a:latin typeface="Times New Roman" panose="02020603050405020304" pitchFamily="18" charset="0"/>
                <a:cs typeface="Times New Roman" panose="02020603050405020304" pitchFamily="18" charset="0"/>
              </a:rPr>
              <a:t> = </a:t>
            </a:r>
            <a:r>
              <a:rPr lang="en-US" sz="1900" dirty="0">
                <a:solidFill>
                  <a:schemeClr val="tx1"/>
                </a:solidFill>
                <a:latin typeface="Times New Roman" panose="02020603050405020304" pitchFamily="18" charset="0"/>
                <a:cs typeface="Times New Roman" panose="02020603050405020304" pitchFamily="18" charset="0"/>
              </a:rPr>
              <a:t>0</a:t>
            </a:r>
            <a:r>
              <a:rPr lang="en-US" sz="1900" dirty="0">
                <a:solidFill>
                  <a:srgbClr val="C00000"/>
                </a:solidFill>
                <a:latin typeface="Times New Roman" panose="02020603050405020304" pitchFamily="18" charset="0"/>
                <a:cs typeface="Times New Roman" panose="02020603050405020304" pitchFamily="18" charset="0"/>
              </a:rPr>
              <a:t>; $</a:t>
            </a:r>
            <a:r>
              <a:rPr lang="en-US" sz="1900" dirty="0" err="1">
                <a:solidFill>
                  <a:srgbClr val="C00000"/>
                </a:solidFill>
                <a:latin typeface="Times New Roman" panose="02020603050405020304" pitchFamily="18" charset="0"/>
                <a:cs typeface="Times New Roman" panose="02020603050405020304" pitchFamily="18" charset="0"/>
              </a:rPr>
              <a:t>i</a:t>
            </a:r>
            <a:r>
              <a:rPr lang="en-US" sz="1900" dirty="0">
                <a:solidFill>
                  <a:srgbClr val="C00000"/>
                </a:solidFill>
                <a:latin typeface="Times New Roman" panose="02020603050405020304" pitchFamily="18" charset="0"/>
                <a:cs typeface="Times New Roman" panose="02020603050405020304" pitchFamily="18" charset="0"/>
              </a:rPr>
              <a:t> &lt; </a:t>
            </a:r>
            <a:r>
              <a:rPr lang="en-US" sz="1900" dirty="0">
                <a:solidFill>
                  <a:schemeClr val="tx1"/>
                </a:solidFill>
                <a:latin typeface="Times New Roman" panose="02020603050405020304" pitchFamily="18" charset="0"/>
                <a:cs typeface="Times New Roman" panose="02020603050405020304" pitchFamily="18" charset="0"/>
              </a:rPr>
              <a:t>count</a:t>
            </a:r>
            <a:r>
              <a:rPr lang="en-US" sz="1900" dirty="0">
                <a:solidFill>
                  <a:srgbClr val="C00000"/>
                </a:solidFill>
                <a:latin typeface="Times New Roman" panose="02020603050405020304" pitchFamily="18" charset="0"/>
                <a:cs typeface="Times New Roman" panose="02020603050405020304" pitchFamily="18" charset="0"/>
              </a:rPr>
              <a:t>($numbers); $</a:t>
            </a:r>
            <a:r>
              <a:rPr lang="en-US" sz="1900" dirty="0" err="1">
                <a:solidFill>
                  <a:srgbClr val="C00000"/>
                </a:solidFill>
                <a:latin typeface="Times New Roman" panose="02020603050405020304" pitchFamily="18" charset="0"/>
                <a:cs typeface="Times New Roman" panose="02020603050405020304" pitchFamily="18" charset="0"/>
              </a:rPr>
              <a:t>i</a:t>
            </a:r>
            <a:r>
              <a:rPr lang="en-US" sz="1900" dirty="0">
                <a:solidFill>
                  <a:srgbClr val="C00000"/>
                </a:solidFill>
                <a:latin typeface="Times New Roman" panose="02020603050405020304" pitchFamily="18" charset="0"/>
                <a:cs typeface="Times New Roman" panose="02020603050405020304" pitchFamily="18" charset="0"/>
              </a:rPr>
              <a:t>++)</a:t>
            </a:r>
          </a:p>
          <a:p>
            <a:pPr marL="400050" lvl="1" indent="0">
              <a:buNone/>
            </a:pPr>
            <a:r>
              <a:rPr lang="en-US" sz="1900" dirty="0">
                <a:solidFill>
                  <a:srgbClr val="C00000"/>
                </a:solidFill>
                <a:latin typeface="Times New Roman" panose="02020603050405020304" pitchFamily="18" charset="0"/>
                <a:cs typeface="Times New Roman" panose="02020603050405020304" pitchFamily="18" charset="0"/>
              </a:rPr>
              <a:t>    </a:t>
            </a:r>
            <a:r>
              <a:rPr lang="en-US" sz="1900" dirty="0">
                <a:solidFill>
                  <a:schemeClr val="tx1"/>
                </a:solidFill>
                <a:latin typeface="Times New Roman" panose="02020603050405020304" pitchFamily="18" charset="0"/>
                <a:cs typeface="Times New Roman" panose="02020603050405020304" pitchFamily="18" charset="0"/>
              </a:rPr>
              <a:t>&lt;p&gt;</a:t>
            </a:r>
            <a:r>
              <a:rPr lang="en-US" sz="1900" dirty="0" err="1">
                <a:solidFill>
                  <a:schemeClr val="tx1"/>
                </a:solidFill>
                <a:latin typeface="Times New Roman" panose="02020603050405020304" pitchFamily="18" charset="0"/>
                <a:cs typeface="Times New Roman" panose="02020603050405020304" pitchFamily="18" charset="0"/>
              </a:rPr>
              <a:t>Nombre</a:t>
            </a:r>
            <a:r>
              <a:rPr lang="en-US" sz="1900" dirty="0">
                <a:solidFill>
                  <a:schemeClr val="tx1"/>
                </a:solidFill>
                <a:latin typeface="Times New Roman" panose="02020603050405020304" pitchFamily="18" charset="0"/>
                <a:cs typeface="Times New Roman" panose="02020603050405020304" pitchFamily="18" charset="0"/>
              </a:rPr>
              <a:t> : </a:t>
            </a:r>
            <a:r>
              <a:rPr lang="en-US" sz="1900" dirty="0">
                <a:solidFill>
                  <a:srgbClr val="C00000"/>
                </a:solidFill>
                <a:latin typeface="Times New Roman" panose="02020603050405020304" pitchFamily="18" charset="0"/>
                <a:cs typeface="Times New Roman" panose="02020603050405020304" pitchFamily="18" charset="0"/>
              </a:rPr>
              <a:t>{{ $numbers[$</a:t>
            </a:r>
            <a:r>
              <a:rPr lang="en-US" sz="1900" dirty="0" err="1">
                <a:solidFill>
                  <a:srgbClr val="C00000"/>
                </a:solidFill>
                <a:latin typeface="Times New Roman" panose="02020603050405020304" pitchFamily="18" charset="0"/>
                <a:cs typeface="Times New Roman" panose="02020603050405020304" pitchFamily="18" charset="0"/>
              </a:rPr>
              <a:t>i</a:t>
            </a:r>
            <a:r>
              <a:rPr lang="en-US" sz="1900" dirty="0">
                <a:solidFill>
                  <a:srgbClr val="C00000"/>
                </a:solidFill>
                <a:latin typeface="Times New Roman" panose="02020603050405020304" pitchFamily="18" charset="0"/>
                <a:cs typeface="Times New Roman" panose="02020603050405020304" pitchFamily="18" charset="0"/>
              </a:rPr>
              <a:t>] }} </a:t>
            </a:r>
            <a:r>
              <a:rPr lang="en-US" sz="1900" dirty="0">
                <a:solidFill>
                  <a:schemeClr val="tx1"/>
                </a:solidFill>
                <a:latin typeface="Times New Roman" panose="02020603050405020304" pitchFamily="18" charset="0"/>
                <a:cs typeface="Times New Roman" panose="02020603050405020304" pitchFamily="18" charset="0"/>
              </a:rPr>
              <a:t>&lt;/p&gt;</a:t>
            </a:r>
          </a:p>
          <a:p>
            <a:pPr marL="400050" lvl="1" indent="0">
              <a:buNone/>
            </a:pPr>
            <a:r>
              <a:rPr lang="en-US" sz="1900" dirty="0">
                <a:solidFill>
                  <a:srgbClr val="7030A0"/>
                </a:solidFill>
                <a:latin typeface="Times New Roman" panose="02020603050405020304" pitchFamily="18" charset="0"/>
                <a:cs typeface="Times New Roman" panose="02020603050405020304" pitchFamily="18" charset="0"/>
              </a:rPr>
              <a:t>@</a:t>
            </a:r>
            <a:r>
              <a:rPr lang="en-US" sz="1900" dirty="0" err="1">
                <a:solidFill>
                  <a:srgbClr val="7030A0"/>
                </a:solidFill>
                <a:latin typeface="Times New Roman" panose="02020603050405020304" pitchFamily="18" charset="0"/>
                <a:cs typeface="Times New Roman" panose="02020603050405020304" pitchFamily="18" charset="0"/>
              </a:rPr>
              <a:t>endfor</a:t>
            </a:r>
            <a:endParaRPr lang="fr-FR" sz="1900" dirty="0">
              <a:solidFill>
                <a:srgbClr val="7030A0"/>
              </a:solidFill>
              <a:latin typeface="Times New Roman" panose="02020603050405020304" pitchFamily="18" charset="0"/>
              <a:cs typeface="Times New Roman" panose="02020603050405020304" pitchFamily="18" charset="0"/>
            </a:endParaRPr>
          </a:p>
          <a:p>
            <a:pPr marL="400050" lvl="1" indent="0">
              <a:buNone/>
            </a:pPr>
            <a:endParaRPr lang="fr-FR" sz="1900" dirty="0">
              <a:solidFill>
                <a:schemeClr val="bg1">
                  <a:lumMod val="50000"/>
                </a:schemeClr>
              </a:solidFill>
              <a:latin typeface="Times New Roman" panose="02020603050405020304" pitchFamily="18" charset="0"/>
              <a:cs typeface="Times New Roman" panose="02020603050405020304" pitchFamily="18" charset="0"/>
            </a:endParaRPr>
          </a:p>
          <a:p>
            <a:pPr marL="400050" lvl="1" indent="0">
              <a:buNone/>
            </a:pPr>
            <a:r>
              <a:rPr lang="fr-FR" sz="1900" dirty="0">
                <a:solidFill>
                  <a:schemeClr val="bg1">
                    <a:lumMod val="50000"/>
                  </a:schemeClr>
                </a:solidFill>
                <a:latin typeface="Times New Roman" panose="02020603050405020304" pitchFamily="18" charset="0"/>
                <a:cs typeface="Times New Roman" panose="02020603050405020304" pitchFamily="18" charset="0"/>
              </a:rPr>
              <a:t>&lt;!-- donnera : --&gt;</a:t>
            </a:r>
          </a:p>
          <a:p>
            <a:pPr marL="400050" lvl="1" indent="0">
              <a:buNone/>
            </a:pPr>
            <a:r>
              <a:rPr lang="fr-FR" sz="1900" dirty="0">
                <a:solidFill>
                  <a:schemeClr val="tx1"/>
                </a:solidFill>
                <a:latin typeface="Times New Roman" panose="02020603050405020304" pitchFamily="18" charset="0"/>
                <a:cs typeface="Times New Roman" panose="02020603050405020304" pitchFamily="18" charset="0"/>
              </a:rPr>
              <a:t>&lt;p&gt;Nombre : 1&lt;/p&gt;</a:t>
            </a:r>
          </a:p>
          <a:p>
            <a:pPr marL="400050" lvl="1" indent="0">
              <a:buNone/>
            </a:pPr>
            <a:r>
              <a:rPr lang="fr-FR" sz="1900" dirty="0">
                <a:solidFill>
                  <a:schemeClr val="tx1"/>
                </a:solidFill>
                <a:latin typeface="Times New Roman" panose="02020603050405020304" pitchFamily="18" charset="0"/>
                <a:cs typeface="Times New Roman" panose="02020603050405020304" pitchFamily="18" charset="0"/>
              </a:rPr>
              <a:t>&lt;p&gt;Nombre : 2&lt;/p&gt;</a:t>
            </a:r>
          </a:p>
          <a:p>
            <a:pPr marL="400050" lvl="1" indent="0">
              <a:buNone/>
            </a:pPr>
            <a:r>
              <a:rPr lang="fr-FR" sz="1900" dirty="0">
                <a:solidFill>
                  <a:schemeClr val="tx1"/>
                </a:solidFill>
                <a:latin typeface="Times New Roman" panose="02020603050405020304" pitchFamily="18" charset="0"/>
                <a:cs typeface="Times New Roman" panose="02020603050405020304" pitchFamily="18" charset="0"/>
              </a:rPr>
              <a:t>&lt;p&gt;Nombre : 3&lt;/p&gt;</a:t>
            </a:r>
            <a:endParaRPr lang="fr-FR" dirty="0">
              <a:solidFill>
                <a:schemeClr val="tx1"/>
              </a:solidFill>
            </a:endParaRPr>
          </a:p>
        </p:txBody>
      </p:sp>
      <p:sp>
        <p:nvSpPr>
          <p:cNvPr id="5" name="Rectangle : coins arrondis 4">
            <a:extLst>
              <a:ext uri="{FF2B5EF4-FFF2-40B4-BE49-F238E27FC236}">
                <a16:creationId xmlns:a16="http://schemas.microsoft.com/office/drawing/2014/main" id="{5B7D8339-1417-46E0-926D-6C918614FC78}"/>
              </a:ext>
            </a:extLst>
          </p:cNvPr>
          <p:cNvSpPr/>
          <p:nvPr/>
        </p:nvSpPr>
        <p:spPr>
          <a:xfrm>
            <a:off x="604142" y="3123410"/>
            <a:ext cx="7488832" cy="1760050"/>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 coins arrondis 5">
            <a:extLst>
              <a:ext uri="{FF2B5EF4-FFF2-40B4-BE49-F238E27FC236}">
                <a16:creationId xmlns:a16="http://schemas.microsoft.com/office/drawing/2014/main" id="{6BD5B906-ABD1-43A6-A94E-0A2C2182B38D}"/>
              </a:ext>
            </a:extLst>
          </p:cNvPr>
          <p:cNvSpPr/>
          <p:nvPr/>
        </p:nvSpPr>
        <p:spPr>
          <a:xfrm>
            <a:off x="604142" y="4941168"/>
            <a:ext cx="7488832" cy="1547283"/>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4397456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62500" lnSpcReduction="20000"/>
          </a:bodyPr>
          <a:lstStyle/>
          <a:p>
            <a:pPr marL="514350" indent="-514350">
              <a:buFont typeface="+mj-lt"/>
              <a:buAutoNum type="alphaUcPeriod" startAt="2"/>
            </a:pPr>
            <a:r>
              <a:rPr lang="fr-FR" b="1" dirty="0">
                <a:solidFill>
                  <a:srgbClr val="002060"/>
                </a:solidFill>
                <a:latin typeface="Times New Roman" panose="02020603050405020304" pitchFamily="18" charset="0"/>
                <a:cs typeface="Times New Roman" panose="02020603050405020304" pitchFamily="18" charset="0"/>
              </a:rPr>
              <a:t>Programmer avec Laravel</a:t>
            </a:r>
            <a:endParaRPr lang="fr-FR"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32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3200" dirty="0"/>
              <a:t> </a:t>
            </a:r>
            <a:r>
              <a:rPr lang="fr-FR" sz="3200" dirty="0">
                <a:solidFill>
                  <a:srgbClr val="C00000"/>
                </a:solidFill>
                <a:latin typeface="Times New Roman" panose="02020603050405020304" pitchFamily="18" charset="0"/>
                <a:cs typeface="Times New Roman" panose="02020603050405020304" pitchFamily="18" charset="0"/>
              </a:rPr>
              <a:t>Laravel</a:t>
            </a:r>
            <a:endParaRPr lang="fr-FR" sz="3200" dirty="0">
              <a:latin typeface="Times New Roman" panose="02020603050405020304" pitchFamily="18" charset="0"/>
              <a:cs typeface="Times New Roman" panose="02020603050405020304" pitchFamily="18" charset="0"/>
            </a:endParaRPr>
          </a:p>
          <a:p>
            <a:pPr marL="400050" lvl="1" indent="0" algn="ctr">
              <a:buNone/>
            </a:pPr>
            <a:r>
              <a:rPr lang="fr-FR" sz="3200" dirty="0">
                <a:solidFill>
                  <a:srgbClr val="00B0F0"/>
                </a:solidFill>
              </a:rPr>
              <a:t>Création des Template Blade</a:t>
            </a:r>
          </a:p>
          <a:p>
            <a:pPr lvl="1">
              <a:buFont typeface="Wingdings" panose="05000000000000000000" pitchFamily="2" charset="2"/>
              <a:buChar char="ü"/>
            </a:pPr>
            <a:r>
              <a:rPr lang="fr-FR" sz="3200" dirty="0">
                <a:solidFill>
                  <a:srgbClr val="00B0F0"/>
                </a:solidFill>
              </a:rPr>
              <a:t>Les structures de contrôle </a:t>
            </a:r>
            <a:r>
              <a:rPr lang="fr-FR" sz="3200" dirty="0">
                <a:solidFill>
                  <a:srgbClr val="00B0F0"/>
                </a:solidFill>
                <a:sym typeface="Wingdings" panose="05000000000000000000" pitchFamily="2" charset="2"/>
              </a:rPr>
              <a:t>( </a:t>
            </a:r>
            <a:r>
              <a:rPr lang="fr-FR" sz="3200" dirty="0">
                <a:solidFill>
                  <a:srgbClr val="7030A0"/>
                </a:solidFill>
                <a:sym typeface="Wingdings" panose="05000000000000000000" pitchFamily="2" charset="2"/>
              </a:rPr>
              <a:t>@forelse </a:t>
            </a:r>
            <a:r>
              <a:rPr lang="fr-FR" sz="3200" dirty="0">
                <a:solidFill>
                  <a:srgbClr val="00B0F0"/>
                </a:solidFill>
                <a:sym typeface="Wingdings" panose="05000000000000000000" pitchFamily="2" charset="2"/>
              </a:rPr>
              <a:t>)</a:t>
            </a:r>
          </a:p>
          <a:p>
            <a:pPr marL="57150" indent="0">
              <a:buNone/>
            </a:pPr>
            <a:r>
              <a:rPr lang="fr-FR" dirty="0">
                <a:latin typeface="Times New Roman" panose="02020603050405020304" pitchFamily="18" charset="0"/>
                <a:cs typeface="Times New Roman" panose="02020603050405020304" pitchFamily="18" charset="0"/>
                <a:sym typeface="Wingdings" panose="05000000000000000000" pitchFamily="2" charset="2"/>
              </a:rPr>
              <a:t>le </a:t>
            </a:r>
            <a:r>
              <a:rPr lang="fr-FR" dirty="0">
                <a:solidFill>
                  <a:srgbClr val="7030A0"/>
                </a:solidFill>
                <a:latin typeface="Times New Roman" panose="02020603050405020304" pitchFamily="18" charset="0"/>
                <a:cs typeface="Times New Roman" panose="02020603050405020304" pitchFamily="18" charset="0"/>
                <a:sym typeface="Wingdings" panose="05000000000000000000" pitchFamily="2" charset="2"/>
              </a:rPr>
              <a:t>@forelse </a:t>
            </a:r>
            <a:r>
              <a:rPr lang="fr-FR" dirty="0">
                <a:latin typeface="Times New Roman" panose="02020603050405020304" pitchFamily="18" charset="0"/>
                <a:cs typeface="Times New Roman" panose="02020603050405020304" pitchFamily="18" charset="0"/>
                <a:sym typeface="Wingdings" panose="05000000000000000000" pitchFamily="2" charset="2"/>
              </a:rPr>
              <a:t>est un foreach qui vous permet de retourner ce que vous souhaitez si le tableau est vide. Cela vous économisera l’ajout d’une condition if </a:t>
            </a:r>
          </a:p>
          <a:p>
            <a:pPr marL="457200" lvl="1" indent="0">
              <a:buNone/>
            </a:pPr>
            <a:endParaRPr lang="fr-FR" sz="2000" b="1" dirty="0">
              <a:latin typeface="Times New Roman" panose="02020603050405020304" pitchFamily="18" charset="0"/>
              <a:cs typeface="Times New Roman" panose="02020603050405020304" pitchFamily="18" charset="0"/>
            </a:endParaRPr>
          </a:p>
          <a:p>
            <a:pPr marL="400050" lvl="1" indent="0">
              <a:buNone/>
            </a:pPr>
            <a:r>
              <a:rPr lang="en-US" sz="2700" dirty="0">
                <a:solidFill>
                  <a:srgbClr val="C00000"/>
                </a:solidFill>
                <a:latin typeface="Times New Roman" panose="02020603050405020304" pitchFamily="18" charset="0"/>
                <a:cs typeface="Times New Roman" panose="02020603050405020304" pitchFamily="18" charset="0"/>
              </a:rPr>
              <a:t>$animals = </a:t>
            </a:r>
            <a:r>
              <a:rPr lang="en-US" sz="2700" dirty="0">
                <a:solidFill>
                  <a:schemeClr val="tx1"/>
                </a:solidFill>
                <a:latin typeface="Times New Roman" panose="02020603050405020304" pitchFamily="18" charset="0"/>
                <a:cs typeface="Times New Roman" panose="02020603050405020304" pitchFamily="18" charset="0"/>
              </a:rPr>
              <a:t>['</a:t>
            </a:r>
            <a:r>
              <a:rPr lang="en-US" sz="2700" dirty="0" err="1">
                <a:solidFill>
                  <a:schemeClr val="tx1"/>
                </a:solidFill>
                <a:latin typeface="Times New Roman" panose="02020603050405020304" pitchFamily="18" charset="0"/>
                <a:cs typeface="Times New Roman" panose="02020603050405020304" pitchFamily="18" charset="0"/>
              </a:rPr>
              <a:t>chien</a:t>
            </a:r>
            <a:r>
              <a:rPr lang="en-US" sz="2700" dirty="0">
                <a:solidFill>
                  <a:schemeClr val="tx1"/>
                </a:solidFill>
                <a:latin typeface="Times New Roman" panose="02020603050405020304" pitchFamily="18" charset="0"/>
                <a:cs typeface="Times New Roman" panose="02020603050405020304" pitchFamily="18" charset="0"/>
              </a:rPr>
              <a:t>', 'chat', 'cheval'];</a:t>
            </a:r>
          </a:p>
          <a:p>
            <a:pPr marL="400050" lvl="1" indent="0">
              <a:buNone/>
            </a:pPr>
            <a:r>
              <a:rPr lang="en-US" sz="2700" dirty="0">
                <a:solidFill>
                  <a:srgbClr val="7030A0"/>
                </a:solidFill>
                <a:latin typeface="Times New Roman" panose="02020603050405020304" pitchFamily="18" charset="0"/>
                <a:cs typeface="Times New Roman" panose="02020603050405020304" pitchFamily="18" charset="0"/>
              </a:rPr>
              <a:t>@</a:t>
            </a:r>
            <a:r>
              <a:rPr lang="en-US" sz="2700" dirty="0" err="1">
                <a:solidFill>
                  <a:srgbClr val="7030A0"/>
                </a:solidFill>
                <a:latin typeface="Times New Roman" panose="02020603050405020304" pitchFamily="18" charset="0"/>
                <a:cs typeface="Times New Roman" panose="02020603050405020304" pitchFamily="18" charset="0"/>
              </a:rPr>
              <a:t>forelse</a:t>
            </a:r>
            <a:r>
              <a:rPr lang="en-US" sz="2700" dirty="0">
                <a:solidFill>
                  <a:srgbClr val="7030A0"/>
                </a:solidFill>
                <a:latin typeface="Times New Roman" panose="02020603050405020304" pitchFamily="18" charset="0"/>
                <a:cs typeface="Times New Roman" panose="02020603050405020304" pitchFamily="18" charset="0"/>
              </a:rPr>
              <a:t> </a:t>
            </a:r>
            <a:r>
              <a:rPr lang="en-US" sz="2700" dirty="0">
                <a:solidFill>
                  <a:srgbClr val="C00000"/>
                </a:solidFill>
                <a:latin typeface="Times New Roman" panose="02020603050405020304" pitchFamily="18" charset="0"/>
                <a:cs typeface="Times New Roman" panose="02020603050405020304" pitchFamily="18" charset="0"/>
              </a:rPr>
              <a:t>($animals </a:t>
            </a:r>
            <a:r>
              <a:rPr lang="en-US" sz="2700" dirty="0">
                <a:solidFill>
                  <a:schemeClr val="tx2"/>
                </a:solidFill>
                <a:latin typeface="Times New Roman" panose="02020603050405020304" pitchFamily="18" charset="0"/>
                <a:cs typeface="Times New Roman" panose="02020603050405020304" pitchFamily="18" charset="0"/>
              </a:rPr>
              <a:t>as</a:t>
            </a:r>
            <a:r>
              <a:rPr lang="en-US" sz="2700" dirty="0">
                <a:solidFill>
                  <a:srgbClr val="C00000"/>
                </a:solidFill>
                <a:latin typeface="Times New Roman" panose="02020603050405020304" pitchFamily="18" charset="0"/>
                <a:cs typeface="Times New Roman" panose="02020603050405020304" pitchFamily="18" charset="0"/>
              </a:rPr>
              <a:t> $animal)</a:t>
            </a:r>
          </a:p>
          <a:p>
            <a:pPr marL="400050" lvl="1" indent="0">
              <a:buNone/>
            </a:pPr>
            <a:r>
              <a:rPr lang="en-US" sz="2700" dirty="0">
                <a:solidFill>
                  <a:srgbClr val="C00000"/>
                </a:solidFill>
                <a:latin typeface="Times New Roman" panose="02020603050405020304" pitchFamily="18" charset="0"/>
                <a:cs typeface="Times New Roman" panose="02020603050405020304" pitchFamily="18" charset="0"/>
              </a:rPr>
              <a:t>    </a:t>
            </a:r>
            <a:r>
              <a:rPr lang="en-US" sz="2700" dirty="0">
                <a:solidFill>
                  <a:schemeClr val="tx1"/>
                </a:solidFill>
                <a:latin typeface="Times New Roman" panose="02020603050405020304" pitchFamily="18" charset="0"/>
                <a:cs typeface="Times New Roman" panose="02020603050405020304" pitchFamily="18" charset="0"/>
              </a:rPr>
              <a:t>&lt;li&gt; </a:t>
            </a:r>
            <a:r>
              <a:rPr lang="en-US" sz="2700" dirty="0">
                <a:solidFill>
                  <a:srgbClr val="C00000"/>
                </a:solidFill>
                <a:latin typeface="Times New Roman" panose="02020603050405020304" pitchFamily="18" charset="0"/>
                <a:cs typeface="Times New Roman" panose="02020603050405020304" pitchFamily="18" charset="0"/>
              </a:rPr>
              <a:t>{{ $animal }} </a:t>
            </a:r>
            <a:r>
              <a:rPr lang="en-US" sz="2700" dirty="0">
                <a:solidFill>
                  <a:schemeClr val="tx1"/>
                </a:solidFill>
                <a:latin typeface="Times New Roman" panose="02020603050405020304" pitchFamily="18" charset="0"/>
                <a:cs typeface="Times New Roman" panose="02020603050405020304" pitchFamily="18" charset="0"/>
              </a:rPr>
              <a:t>&lt;/li&gt;</a:t>
            </a:r>
          </a:p>
          <a:p>
            <a:pPr marL="400050" lvl="1" indent="0">
              <a:buNone/>
            </a:pPr>
            <a:r>
              <a:rPr lang="en-US" sz="2700" dirty="0">
                <a:solidFill>
                  <a:srgbClr val="7030A0"/>
                </a:solidFill>
                <a:latin typeface="Times New Roman" panose="02020603050405020304" pitchFamily="18" charset="0"/>
                <a:cs typeface="Times New Roman" panose="02020603050405020304" pitchFamily="18" charset="0"/>
              </a:rPr>
              <a:t>@empty</a:t>
            </a:r>
          </a:p>
          <a:p>
            <a:pPr marL="400050" lvl="1" indent="0">
              <a:buNone/>
            </a:pPr>
            <a:r>
              <a:rPr lang="en-US" sz="2700" dirty="0">
                <a:solidFill>
                  <a:schemeClr val="tx1"/>
                </a:solidFill>
                <a:latin typeface="Times New Roman" panose="02020603050405020304" pitchFamily="18" charset="0"/>
                <a:cs typeface="Times New Roman" panose="02020603050405020304" pitchFamily="18" charset="0"/>
              </a:rPr>
              <a:t>    &lt;p&gt;</a:t>
            </a:r>
            <a:r>
              <a:rPr lang="en-US" sz="2700" dirty="0" err="1">
                <a:solidFill>
                  <a:schemeClr val="tx1"/>
                </a:solidFill>
                <a:latin typeface="Times New Roman" panose="02020603050405020304" pitchFamily="18" charset="0"/>
                <a:cs typeface="Times New Roman" panose="02020603050405020304" pitchFamily="18" charset="0"/>
              </a:rPr>
              <a:t>Aucun</a:t>
            </a:r>
            <a:r>
              <a:rPr lang="en-US" sz="2700" dirty="0">
                <a:solidFill>
                  <a:schemeClr val="tx1"/>
                </a:solidFill>
                <a:latin typeface="Times New Roman" panose="02020603050405020304" pitchFamily="18" charset="0"/>
                <a:cs typeface="Times New Roman" panose="02020603050405020304" pitchFamily="18" charset="0"/>
              </a:rPr>
              <a:t> animal </a:t>
            </a:r>
            <a:r>
              <a:rPr lang="en-US" sz="2700" dirty="0" err="1">
                <a:solidFill>
                  <a:schemeClr val="tx1"/>
                </a:solidFill>
                <a:latin typeface="Times New Roman" panose="02020603050405020304" pitchFamily="18" charset="0"/>
                <a:cs typeface="Times New Roman" panose="02020603050405020304" pitchFamily="18" charset="0"/>
              </a:rPr>
              <a:t>existant</a:t>
            </a:r>
            <a:r>
              <a:rPr lang="en-US" sz="2700" dirty="0">
                <a:solidFill>
                  <a:schemeClr val="tx1"/>
                </a:solidFill>
                <a:latin typeface="Times New Roman" panose="02020603050405020304" pitchFamily="18" charset="0"/>
                <a:cs typeface="Times New Roman" panose="02020603050405020304" pitchFamily="18" charset="0"/>
              </a:rPr>
              <a:t>.&lt;/p&gt;</a:t>
            </a:r>
          </a:p>
          <a:p>
            <a:pPr marL="400050" lvl="1" indent="0">
              <a:buNone/>
            </a:pPr>
            <a:r>
              <a:rPr lang="en-US" sz="2700" dirty="0">
                <a:solidFill>
                  <a:srgbClr val="7030A0"/>
                </a:solidFill>
                <a:latin typeface="Times New Roman" panose="02020603050405020304" pitchFamily="18" charset="0"/>
                <a:cs typeface="Times New Roman" panose="02020603050405020304" pitchFamily="18" charset="0"/>
              </a:rPr>
              <a:t>@</a:t>
            </a:r>
            <a:r>
              <a:rPr lang="en-US" sz="2700" dirty="0" err="1">
                <a:solidFill>
                  <a:srgbClr val="7030A0"/>
                </a:solidFill>
                <a:latin typeface="Times New Roman" panose="02020603050405020304" pitchFamily="18" charset="0"/>
                <a:cs typeface="Times New Roman" panose="02020603050405020304" pitchFamily="18" charset="0"/>
              </a:rPr>
              <a:t>endforelse</a:t>
            </a:r>
            <a:endParaRPr lang="en-US" sz="2700" dirty="0">
              <a:solidFill>
                <a:srgbClr val="7030A0"/>
              </a:solidFill>
              <a:latin typeface="Times New Roman" panose="02020603050405020304" pitchFamily="18" charset="0"/>
              <a:cs typeface="Times New Roman" panose="02020603050405020304" pitchFamily="18" charset="0"/>
            </a:endParaRPr>
          </a:p>
          <a:p>
            <a:pPr marL="400050" lvl="1" indent="0">
              <a:buNone/>
            </a:pPr>
            <a:endParaRPr lang="en-US" sz="1900" dirty="0">
              <a:solidFill>
                <a:srgbClr val="C00000"/>
              </a:solidFill>
              <a:latin typeface="Times New Roman" panose="02020603050405020304" pitchFamily="18" charset="0"/>
              <a:cs typeface="Times New Roman" panose="02020603050405020304" pitchFamily="18" charset="0"/>
            </a:endParaRPr>
          </a:p>
          <a:p>
            <a:pPr marL="400050" lvl="1" indent="0">
              <a:buNone/>
            </a:pPr>
            <a:endParaRPr lang="fr-FR" sz="2700" dirty="0">
              <a:solidFill>
                <a:schemeClr val="bg1">
                  <a:lumMod val="50000"/>
                </a:schemeClr>
              </a:solidFill>
              <a:latin typeface="Times New Roman" panose="02020603050405020304" pitchFamily="18" charset="0"/>
              <a:cs typeface="Times New Roman" panose="02020603050405020304" pitchFamily="18" charset="0"/>
            </a:endParaRPr>
          </a:p>
          <a:p>
            <a:pPr marL="400050" lvl="1" indent="0">
              <a:buNone/>
            </a:pPr>
            <a:r>
              <a:rPr lang="fr-FR" sz="2700" dirty="0">
                <a:solidFill>
                  <a:schemeClr val="bg1">
                    <a:lumMod val="50000"/>
                  </a:schemeClr>
                </a:solidFill>
                <a:latin typeface="Times New Roman" panose="02020603050405020304" pitchFamily="18" charset="0"/>
                <a:cs typeface="Times New Roman" panose="02020603050405020304" pitchFamily="18" charset="0"/>
              </a:rPr>
              <a:t>&lt;!-- donnera : --&gt;                                   &lt;!-- Si le tableau $animals est vide --&gt;</a:t>
            </a:r>
          </a:p>
          <a:p>
            <a:pPr marL="400050" lvl="1" indent="0">
              <a:buNone/>
            </a:pPr>
            <a:r>
              <a:rPr lang="fr-FR" sz="2700" dirty="0">
                <a:solidFill>
                  <a:schemeClr val="tx1"/>
                </a:solidFill>
                <a:latin typeface="Times New Roman" panose="02020603050405020304" pitchFamily="18" charset="0"/>
                <a:cs typeface="Times New Roman" panose="02020603050405020304" pitchFamily="18" charset="0"/>
              </a:rPr>
              <a:t>&lt;li&gt;chien&lt;/li&gt;                                         </a:t>
            </a:r>
            <a:r>
              <a:rPr lang="fr-FR" sz="2700" dirty="0">
                <a:solidFill>
                  <a:srgbClr val="C00000"/>
                </a:solidFill>
                <a:latin typeface="Times New Roman" panose="02020603050405020304" pitchFamily="18" charset="0"/>
                <a:cs typeface="Times New Roman" panose="02020603050405020304" pitchFamily="18" charset="0"/>
              </a:rPr>
              <a:t>$animals </a:t>
            </a:r>
            <a:r>
              <a:rPr lang="fr-FR" sz="2700" dirty="0">
                <a:solidFill>
                  <a:schemeClr val="tx1"/>
                </a:solidFill>
                <a:latin typeface="Times New Roman" panose="02020603050405020304" pitchFamily="18" charset="0"/>
                <a:cs typeface="Times New Roman" panose="02020603050405020304" pitchFamily="18" charset="0"/>
              </a:rPr>
              <a:t>= [];</a:t>
            </a:r>
          </a:p>
          <a:p>
            <a:pPr marL="400050" lvl="1" indent="0">
              <a:buNone/>
            </a:pPr>
            <a:r>
              <a:rPr lang="fr-FR" sz="2700" dirty="0">
                <a:solidFill>
                  <a:schemeClr val="tx1"/>
                </a:solidFill>
                <a:latin typeface="Times New Roman" panose="02020603050405020304" pitchFamily="18" charset="0"/>
                <a:cs typeface="Times New Roman" panose="02020603050405020304" pitchFamily="18" charset="0"/>
              </a:rPr>
              <a:t>&lt;li&gt;chat&lt;/li&gt;                                          </a:t>
            </a:r>
            <a:r>
              <a:rPr lang="fr-FR" sz="2700" dirty="0">
                <a:solidFill>
                  <a:schemeClr val="bg1">
                    <a:lumMod val="50000"/>
                  </a:schemeClr>
                </a:solidFill>
                <a:latin typeface="Times New Roman" panose="02020603050405020304" pitchFamily="18" charset="0"/>
                <a:cs typeface="Times New Roman" panose="02020603050405020304" pitchFamily="18" charset="0"/>
              </a:rPr>
              <a:t>&lt;!-- Cela donnera : --&gt;</a:t>
            </a:r>
            <a:endParaRPr lang="fr-FR" sz="27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700" dirty="0">
                <a:solidFill>
                  <a:schemeClr val="tx1"/>
                </a:solidFill>
                <a:latin typeface="Times New Roman" panose="02020603050405020304" pitchFamily="18" charset="0"/>
                <a:cs typeface="Times New Roman" panose="02020603050405020304" pitchFamily="18" charset="0"/>
              </a:rPr>
              <a:t>&lt;li&gt;cheval&lt;/li&gt;                                       &lt;p&gt;Aucun animal existant.&lt;/p&gt;</a:t>
            </a:r>
            <a:endParaRPr lang="fr-FR" sz="2700" dirty="0">
              <a:solidFill>
                <a:schemeClr val="tx1"/>
              </a:solidFill>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p:txBody>
      </p:sp>
      <p:sp>
        <p:nvSpPr>
          <p:cNvPr id="5" name="Rectangle : coins arrondis 4">
            <a:extLst>
              <a:ext uri="{FF2B5EF4-FFF2-40B4-BE49-F238E27FC236}">
                <a16:creationId xmlns:a16="http://schemas.microsoft.com/office/drawing/2014/main" id="{5B7D8339-1417-46E0-926D-6C918614FC78}"/>
              </a:ext>
            </a:extLst>
          </p:cNvPr>
          <p:cNvSpPr/>
          <p:nvPr/>
        </p:nvSpPr>
        <p:spPr>
          <a:xfrm>
            <a:off x="634056" y="3111858"/>
            <a:ext cx="7488832" cy="1791277"/>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 coins arrondis 5">
            <a:extLst>
              <a:ext uri="{FF2B5EF4-FFF2-40B4-BE49-F238E27FC236}">
                <a16:creationId xmlns:a16="http://schemas.microsoft.com/office/drawing/2014/main" id="{6BD5B906-ABD1-43A6-A94E-0A2C2182B38D}"/>
              </a:ext>
            </a:extLst>
          </p:cNvPr>
          <p:cNvSpPr/>
          <p:nvPr/>
        </p:nvSpPr>
        <p:spPr>
          <a:xfrm>
            <a:off x="614980" y="5099484"/>
            <a:ext cx="2516860" cy="1229511"/>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coins arrondis 6">
            <a:extLst>
              <a:ext uri="{FF2B5EF4-FFF2-40B4-BE49-F238E27FC236}">
                <a16:creationId xmlns:a16="http://schemas.microsoft.com/office/drawing/2014/main" id="{EEB80676-238B-4B89-8C14-81CA5B58A420}"/>
              </a:ext>
            </a:extLst>
          </p:cNvPr>
          <p:cNvSpPr/>
          <p:nvPr/>
        </p:nvSpPr>
        <p:spPr>
          <a:xfrm>
            <a:off x="3524422" y="5099484"/>
            <a:ext cx="4579390" cy="1229512"/>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039275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70000" lnSpcReduction="20000"/>
          </a:bodyPr>
          <a:lstStyle/>
          <a:p>
            <a:pPr marL="514350" indent="-514350">
              <a:buFont typeface="+mj-lt"/>
              <a:buAutoNum type="alphaUcPeriod" startAt="2"/>
            </a:pPr>
            <a:r>
              <a:rPr lang="fr-FR" b="1" dirty="0">
                <a:solidFill>
                  <a:srgbClr val="002060"/>
                </a:solidFill>
                <a:latin typeface="Times New Roman" panose="02020603050405020304" pitchFamily="18" charset="0"/>
                <a:cs typeface="Times New Roman" panose="02020603050405020304" pitchFamily="18" charset="0"/>
              </a:rPr>
              <a:t>Programmer avec Laravel</a:t>
            </a:r>
            <a:endParaRPr lang="fr-FR"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32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3200" dirty="0"/>
              <a:t> </a:t>
            </a:r>
            <a:r>
              <a:rPr lang="fr-FR" sz="3200" dirty="0">
                <a:solidFill>
                  <a:srgbClr val="C00000"/>
                </a:solidFill>
                <a:latin typeface="Times New Roman" panose="02020603050405020304" pitchFamily="18" charset="0"/>
                <a:cs typeface="Times New Roman" panose="02020603050405020304" pitchFamily="18" charset="0"/>
              </a:rPr>
              <a:t>Laravel</a:t>
            </a:r>
            <a:endParaRPr lang="fr-FR" sz="3200" dirty="0">
              <a:latin typeface="Times New Roman" panose="02020603050405020304" pitchFamily="18" charset="0"/>
              <a:cs typeface="Times New Roman" panose="02020603050405020304" pitchFamily="18" charset="0"/>
            </a:endParaRPr>
          </a:p>
          <a:p>
            <a:pPr marL="400050" lvl="1" indent="0" algn="ctr">
              <a:buNone/>
            </a:pPr>
            <a:r>
              <a:rPr lang="fr-FR" sz="3200" dirty="0">
                <a:solidFill>
                  <a:srgbClr val="00B0F0"/>
                </a:solidFill>
              </a:rPr>
              <a:t>Création des Template Blade</a:t>
            </a:r>
          </a:p>
          <a:p>
            <a:pPr lvl="1">
              <a:buFont typeface="Wingdings" panose="05000000000000000000" pitchFamily="2" charset="2"/>
              <a:buChar char="ü"/>
            </a:pPr>
            <a:r>
              <a:rPr lang="fr-FR" sz="3200" dirty="0">
                <a:solidFill>
                  <a:srgbClr val="00B0F0"/>
                </a:solidFill>
              </a:rPr>
              <a:t>Les structures de contrôle </a:t>
            </a:r>
            <a:r>
              <a:rPr lang="fr-FR" sz="3200" dirty="0">
                <a:solidFill>
                  <a:srgbClr val="00B0F0"/>
                </a:solidFill>
                <a:sym typeface="Wingdings" panose="05000000000000000000" pitchFamily="2" charset="2"/>
              </a:rPr>
              <a:t>( </a:t>
            </a:r>
            <a:r>
              <a:rPr lang="fr-FR" sz="3200" dirty="0">
                <a:solidFill>
                  <a:srgbClr val="7030A0"/>
                </a:solidFill>
                <a:sym typeface="Wingdings" panose="05000000000000000000" pitchFamily="2" charset="2"/>
              </a:rPr>
              <a:t>$</a:t>
            </a:r>
            <a:r>
              <a:rPr lang="fr-FR" sz="3200" dirty="0" err="1">
                <a:solidFill>
                  <a:srgbClr val="7030A0"/>
                </a:solidFill>
                <a:sym typeface="Wingdings" panose="05000000000000000000" pitchFamily="2" charset="2"/>
              </a:rPr>
              <a:t>loop</a:t>
            </a:r>
            <a:r>
              <a:rPr lang="fr-FR" sz="3200" dirty="0">
                <a:solidFill>
                  <a:srgbClr val="7030A0"/>
                </a:solidFill>
                <a:sym typeface="Wingdings" panose="05000000000000000000" pitchFamily="2" charset="2"/>
              </a:rPr>
              <a:t>  </a:t>
            </a:r>
            <a:r>
              <a:rPr lang="fr-FR" sz="3200" dirty="0">
                <a:solidFill>
                  <a:srgbClr val="00B0F0"/>
                </a:solidFill>
                <a:sym typeface="Wingdings" panose="05000000000000000000" pitchFamily="2" charset="2"/>
              </a:rPr>
              <a:t>)</a:t>
            </a:r>
          </a:p>
          <a:p>
            <a:pPr marL="57150" indent="0">
              <a:buNone/>
            </a:pPr>
            <a:r>
              <a:rPr lang="fr-FR" sz="2900" dirty="0">
                <a:latin typeface="Times New Roman" panose="02020603050405020304" pitchFamily="18" charset="0"/>
                <a:cs typeface="Times New Roman" panose="02020603050405020304" pitchFamily="18" charset="0"/>
                <a:sym typeface="Wingdings" panose="05000000000000000000" pitchFamily="2" charset="2"/>
              </a:rPr>
              <a:t>Dans vos boucles vous avez également accès à une variable </a:t>
            </a:r>
            <a:r>
              <a:rPr lang="fr-FR" sz="2900" b="1" dirty="0">
                <a:solidFill>
                  <a:srgbClr val="7030A0"/>
                </a:solidFill>
                <a:latin typeface="Times New Roman" panose="02020603050405020304" pitchFamily="18" charset="0"/>
                <a:cs typeface="Times New Roman" panose="02020603050405020304" pitchFamily="18" charset="0"/>
                <a:sym typeface="Wingdings" panose="05000000000000000000" pitchFamily="2" charset="2"/>
              </a:rPr>
              <a:t>$</a:t>
            </a:r>
            <a:r>
              <a:rPr lang="fr-FR" sz="2900" b="1" dirty="0" err="1">
                <a:solidFill>
                  <a:srgbClr val="7030A0"/>
                </a:solidFill>
                <a:latin typeface="Times New Roman" panose="02020603050405020304" pitchFamily="18" charset="0"/>
                <a:cs typeface="Times New Roman" panose="02020603050405020304" pitchFamily="18" charset="0"/>
                <a:sym typeface="Wingdings" panose="05000000000000000000" pitchFamily="2" charset="2"/>
              </a:rPr>
              <a:t>loop</a:t>
            </a:r>
            <a:r>
              <a:rPr lang="fr-FR" sz="2900" b="1" dirty="0">
                <a:solidFill>
                  <a:srgbClr val="7030A0"/>
                </a:solidFill>
                <a:latin typeface="Times New Roman" panose="02020603050405020304" pitchFamily="18" charset="0"/>
                <a:cs typeface="Times New Roman" panose="02020603050405020304" pitchFamily="18" charset="0"/>
                <a:sym typeface="Wingdings" panose="05000000000000000000" pitchFamily="2" charset="2"/>
              </a:rPr>
              <a:t> </a:t>
            </a:r>
            <a:r>
              <a:rPr lang="fr-FR" sz="2900" dirty="0">
                <a:latin typeface="Times New Roman" panose="02020603050405020304" pitchFamily="18" charset="0"/>
                <a:cs typeface="Times New Roman" panose="02020603050405020304" pitchFamily="18" charset="0"/>
                <a:sym typeface="Wingdings" panose="05000000000000000000" pitchFamily="2" charset="2"/>
              </a:rPr>
              <a:t>qui permet de récupérer certaines informations concernant l’itération en cours dans la boucle. Par exemple si vous voulez mettre une condition sur la première ou la dernière itération :</a:t>
            </a:r>
            <a:endParaRPr lang="en-US" sz="2700" dirty="0">
              <a:solidFill>
                <a:srgbClr val="C00000"/>
              </a:solidFill>
              <a:latin typeface="Times New Roman" panose="02020603050405020304" pitchFamily="18" charset="0"/>
              <a:cs typeface="Times New Roman" panose="02020603050405020304" pitchFamily="18" charset="0"/>
            </a:endParaRPr>
          </a:p>
          <a:p>
            <a:pPr marL="400050" lvl="1" indent="0">
              <a:buNone/>
            </a:pPr>
            <a:r>
              <a:rPr lang="en-US" sz="2700" dirty="0">
                <a:solidFill>
                  <a:srgbClr val="C00000"/>
                </a:solidFill>
                <a:latin typeface="Times New Roman" panose="02020603050405020304" pitchFamily="18" charset="0"/>
                <a:cs typeface="Times New Roman" panose="02020603050405020304" pitchFamily="18" charset="0"/>
              </a:rPr>
              <a:t>$days = </a:t>
            </a:r>
            <a:r>
              <a:rPr lang="en-US" sz="2700" dirty="0">
                <a:solidFill>
                  <a:schemeClr val="tx1"/>
                </a:solidFill>
                <a:latin typeface="Times New Roman" panose="02020603050405020304" pitchFamily="18" charset="0"/>
                <a:cs typeface="Times New Roman" panose="02020603050405020304" pitchFamily="18" charset="0"/>
              </a:rPr>
              <a:t>['</a:t>
            </a:r>
            <a:r>
              <a:rPr lang="en-US" sz="2700" dirty="0" err="1">
                <a:solidFill>
                  <a:schemeClr val="tx1"/>
                </a:solidFill>
                <a:latin typeface="Times New Roman" panose="02020603050405020304" pitchFamily="18" charset="0"/>
                <a:cs typeface="Times New Roman" panose="02020603050405020304" pitchFamily="18" charset="0"/>
              </a:rPr>
              <a:t>lundi</a:t>
            </a:r>
            <a:r>
              <a:rPr lang="en-US" sz="2700" dirty="0">
                <a:solidFill>
                  <a:schemeClr val="tx1"/>
                </a:solidFill>
                <a:latin typeface="Times New Roman" panose="02020603050405020304" pitchFamily="18" charset="0"/>
                <a:cs typeface="Times New Roman" panose="02020603050405020304" pitchFamily="18" charset="0"/>
              </a:rPr>
              <a:t>', '</a:t>
            </a:r>
            <a:r>
              <a:rPr lang="en-US" sz="2700" dirty="0" err="1">
                <a:solidFill>
                  <a:schemeClr val="tx1"/>
                </a:solidFill>
                <a:latin typeface="Times New Roman" panose="02020603050405020304" pitchFamily="18" charset="0"/>
                <a:cs typeface="Times New Roman" panose="02020603050405020304" pitchFamily="18" charset="0"/>
              </a:rPr>
              <a:t>mardi</a:t>
            </a:r>
            <a:r>
              <a:rPr lang="en-US" sz="2700" dirty="0">
                <a:solidFill>
                  <a:schemeClr val="tx1"/>
                </a:solidFill>
                <a:latin typeface="Times New Roman" panose="02020603050405020304" pitchFamily="18" charset="0"/>
                <a:cs typeface="Times New Roman" panose="02020603050405020304" pitchFamily="18" charset="0"/>
              </a:rPr>
              <a:t>', '</a:t>
            </a:r>
            <a:r>
              <a:rPr lang="en-US" sz="2700" dirty="0" err="1">
                <a:solidFill>
                  <a:schemeClr val="tx1"/>
                </a:solidFill>
                <a:latin typeface="Times New Roman" panose="02020603050405020304" pitchFamily="18" charset="0"/>
                <a:cs typeface="Times New Roman" panose="02020603050405020304" pitchFamily="18" charset="0"/>
              </a:rPr>
              <a:t>mercredi</a:t>
            </a:r>
            <a:r>
              <a:rPr lang="en-US" sz="2700" dirty="0">
                <a:solidFill>
                  <a:schemeClr val="tx1"/>
                </a:solidFill>
                <a:latin typeface="Times New Roman" panose="02020603050405020304" pitchFamily="18" charset="0"/>
                <a:cs typeface="Times New Roman" panose="02020603050405020304" pitchFamily="18" charset="0"/>
              </a:rPr>
              <a:t>', '</a:t>
            </a:r>
            <a:r>
              <a:rPr lang="en-US" sz="2700" dirty="0" err="1">
                <a:solidFill>
                  <a:schemeClr val="tx1"/>
                </a:solidFill>
                <a:latin typeface="Times New Roman" panose="02020603050405020304" pitchFamily="18" charset="0"/>
                <a:cs typeface="Times New Roman" panose="02020603050405020304" pitchFamily="18" charset="0"/>
              </a:rPr>
              <a:t>jeudi</a:t>
            </a:r>
            <a:r>
              <a:rPr lang="en-US" sz="2700" dirty="0">
                <a:solidFill>
                  <a:schemeClr val="tx1"/>
                </a:solidFill>
                <a:latin typeface="Times New Roman" panose="02020603050405020304" pitchFamily="18" charset="0"/>
                <a:cs typeface="Times New Roman" panose="02020603050405020304" pitchFamily="18" charset="0"/>
              </a:rPr>
              <a:t>', '</a:t>
            </a:r>
            <a:r>
              <a:rPr lang="en-US" sz="2700" dirty="0" err="1">
                <a:solidFill>
                  <a:schemeClr val="tx1"/>
                </a:solidFill>
                <a:latin typeface="Times New Roman" panose="02020603050405020304" pitchFamily="18" charset="0"/>
                <a:cs typeface="Times New Roman" panose="02020603050405020304" pitchFamily="18" charset="0"/>
              </a:rPr>
              <a:t>vendredi</a:t>
            </a:r>
            <a:r>
              <a:rPr lang="en-US" sz="2700" dirty="0">
                <a:solidFill>
                  <a:schemeClr val="tx1"/>
                </a:solidFill>
                <a:latin typeface="Times New Roman" panose="02020603050405020304" pitchFamily="18" charset="0"/>
                <a:cs typeface="Times New Roman" panose="02020603050405020304" pitchFamily="18" charset="0"/>
              </a:rPr>
              <a:t>', '</a:t>
            </a:r>
            <a:r>
              <a:rPr lang="en-US" sz="2700" dirty="0" err="1">
                <a:solidFill>
                  <a:schemeClr val="tx1"/>
                </a:solidFill>
                <a:latin typeface="Times New Roman" panose="02020603050405020304" pitchFamily="18" charset="0"/>
                <a:cs typeface="Times New Roman" panose="02020603050405020304" pitchFamily="18" charset="0"/>
              </a:rPr>
              <a:t>samedi</a:t>
            </a:r>
            <a:r>
              <a:rPr lang="en-US" sz="2700" dirty="0">
                <a:solidFill>
                  <a:schemeClr val="tx1"/>
                </a:solidFill>
                <a:latin typeface="Times New Roman" panose="02020603050405020304" pitchFamily="18" charset="0"/>
                <a:cs typeface="Times New Roman" panose="02020603050405020304" pitchFamily="18" charset="0"/>
              </a:rPr>
              <a:t>', '</a:t>
            </a:r>
            <a:r>
              <a:rPr lang="en-US" sz="2700" dirty="0" err="1">
                <a:solidFill>
                  <a:schemeClr val="tx1"/>
                </a:solidFill>
                <a:latin typeface="Times New Roman" panose="02020603050405020304" pitchFamily="18" charset="0"/>
                <a:cs typeface="Times New Roman" panose="02020603050405020304" pitchFamily="18" charset="0"/>
              </a:rPr>
              <a:t>dimanche</a:t>
            </a:r>
            <a:r>
              <a:rPr lang="en-US" sz="2700" dirty="0">
                <a:solidFill>
                  <a:schemeClr val="tx1"/>
                </a:solidFill>
                <a:latin typeface="Times New Roman" panose="02020603050405020304" pitchFamily="18" charset="0"/>
                <a:cs typeface="Times New Roman" panose="02020603050405020304" pitchFamily="18" charset="0"/>
              </a:rPr>
              <a:t>'];</a:t>
            </a:r>
          </a:p>
          <a:p>
            <a:pPr marL="400050" lvl="1" indent="0">
              <a:buNone/>
            </a:pPr>
            <a:r>
              <a:rPr lang="en-US" sz="2700" dirty="0">
                <a:solidFill>
                  <a:srgbClr val="7030A0"/>
                </a:solidFill>
                <a:latin typeface="Times New Roman" panose="02020603050405020304" pitchFamily="18" charset="0"/>
                <a:cs typeface="Times New Roman" panose="02020603050405020304" pitchFamily="18" charset="0"/>
              </a:rPr>
              <a:t>@foreach </a:t>
            </a:r>
            <a:r>
              <a:rPr lang="en-US" sz="2700" dirty="0">
                <a:solidFill>
                  <a:srgbClr val="C00000"/>
                </a:solidFill>
                <a:latin typeface="Times New Roman" panose="02020603050405020304" pitchFamily="18" charset="0"/>
                <a:cs typeface="Times New Roman" panose="02020603050405020304" pitchFamily="18" charset="0"/>
              </a:rPr>
              <a:t>($days </a:t>
            </a:r>
            <a:r>
              <a:rPr lang="en-US" sz="2700" dirty="0">
                <a:solidFill>
                  <a:schemeClr val="tx1"/>
                </a:solidFill>
                <a:latin typeface="Times New Roman" panose="02020603050405020304" pitchFamily="18" charset="0"/>
                <a:cs typeface="Times New Roman" panose="02020603050405020304" pitchFamily="18" charset="0"/>
              </a:rPr>
              <a:t>as</a:t>
            </a:r>
            <a:r>
              <a:rPr lang="en-US" sz="2700" dirty="0">
                <a:solidFill>
                  <a:srgbClr val="C00000"/>
                </a:solidFill>
                <a:latin typeface="Times New Roman" panose="02020603050405020304" pitchFamily="18" charset="0"/>
                <a:cs typeface="Times New Roman" panose="02020603050405020304" pitchFamily="18" charset="0"/>
              </a:rPr>
              <a:t> $day)</a:t>
            </a:r>
          </a:p>
          <a:p>
            <a:pPr marL="400050" lvl="1" indent="0">
              <a:buNone/>
            </a:pPr>
            <a:r>
              <a:rPr lang="en-US" sz="2700" dirty="0">
                <a:solidFill>
                  <a:srgbClr val="C00000"/>
                </a:solidFill>
                <a:latin typeface="Times New Roman" panose="02020603050405020304" pitchFamily="18" charset="0"/>
                <a:cs typeface="Times New Roman" panose="02020603050405020304" pitchFamily="18" charset="0"/>
              </a:rPr>
              <a:t>    </a:t>
            </a:r>
            <a:r>
              <a:rPr lang="en-US" sz="2700" dirty="0">
                <a:solidFill>
                  <a:srgbClr val="7030A0"/>
                </a:solidFill>
                <a:latin typeface="Times New Roman" panose="02020603050405020304" pitchFamily="18" charset="0"/>
                <a:cs typeface="Times New Roman" panose="02020603050405020304" pitchFamily="18" charset="0"/>
              </a:rPr>
              <a:t>@if </a:t>
            </a:r>
            <a:r>
              <a:rPr lang="en-US" sz="2700" dirty="0">
                <a:solidFill>
                  <a:srgbClr val="C00000"/>
                </a:solidFill>
                <a:latin typeface="Times New Roman" panose="02020603050405020304" pitchFamily="18" charset="0"/>
                <a:cs typeface="Times New Roman" panose="02020603050405020304" pitchFamily="18" charset="0"/>
              </a:rPr>
              <a:t>($loop-&gt;first)</a:t>
            </a:r>
          </a:p>
          <a:p>
            <a:pPr marL="400050" lvl="1" indent="0">
              <a:buNone/>
            </a:pPr>
            <a:r>
              <a:rPr lang="en-US" sz="2700" dirty="0">
                <a:solidFill>
                  <a:schemeClr val="tx1"/>
                </a:solidFill>
                <a:latin typeface="Times New Roman" panose="02020603050405020304" pitchFamily="18" charset="0"/>
                <a:cs typeface="Times New Roman" panose="02020603050405020304" pitchFamily="18" charset="0"/>
              </a:rPr>
              <a:t>        &lt;p&gt;</a:t>
            </a:r>
            <a:r>
              <a:rPr lang="en-US" sz="2700" dirty="0" err="1">
                <a:solidFill>
                  <a:schemeClr val="tx1"/>
                </a:solidFill>
                <a:latin typeface="Times New Roman" panose="02020603050405020304" pitchFamily="18" charset="0"/>
                <a:cs typeface="Times New Roman" panose="02020603050405020304" pitchFamily="18" charset="0"/>
              </a:rPr>
              <a:t>C'est</a:t>
            </a:r>
            <a:r>
              <a:rPr lang="en-US" sz="2700" dirty="0">
                <a:solidFill>
                  <a:schemeClr val="tx1"/>
                </a:solidFill>
                <a:latin typeface="Times New Roman" panose="02020603050405020304" pitchFamily="18" charset="0"/>
                <a:cs typeface="Times New Roman" panose="02020603050405020304" pitchFamily="18" charset="0"/>
              </a:rPr>
              <a:t> le premier jour de la </a:t>
            </a:r>
            <a:r>
              <a:rPr lang="en-US" sz="2700" dirty="0" err="1">
                <a:solidFill>
                  <a:schemeClr val="tx1"/>
                </a:solidFill>
                <a:latin typeface="Times New Roman" panose="02020603050405020304" pitchFamily="18" charset="0"/>
                <a:cs typeface="Times New Roman" panose="02020603050405020304" pitchFamily="18" charset="0"/>
              </a:rPr>
              <a:t>semaine</a:t>
            </a:r>
            <a:r>
              <a:rPr lang="en-US" sz="2700" dirty="0">
                <a:solidFill>
                  <a:schemeClr val="tx1"/>
                </a:solidFill>
                <a:latin typeface="Times New Roman" panose="02020603050405020304" pitchFamily="18" charset="0"/>
                <a:cs typeface="Times New Roman" panose="02020603050405020304" pitchFamily="18" charset="0"/>
              </a:rPr>
              <a:t> : </a:t>
            </a:r>
            <a:r>
              <a:rPr lang="en-US" sz="2700" dirty="0">
                <a:solidFill>
                  <a:srgbClr val="C00000"/>
                </a:solidFill>
                <a:latin typeface="Times New Roman" panose="02020603050405020304" pitchFamily="18" charset="0"/>
                <a:cs typeface="Times New Roman" panose="02020603050405020304" pitchFamily="18" charset="0"/>
              </a:rPr>
              <a:t>{{ $day }} </a:t>
            </a:r>
            <a:r>
              <a:rPr lang="en-US" sz="2700" dirty="0">
                <a:solidFill>
                  <a:schemeClr val="tx1"/>
                </a:solidFill>
                <a:latin typeface="Times New Roman" panose="02020603050405020304" pitchFamily="18" charset="0"/>
                <a:cs typeface="Times New Roman" panose="02020603050405020304" pitchFamily="18" charset="0"/>
              </a:rPr>
              <a:t>&lt;/p&gt;</a:t>
            </a:r>
          </a:p>
          <a:p>
            <a:pPr marL="400050" lvl="1" indent="0">
              <a:buNone/>
            </a:pPr>
            <a:r>
              <a:rPr lang="en-US" sz="2700" dirty="0">
                <a:solidFill>
                  <a:srgbClr val="C00000"/>
                </a:solidFill>
                <a:latin typeface="Times New Roman" panose="02020603050405020304" pitchFamily="18" charset="0"/>
                <a:cs typeface="Times New Roman" panose="02020603050405020304" pitchFamily="18" charset="0"/>
              </a:rPr>
              <a:t>    </a:t>
            </a:r>
            <a:r>
              <a:rPr lang="en-US" sz="2700" dirty="0">
                <a:solidFill>
                  <a:srgbClr val="7030A0"/>
                </a:solidFill>
                <a:latin typeface="Times New Roman" panose="02020603050405020304" pitchFamily="18" charset="0"/>
                <a:cs typeface="Times New Roman" panose="02020603050405020304" pitchFamily="18" charset="0"/>
              </a:rPr>
              <a:t>@endif</a:t>
            </a:r>
          </a:p>
          <a:p>
            <a:pPr marL="400050" lvl="1" indent="0">
              <a:buNone/>
            </a:pPr>
            <a:r>
              <a:rPr lang="en-US" sz="2700" dirty="0">
                <a:solidFill>
                  <a:srgbClr val="C00000"/>
                </a:solidFill>
                <a:latin typeface="Times New Roman" panose="02020603050405020304" pitchFamily="18" charset="0"/>
                <a:cs typeface="Times New Roman" panose="02020603050405020304" pitchFamily="18" charset="0"/>
              </a:rPr>
              <a:t>    </a:t>
            </a:r>
            <a:r>
              <a:rPr lang="en-US" sz="2700" dirty="0">
                <a:solidFill>
                  <a:srgbClr val="7030A0"/>
                </a:solidFill>
                <a:latin typeface="Times New Roman" panose="02020603050405020304" pitchFamily="18" charset="0"/>
                <a:cs typeface="Times New Roman" panose="02020603050405020304" pitchFamily="18" charset="0"/>
              </a:rPr>
              <a:t>@if </a:t>
            </a:r>
            <a:r>
              <a:rPr lang="en-US" sz="2700" dirty="0">
                <a:solidFill>
                  <a:srgbClr val="C00000"/>
                </a:solidFill>
                <a:latin typeface="Times New Roman" panose="02020603050405020304" pitchFamily="18" charset="0"/>
                <a:cs typeface="Times New Roman" panose="02020603050405020304" pitchFamily="18" charset="0"/>
              </a:rPr>
              <a:t>($loop-&gt;last)</a:t>
            </a:r>
          </a:p>
          <a:p>
            <a:pPr marL="400050" lvl="1" indent="0">
              <a:buNone/>
            </a:pPr>
            <a:r>
              <a:rPr lang="en-US" sz="2700" dirty="0">
                <a:solidFill>
                  <a:schemeClr val="tx1"/>
                </a:solidFill>
                <a:latin typeface="Times New Roman" panose="02020603050405020304" pitchFamily="18" charset="0"/>
                <a:cs typeface="Times New Roman" panose="02020603050405020304" pitchFamily="18" charset="0"/>
              </a:rPr>
              <a:t>        &lt;p&gt;</a:t>
            </a:r>
            <a:r>
              <a:rPr lang="en-US" sz="2700" dirty="0" err="1">
                <a:solidFill>
                  <a:schemeClr val="tx1"/>
                </a:solidFill>
                <a:latin typeface="Times New Roman" panose="02020603050405020304" pitchFamily="18" charset="0"/>
                <a:cs typeface="Times New Roman" panose="02020603050405020304" pitchFamily="18" charset="0"/>
              </a:rPr>
              <a:t>C'est</a:t>
            </a:r>
            <a:r>
              <a:rPr lang="en-US" sz="2700" dirty="0">
                <a:solidFill>
                  <a:schemeClr val="tx1"/>
                </a:solidFill>
                <a:latin typeface="Times New Roman" panose="02020603050405020304" pitchFamily="18" charset="0"/>
                <a:cs typeface="Times New Roman" panose="02020603050405020304" pitchFamily="18" charset="0"/>
              </a:rPr>
              <a:t> le dernier jour de la </a:t>
            </a:r>
            <a:r>
              <a:rPr lang="en-US" sz="2700" dirty="0" err="1">
                <a:solidFill>
                  <a:schemeClr val="tx1"/>
                </a:solidFill>
                <a:latin typeface="Times New Roman" panose="02020603050405020304" pitchFamily="18" charset="0"/>
                <a:cs typeface="Times New Roman" panose="02020603050405020304" pitchFamily="18" charset="0"/>
              </a:rPr>
              <a:t>semaine</a:t>
            </a:r>
            <a:r>
              <a:rPr lang="en-US" sz="2700" dirty="0">
                <a:solidFill>
                  <a:schemeClr val="tx1"/>
                </a:solidFill>
                <a:latin typeface="Times New Roman" panose="02020603050405020304" pitchFamily="18" charset="0"/>
                <a:cs typeface="Times New Roman" panose="02020603050405020304" pitchFamily="18" charset="0"/>
              </a:rPr>
              <a:t> : </a:t>
            </a:r>
            <a:r>
              <a:rPr lang="en-US" sz="2700" dirty="0">
                <a:solidFill>
                  <a:srgbClr val="C00000"/>
                </a:solidFill>
                <a:latin typeface="Times New Roman" panose="02020603050405020304" pitchFamily="18" charset="0"/>
                <a:cs typeface="Times New Roman" panose="02020603050405020304" pitchFamily="18" charset="0"/>
              </a:rPr>
              <a:t>{{ $day }} </a:t>
            </a:r>
            <a:r>
              <a:rPr lang="en-US" sz="2700" dirty="0">
                <a:solidFill>
                  <a:schemeClr val="tx1"/>
                </a:solidFill>
                <a:latin typeface="Times New Roman" panose="02020603050405020304" pitchFamily="18" charset="0"/>
                <a:cs typeface="Times New Roman" panose="02020603050405020304" pitchFamily="18" charset="0"/>
              </a:rPr>
              <a:t>&lt;/p&gt;</a:t>
            </a:r>
          </a:p>
          <a:p>
            <a:pPr marL="400050" lvl="1" indent="0">
              <a:buNone/>
            </a:pPr>
            <a:r>
              <a:rPr lang="en-US" sz="2700" dirty="0">
                <a:solidFill>
                  <a:srgbClr val="C00000"/>
                </a:solidFill>
                <a:latin typeface="Times New Roman" panose="02020603050405020304" pitchFamily="18" charset="0"/>
                <a:cs typeface="Times New Roman" panose="02020603050405020304" pitchFamily="18" charset="0"/>
              </a:rPr>
              <a:t>    </a:t>
            </a:r>
            <a:r>
              <a:rPr lang="en-US" sz="2700" dirty="0">
                <a:solidFill>
                  <a:srgbClr val="7030A0"/>
                </a:solidFill>
                <a:latin typeface="Times New Roman" panose="02020603050405020304" pitchFamily="18" charset="0"/>
                <a:cs typeface="Times New Roman" panose="02020603050405020304" pitchFamily="18" charset="0"/>
              </a:rPr>
              <a:t>@endif</a:t>
            </a:r>
          </a:p>
          <a:p>
            <a:pPr marL="400050" lvl="1" indent="0">
              <a:buNone/>
            </a:pPr>
            <a:r>
              <a:rPr lang="en-US" sz="2700" dirty="0">
                <a:solidFill>
                  <a:srgbClr val="7030A0"/>
                </a:solidFill>
                <a:latin typeface="Times New Roman" panose="02020603050405020304" pitchFamily="18" charset="0"/>
                <a:cs typeface="Times New Roman" panose="02020603050405020304" pitchFamily="18" charset="0"/>
              </a:rPr>
              <a:t>@</a:t>
            </a:r>
            <a:r>
              <a:rPr lang="en-US" sz="2700" dirty="0" err="1">
                <a:solidFill>
                  <a:srgbClr val="7030A0"/>
                </a:solidFill>
                <a:latin typeface="Times New Roman" panose="02020603050405020304" pitchFamily="18" charset="0"/>
                <a:cs typeface="Times New Roman" panose="02020603050405020304" pitchFamily="18" charset="0"/>
              </a:rPr>
              <a:t>endforeach</a:t>
            </a:r>
            <a:endParaRPr lang="en-US" sz="1900" dirty="0">
              <a:solidFill>
                <a:srgbClr val="7030A0"/>
              </a:solidFill>
              <a:latin typeface="Times New Roman" panose="02020603050405020304" pitchFamily="18" charset="0"/>
              <a:cs typeface="Times New Roman" panose="02020603050405020304" pitchFamily="18" charset="0"/>
            </a:endParaRPr>
          </a:p>
        </p:txBody>
      </p:sp>
      <p:sp>
        <p:nvSpPr>
          <p:cNvPr id="5" name="Rectangle : coins arrondis 4">
            <a:extLst>
              <a:ext uri="{FF2B5EF4-FFF2-40B4-BE49-F238E27FC236}">
                <a16:creationId xmlns:a16="http://schemas.microsoft.com/office/drawing/2014/main" id="{5B7D8339-1417-46E0-926D-6C918614FC78}"/>
              </a:ext>
            </a:extLst>
          </p:cNvPr>
          <p:cNvSpPr/>
          <p:nvPr/>
        </p:nvSpPr>
        <p:spPr>
          <a:xfrm>
            <a:off x="611560" y="3645024"/>
            <a:ext cx="7848872" cy="2822612"/>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05262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32500" lnSpcReduction="20000"/>
          </a:bodyPr>
          <a:lstStyle/>
          <a:p>
            <a:pPr marL="514350" indent="-514350">
              <a:buFont typeface="+mj-lt"/>
              <a:buAutoNum type="alphaUcPeriod" startAt="2"/>
            </a:pPr>
            <a:r>
              <a:rPr lang="fr-FR" sz="6200" b="1" dirty="0">
                <a:solidFill>
                  <a:srgbClr val="002060"/>
                </a:solidFill>
                <a:latin typeface="Times New Roman" panose="02020603050405020304" pitchFamily="18" charset="0"/>
                <a:cs typeface="Times New Roman" panose="02020603050405020304" pitchFamily="18" charset="0"/>
              </a:rPr>
              <a:t>Programmer avec Laravel</a:t>
            </a:r>
            <a:endParaRPr lang="fr-FR" sz="6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62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6200" dirty="0"/>
              <a:t> </a:t>
            </a:r>
            <a:r>
              <a:rPr lang="fr-FR" sz="6200" dirty="0">
                <a:solidFill>
                  <a:srgbClr val="C00000"/>
                </a:solidFill>
                <a:latin typeface="Times New Roman" panose="02020603050405020304" pitchFamily="18" charset="0"/>
                <a:cs typeface="Times New Roman" panose="02020603050405020304" pitchFamily="18" charset="0"/>
              </a:rPr>
              <a:t>Laravel</a:t>
            </a:r>
            <a:endParaRPr lang="fr-FR" sz="6200" dirty="0">
              <a:latin typeface="Times New Roman" panose="02020603050405020304" pitchFamily="18" charset="0"/>
              <a:cs typeface="Times New Roman" panose="02020603050405020304" pitchFamily="18" charset="0"/>
            </a:endParaRPr>
          </a:p>
          <a:p>
            <a:pPr marL="400050" lvl="1" indent="0" algn="ctr">
              <a:buNone/>
            </a:pPr>
            <a:r>
              <a:rPr lang="fr-FR" sz="6200" dirty="0">
                <a:solidFill>
                  <a:srgbClr val="00B0F0"/>
                </a:solidFill>
              </a:rPr>
              <a:t>Création des Template Blade</a:t>
            </a:r>
          </a:p>
          <a:p>
            <a:pPr lvl="1">
              <a:buFont typeface="Wingdings" panose="05000000000000000000" pitchFamily="2" charset="2"/>
              <a:buChar char="ü"/>
            </a:pPr>
            <a:r>
              <a:rPr lang="fr-FR" sz="6200" dirty="0">
                <a:solidFill>
                  <a:srgbClr val="00B0F0"/>
                </a:solidFill>
              </a:rPr>
              <a:t>Créer un layout</a:t>
            </a:r>
            <a:endParaRPr lang="fr-FR" sz="6200" dirty="0">
              <a:solidFill>
                <a:srgbClr val="00B0F0"/>
              </a:solidFill>
              <a:sym typeface="Wingdings" panose="05000000000000000000" pitchFamily="2" charset="2"/>
            </a:endParaRPr>
          </a:p>
          <a:p>
            <a:pPr marL="57150" indent="0">
              <a:buNone/>
            </a:pPr>
            <a:r>
              <a:rPr lang="fr-FR" sz="6200" dirty="0">
                <a:latin typeface="Times New Roman" panose="02020603050405020304" pitchFamily="18" charset="0"/>
                <a:cs typeface="Times New Roman" panose="02020603050405020304" pitchFamily="18" charset="0"/>
                <a:sym typeface="Wingdings" panose="05000000000000000000" pitchFamily="2" charset="2"/>
              </a:rPr>
              <a:t>la création de layout et l’organisation de nos fichiers de vues.</a:t>
            </a:r>
          </a:p>
          <a:p>
            <a:pPr marL="400050" lvl="1" indent="0">
              <a:buNone/>
            </a:pPr>
            <a:r>
              <a:rPr lang="en-US" sz="6200" b="1" dirty="0">
                <a:solidFill>
                  <a:schemeClr val="tx1"/>
                </a:solidFill>
                <a:latin typeface="Times New Roman" panose="02020603050405020304" pitchFamily="18" charset="0"/>
                <a:cs typeface="Times New Roman" panose="02020603050405020304" pitchFamily="18" charset="0"/>
              </a:rPr>
              <a:t>Définir le template</a:t>
            </a:r>
          </a:p>
          <a:p>
            <a:pPr marL="400050" lvl="1" indent="0">
              <a:buNone/>
            </a:pPr>
            <a:endParaRPr lang="en-US" sz="6000" dirty="0">
              <a:solidFill>
                <a:srgbClr val="7030A0"/>
              </a:solidFill>
              <a:latin typeface="Times New Roman" panose="02020603050405020304" pitchFamily="18" charset="0"/>
              <a:cs typeface="Times New Roman" panose="02020603050405020304" pitchFamily="18" charset="0"/>
            </a:endParaRPr>
          </a:p>
          <a:p>
            <a:pPr marL="400050" lvl="1" indent="0">
              <a:buNone/>
            </a:pPr>
            <a:r>
              <a:rPr lang="en-US" sz="6000" dirty="0">
                <a:solidFill>
                  <a:schemeClr val="bg1">
                    <a:lumMod val="50000"/>
                  </a:schemeClr>
                </a:solidFill>
                <a:latin typeface="Times New Roman" panose="02020603050405020304" pitchFamily="18" charset="0"/>
                <a:cs typeface="Times New Roman" panose="02020603050405020304" pitchFamily="18" charset="0"/>
              </a:rPr>
              <a:t>&lt;!-- Voici le template situé dans resources/views/layout.blade.php --&gt;</a:t>
            </a:r>
          </a:p>
          <a:p>
            <a:pPr marL="400050" lvl="1" indent="0">
              <a:buNone/>
            </a:pPr>
            <a:r>
              <a:rPr lang="en-US" sz="6000" dirty="0">
                <a:solidFill>
                  <a:schemeClr val="tx1"/>
                </a:solidFill>
                <a:latin typeface="Times New Roman" panose="02020603050405020304" pitchFamily="18" charset="0"/>
                <a:cs typeface="Times New Roman" panose="02020603050405020304" pitchFamily="18" charset="0"/>
              </a:rPr>
              <a:t>&lt;!DOCTYPE html&gt;</a:t>
            </a:r>
          </a:p>
          <a:p>
            <a:pPr marL="400050" lvl="1" indent="0">
              <a:buNone/>
            </a:pPr>
            <a:r>
              <a:rPr lang="en-US" sz="6000" dirty="0">
                <a:solidFill>
                  <a:schemeClr val="tx1"/>
                </a:solidFill>
                <a:latin typeface="Times New Roman" panose="02020603050405020304" pitchFamily="18" charset="0"/>
                <a:cs typeface="Times New Roman" panose="02020603050405020304" pitchFamily="18" charset="0"/>
              </a:rPr>
              <a:t>&lt;html lang="</a:t>
            </a:r>
            <a:r>
              <a:rPr lang="en-US" sz="6000" dirty="0" err="1">
                <a:solidFill>
                  <a:schemeClr val="tx1"/>
                </a:solidFill>
                <a:latin typeface="Times New Roman" panose="02020603050405020304" pitchFamily="18" charset="0"/>
                <a:cs typeface="Times New Roman" panose="02020603050405020304" pitchFamily="18" charset="0"/>
              </a:rPr>
              <a:t>fr</a:t>
            </a:r>
            <a:r>
              <a:rPr lang="en-US" sz="6000" dirty="0">
                <a:solidFill>
                  <a:schemeClr val="tx1"/>
                </a:solidFill>
                <a:latin typeface="Times New Roman" panose="02020603050405020304" pitchFamily="18" charset="0"/>
                <a:cs typeface="Times New Roman" panose="02020603050405020304" pitchFamily="18" charset="0"/>
              </a:rPr>
              <a:t>"&gt;</a:t>
            </a:r>
          </a:p>
          <a:p>
            <a:pPr marL="400050" lvl="1" indent="0">
              <a:buNone/>
            </a:pPr>
            <a:r>
              <a:rPr lang="en-US" sz="6000" dirty="0">
                <a:solidFill>
                  <a:schemeClr val="tx1"/>
                </a:solidFill>
                <a:latin typeface="Times New Roman" panose="02020603050405020304" pitchFamily="18" charset="0"/>
                <a:cs typeface="Times New Roman" panose="02020603050405020304" pitchFamily="18" charset="0"/>
              </a:rPr>
              <a:t>&lt;head&gt;</a:t>
            </a:r>
          </a:p>
          <a:p>
            <a:pPr marL="400050" lvl="1" indent="0">
              <a:buNone/>
            </a:pPr>
            <a:r>
              <a:rPr lang="en-US" sz="6000" dirty="0">
                <a:solidFill>
                  <a:schemeClr val="tx1"/>
                </a:solidFill>
                <a:latin typeface="Times New Roman" panose="02020603050405020304" pitchFamily="18" charset="0"/>
                <a:cs typeface="Times New Roman" panose="02020603050405020304" pitchFamily="18" charset="0"/>
              </a:rPr>
              <a:t>    &lt;meta charset="UTF-8"&gt;</a:t>
            </a:r>
          </a:p>
          <a:p>
            <a:pPr marL="400050" lvl="1" indent="0">
              <a:buNone/>
            </a:pPr>
            <a:r>
              <a:rPr lang="en-US" sz="6000" dirty="0">
                <a:solidFill>
                  <a:schemeClr val="tx1"/>
                </a:solidFill>
                <a:latin typeface="Times New Roman" panose="02020603050405020304" pitchFamily="18" charset="0"/>
                <a:cs typeface="Times New Roman" panose="02020603050405020304" pitchFamily="18" charset="0"/>
              </a:rPr>
              <a:t>    &lt;meta name="viewport" content="width=device-width, initial-scale=1.0"&gt;</a:t>
            </a:r>
          </a:p>
          <a:p>
            <a:pPr marL="400050" lvl="1" indent="0">
              <a:buNone/>
            </a:pPr>
            <a:r>
              <a:rPr lang="en-US" sz="6000" dirty="0">
                <a:solidFill>
                  <a:schemeClr val="tx1"/>
                </a:solidFill>
                <a:latin typeface="Times New Roman" panose="02020603050405020304" pitchFamily="18" charset="0"/>
                <a:cs typeface="Times New Roman" panose="02020603050405020304" pitchFamily="18" charset="0"/>
              </a:rPr>
              <a:t>    &lt;meta http-</a:t>
            </a:r>
            <a:r>
              <a:rPr lang="en-US" sz="6000" dirty="0" err="1">
                <a:solidFill>
                  <a:schemeClr val="tx1"/>
                </a:solidFill>
                <a:latin typeface="Times New Roman" panose="02020603050405020304" pitchFamily="18" charset="0"/>
                <a:cs typeface="Times New Roman" panose="02020603050405020304" pitchFamily="18" charset="0"/>
              </a:rPr>
              <a:t>equiv</a:t>
            </a:r>
            <a:r>
              <a:rPr lang="en-US" sz="6000" dirty="0">
                <a:solidFill>
                  <a:schemeClr val="tx1"/>
                </a:solidFill>
                <a:latin typeface="Times New Roman" panose="02020603050405020304" pitchFamily="18" charset="0"/>
                <a:cs typeface="Times New Roman" panose="02020603050405020304" pitchFamily="18" charset="0"/>
              </a:rPr>
              <a:t>="X-UA-Compatible" content="</a:t>
            </a:r>
            <a:r>
              <a:rPr lang="en-US" sz="6000" dirty="0" err="1">
                <a:solidFill>
                  <a:schemeClr val="tx1"/>
                </a:solidFill>
                <a:latin typeface="Times New Roman" panose="02020603050405020304" pitchFamily="18" charset="0"/>
                <a:cs typeface="Times New Roman" panose="02020603050405020304" pitchFamily="18" charset="0"/>
              </a:rPr>
              <a:t>ie</a:t>
            </a:r>
            <a:r>
              <a:rPr lang="en-US" sz="6000" dirty="0">
                <a:solidFill>
                  <a:schemeClr val="tx1"/>
                </a:solidFill>
                <a:latin typeface="Times New Roman" panose="02020603050405020304" pitchFamily="18" charset="0"/>
                <a:cs typeface="Times New Roman" panose="02020603050405020304" pitchFamily="18" charset="0"/>
              </a:rPr>
              <a:t>=edge"&gt;</a:t>
            </a:r>
          </a:p>
          <a:p>
            <a:pPr marL="400050" lvl="1" indent="0">
              <a:buNone/>
            </a:pPr>
            <a:r>
              <a:rPr lang="en-US" sz="6000" dirty="0">
                <a:solidFill>
                  <a:schemeClr val="tx1"/>
                </a:solidFill>
                <a:latin typeface="Times New Roman" panose="02020603050405020304" pitchFamily="18" charset="0"/>
                <a:cs typeface="Times New Roman" panose="02020603050405020304" pitchFamily="18" charset="0"/>
              </a:rPr>
              <a:t>    &lt;title&gt;App Name - </a:t>
            </a:r>
            <a:r>
              <a:rPr lang="en-US" sz="6000" dirty="0">
                <a:solidFill>
                  <a:srgbClr val="7030A0"/>
                </a:solidFill>
                <a:latin typeface="Times New Roman" panose="02020603050405020304" pitchFamily="18" charset="0"/>
                <a:cs typeface="Times New Roman" panose="02020603050405020304" pitchFamily="18" charset="0"/>
              </a:rPr>
              <a:t>@yield</a:t>
            </a:r>
            <a:r>
              <a:rPr lang="en-US" sz="6000" dirty="0">
                <a:solidFill>
                  <a:schemeClr val="tx1"/>
                </a:solidFill>
                <a:latin typeface="Times New Roman" panose="02020603050405020304" pitchFamily="18" charset="0"/>
                <a:cs typeface="Times New Roman" panose="02020603050405020304" pitchFamily="18" charset="0"/>
              </a:rPr>
              <a:t>(</a:t>
            </a:r>
            <a:r>
              <a:rPr lang="en-US" sz="6000" dirty="0">
                <a:solidFill>
                  <a:srgbClr val="00B050"/>
                </a:solidFill>
                <a:latin typeface="Times New Roman" panose="02020603050405020304" pitchFamily="18" charset="0"/>
                <a:cs typeface="Times New Roman" panose="02020603050405020304" pitchFamily="18" charset="0"/>
              </a:rPr>
              <a:t>'title'</a:t>
            </a:r>
            <a:r>
              <a:rPr lang="en-US" sz="6000" dirty="0">
                <a:solidFill>
                  <a:schemeClr val="tx1"/>
                </a:solidFill>
                <a:latin typeface="Times New Roman" panose="02020603050405020304" pitchFamily="18" charset="0"/>
                <a:cs typeface="Times New Roman" panose="02020603050405020304" pitchFamily="18" charset="0"/>
              </a:rPr>
              <a:t>)&lt;/title&gt;</a:t>
            </a:r>
          </a:p>
          <a:p>
            <a:pPr marL="400050" lvl="1" indent="0">
              <a:buNone/>
            </a:pPr>
            <a:r>
              <a:rPr lang="en-US" sz="6000" dirty="0">
                <a:solidFill>
                  <a:schemeClr val="tx1"/>
                </a:solidFill>
                <a:latin typeface="Times New Roman" panose="02020603050405020304" pitchFamily="18" charset="0"/>
                <a:cs typeface="Times New Roman" panose="02020603050405020304" pitchFamily="18" charset="0"/>
              </a:rPr>
              <a:t>&lt;/head&gt;</a:t>
            </a:r>
          </a:p>
          <a:p>
            <a:pPr marL="400050" lvl="1" indent="0">
              <a:buNone/>
            </a:pPr>
            <a:endParaRPr lang="en-US" sz="6000" dirty="0">
              <a:solidFill>
                <a:srgbClr val="7030A0"/>
              </a:solidFill>
              <a:latin typeface="Times New Roman" panose="02020603050405020304" pitchFamily="18" charset="0"/>
              <a:cs typeface="Times New Roman" panose="02020603050405020304" pitchFamily="18" charset="0"/>
            </a:endParaRPr>
          </a:p>
        </p:txBody>
      </p:sp>
      <p:sp>
        <p:nvSpPr>
          <p:cNvPr id="5" name="Rectangle : coins arrondis 4">
            <a:extLst>
              <a:ext uri="{FF2B5EF4-FFF2-40B4-BE49-F238E27FC236}">
                <a16:creationId xmlns:a16="http://schemas.microsoft.com/office/drawing/2014/main" id="{5B7D8339-1417-46E0-926D-6C918614FC78}"/>
              </a:ext>
            </a:extLst>
          </p:cNvPr>
          <p:cNvSpPr/>
          <p:nvPr/>
        </p:nvSpPr>
        <p:spPr>
          <a:xfrm>
            <a:off x="647564" y="3140968"/>
            <a:ext cx="7848872" cy="3326668"/>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841239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32500" lnSpcReduction="20000"/>
          </a:bodyPr>
          <a:lstStyle/>
          <a:p>
            <a:pPr marL="514350" indent="-514350">
              <a:buFont typeface="+mj-lt"/>
              <a:buAutoNum type="alphaUcPeriod" startAt="2"/>
            </a:pPr>
            <a:r>
              <a:rPr lang="fr-FR" sz="6200" b="1" dirty="0">
                <a:solidFill>
                  <a:srgbClr val="002060"/>
                </a:solidFill>
                <a:latin typeface="Times New Roman" panose="02020603050405020304" pitchFamily="18" charset="0"/>
                <a:cs typeface="Times New Roman" panose="02020603050405020304" pitchFamily="18" charset="0"/>
              </a:rPr>
              <a:t>Programmer avec Laravel</a:t>
            </a:r>
            <a:endParaRPr lang="fr-FR" sz="6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62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6200" dirty="0"/>
              <a:t> </a:t>
            </a:r>
            <a:r>
              <a:rPr lang="fr-FR" sz="6200" dirty="0">
                <a:solidFill>
                  <a:srgbClr val="C00000"/>
                </a:solidFill>
                <a:latin typeface="Times New Roman" panose="02020603050405020304" pitchFamily="18" charset="0"/>
                <a:cs typeface="Times New Roman" panose="02020603050405020304" pitchFamily="18" charset="0"/>
              </a:rPr>
              <a:t>Laravel</a:t>
            </a:r>
            <a:endParaRPr lang="fr-FR" sz="6200" dirty="0">
              <a:latin typeface="Times New Roman" panose="02020603050405020304" pitchFamily="18" charset="0"/>
              <a:cs typeface="Times New Roman" panose="02020603050405020304" pitchFamily="18" charset="0"/>
            </a:endParaRPr>
          </a:p>
          <a:p>
            <a:pPr marL="400050" lvl="1" indent="0" algn="ctr">
              <a:buNone/>
            </a:pPr>
            <a:r>
              <a:rPr lang="fr-FR" sz="6200" dirty="0">
                <a:solidFill>
                  <a:srgbClr val="00B0F0"/>
                </a:solidFill>
              </a:rPr>
              <a:t>Création des Template Blade</a:t>
            </a:r>
          </a:p>
          <a:p>
            <a:pPr lvl="1">
              <a:buFont typeface="Wingdings" panose="05000000000000000000" pitchFamily="2" charset="2"/>
              <a:buChar char="ü"/>
            </a:pPr>
            <a:r>
              <a:rPr lang="fr-FR" sz="6200" dirty="0">
                <a:solidFill>
                  <a:srgbClr val="00B0F0"/>
                </a:solidFill>
              </a:rPr>
              <a:t>Créer un layout</a:t>
            </a:r>
            <a:endParaRPr lang="fr-FR" sz="6200" dirty="0">
              <a:solidFill>
                <a:srgbClr val="00B0F0"/>
              </a:solidFill>
              <a:sym typeface="Wingdings" panose="05000000000000000000" pitchFamily="2" charset="2"/>
            </a:endParaRPr>
          </a:p>
          <a:p>
            <a:pPr marL="400050" lvl="1" indent="0">
              <a:buNone/>
            </a:pPr>
            <a:r>
              <a:rPr lang="en-US" sz="6200" b="1" dirty="0">
                <a:solidFill>
                  <a:schemeClr val="tx1"/>
                </a:solidFill>
                <a:latin typeface="Times New Roman" panose="02020603050405020304" pitchFamily="18" charset="0"/>
                <a:cs typeface="Times New Roman" panose="02020603050405020304" pitchFamily="18" charset="0"/>
              </a:rPr>
              <a:t>Définir le template(suite)</a:t>
            </a:r>
            <a:endParaRPr lang="en-US" sz="6200" dirty="0">
              <a:solidFill>
                <a:srgbClr val="7030A0"/>
              </a:solidFill>
              <a:latin typeface="Times New Roman" panose="02020603050405020304" pitchFamily="18" charset="0"/>
              <a:cs typeface="Times New Roman" panose="02020603050405020304" pitchFamily="18" charset="0"/>
            </a:endParaRPr>
          </a:p>
          <a:p>
            <a:pPr marL="400050" lvl="1" indent="0">
              <a:buNone/>
            </a:pPr>
            <a:endParaRPr lang="en-US" sz="6000" dirty="0">
              <a:solidFill>
                <a:srgbClr val="7030A0"/>
              </a:solidFill>
              <a:latin typeface="Times New Roman" panose="02020603050405020304" pitchFamily="18" charset="0"/>
              <a:cs typeface="Times New Roman" panose="02020603050405020304" pitchFamily="18" charset="0"/>
            </a:endParaRPr>
          </a:p>
          <a:p>
            <a:pPr marL="400050" lvl="1" indent="0">
              <a:buNone/>
            </a:pPr>
            <a:r>
              <a:rPr lang="en-US" sz="6000" dirty="0">
                <a:solidFill>
                  <a:schemeClr val="tx1"/>
                </a:solidFill>
                <a:latin typeface="Times New Roman" panose="02020603050405020304" pitchFamily="18" charset="0"/>
                <a:cs typeface="Times New Roman" panose="02020603050405020304" pitchFamily="18" charset="0"/>
              </a:rPr>
              <a:t>&lt;body&gt;</a:t>
            </a:r>
          </a:p>
          <a:p>
            <a:pPr marL="400050" lvl="1" indent="0">
              <a:buNone/>
            </a:pPr>
            <a:r>
              <a:rPr lang="en-US" sz="6000" dirty="0">
                <a:solidFill>
                  <a:srgbClr val="7030A0"/>
                </a:solidFill>
                <a:latin typeface="Times New Roman" panose="02020603050405020304" pitchFamily="18" charset="0"/>
                <a:cs typeface="Times New Roman" panose="02020603050405020304" pitchFamily="18" charset="0"/>
              </a:rPr>
              <a:t>    @section</a:t>
            </a:r>
            <a:r>
              <a:rPr lang="en-US" sz="6000" dirty="0">
                <a:solidFill>
                  <a:schemeClr val="tx1"/>
                </a:solidFill>
                <a:latin typeface="Times New Roman" panose="02020603050405020304" pitchFamily="18" charset="0"/>
                <a:cs typeface="Times New Roman" panose="02020603050405020304" pitchFamily="18" charset="0"/>
              </a:rPr>
              <a:t>(</a:t>
            </a:r>
            <a:r>
              <a:rPr lang="en-US" sz="6000" dirty="0">
                <a:solidFill>
                  <a:srgbClr val="00B050"/>
                </a:solidFill>
                <a:latin typeface="Times New Roman" panose="02020603050405020304" pitchFamily="18" charset="0"/>
                <a:cs typeface="Times New Roman" panose="02020603050405020304" pitchFamily="18" charset="0"/>
              </a:rPr>
              <a:t>'sidebar'</a:t>
            </a:r>
            <a:r>
              <a:rPr lang="en-US" sz="6000" dirty="0">
                <a:solidFill>
                  <a:schemeClr val="tx1"/>
                </a:solidFill>
                <a:latin typeface="Times New Roman" panose="02020603050405020304" pitchFamily="18" charset="0"/>
                <a:cs typeface="Times New Roman" panose="02020603050405020304" pitchFamily="18" charset="0"/>
              </a:rPr>
              <a:t>)</a:t>
            </a:r>
          </a:p>
          <a:p>
            <a:pPr marL="400050" lvl="1" indent="0">
              <a:buNone/>
            </a:pPr>
            <a:r>
              <a:rPr lang="en-US" sz="6000" dirty="0">
                <a:solidFill>
                  <a:schemeClr val="tx1"/>
                </a:solidFill>
                <a:latin typeface="Times New Roman" panose="02020603050405020304" pitchFamily="18" charset="0"/>
                <a:cs typeface="Times New Roman" panose="02020603050405020304" pitchFamily="18" charset="0"/>
              </a:rPr>
              <a:t>        Contenu de la section 'sidebar' du parent</a:t>
            </a:r>
          </a:p>
          <a:p>
            <a:pPr marL="400050" lvl="1" indent="0">
              <a:buNone/>
            </a:pPr>
            <a:r>
              <a:rPr lang="en-US" sz="6000" dirty="0">
                <a:solidFill>
                  <a:schemeClr val="tx1"/>
                </a:solidFill>
                <a:latin typeface="Times New Roman" panose="02020603050405020304" pitchFamily="18" charset="0"/>
                <a:cs typeface="Times New Roman" panose="02020603050405020304" pitchFamily="18" charset="0"/>
              </a:rPr>
              <a:t>    </a:t>
            </a:r>
            <a:r>
              <a:rPr lang="en-US" sz="6000" dirty="0">
                <a:solidFill>
                  <a:srgbClr val="7030A0"/>
                </a:solidFill>
                <a:latin typeface="Times New Roman" panose="02020603050405020304" pitchFamily="18" charset="0"/>
                <a:cs typeface="Times New Roman" panose="02020603050405020304" pitchFamily="18" charset="0"/>
              </a:rPr>
              <a:t>@show</a:t>
            </a:r>
          </a:p>
          <a:p>
            <a:pPr marL="400050" lvl="1" indent="0">
              <a:buNone/>
            </a:pPr>
            <a:r>
              <a:rPr lang="en-US" sz="6000" dirty="0">
                <a:solidFill>
                  <a:schemeClr val="tx1"/>
                </a:solidFill>
                <a:latin typeface="Times New Roman" panose="02020603050405020304" pitchFamily="18" charset="0"/>
                <a:cs typeface="Times New Roman" panose="02020603050405020304" pitchFamily="18" charset="0"/>
              </a:rPr>
              <a:t>    &lt;div class="</a:t>
            </a:r>
            <a:r>
              <a:rPr lang="en-US" sz="6000" dirty="0">
                <a:solidFill>
                  <a:srgbClr val="00B050"/>
                </a:solidFill>
                <a:latin typeface="Times New Roman" panose="02020603050405020304" pitchFamily="18" charset="0"/>
                <a:cs typeface="Times New Roman" panose="02020603050405020304" pitchFamily="18" charset="0"/>
              </a:rPr>
              <a:t>container</a:t>
            </a:r>
            <a:r>
              <a:rPr lang="en-US" sz="6000" dirty="0">
                <a:solidFill>
                  <a:schemeClr val="tx1"/>
                </a:solidFill>
                <a:latin typeface="Times New Roman" panose="02020603050405020304" pitchFamily="18" charset="0"/>
                <a:cs typeface="Times New Roman" panose="02020603050405020304" pitchFamily="18" charset="0"/>
              </a:rPr>
              <a:t>"&gt;</a:t>
            </a:r>
          </a:p>
          <a:p>
            <a:pPr marL="400050" lvl="1" indent="0">
              <a:buNone/>
            </a:pPr>
            <a:r>
              <a:rPr lang="en-US" sz="6000" dirty="0">
                <a:solidFill>
                  <a:schemeClr val="tx1"/>
                </a:solidFill>
                <a:latin typeface="Times New Roman" panose="02020603050405020304" pitchFamily="18" charset="0"/>
                <a:cs typeface="Times New Roman" panose="02020603050405020304" pitchFamily="18" charset="0"/>
              </a:rPr>
              <a:t>        </a:t>
            </a:r>
            <a:r>
              <a:rPr lang="en-US" sz="6000" dirty="0">
                <a:solidFill>
                  <a:srgbClr val="7030A0"/>
                </a:solidFill>
                <a:latin typeface="Times New Roman" panose="02020603050405020304" pitchFamily="18" charset="0"/>
                <a:cs typeface="Times New Roman" panose="02020603050405020304" pitchFamily="18" charset="0"/>
              </a:rPr>
              <a:t>@yield</a:t>
            </a:r>
            <a:r>
              <a:rPr lang="en-US" sz="6000" dirty="0">
                <a:solidFill>
                  <a:schemeClr val="tx1"/>
                </a:solidFill>
                <a:latin typeface="Times New Roman" panose="02020603050405020304" pitchFamily="18" charset="0"/>
                <a:cs typeface="Times New Roman" panose="02020603050405020304" pitchFamily="18" charset="0"/>
              </a:rPr>
              <a:t>(</a:t>
            </a:r>
            <a:r>
              <a:rPr lang="en-US" sz="6000" dirty="0">
                <a:solidFill>
                  <a:srgbClr val="00B050"/>
                </a:solidFill>
                <a:latin typeface="Times New Roman" panose="02020603050405020304" pitchFamily="18" charset="0"/>
                <a:cs typeface="Times New Roman" panose="02020603050405020304" pitchFamily="18" charset="0"/>
              </a:rPr>
              <a:t>'content'</a:t>
            </a:r>
            <a:r>
              <a:rPr lang="en-US" sz="6000" dirty="0">
                <a:solidFill>
                  <a:schemeClr val="tx1"/>
                </a:solidFill>
                <a:latin typeface="Times New Roman" panose="02020603050405020304" pitchFamily="18" charset="0"/>
                <a:cs typeface="Times New Roman" panose="02020603050405020304" pitchFamily="18" charset="0"/>
              </a:rPr>
              <a:t>)</a:t>
            </a:r>
          </a:p>
          <a:p>
            <a:pPr marL="400050" lvl="1" indent="0">
              <a:buNone/>
            </a:pPr>
            <a:r>
              <a:rPr lang="en-US" sz="6000" dirty="0">
                <a:solidFill>
                  <a:schemeClr val="tx1"/>
                </a:solidFill>
                <a:latin typeface="Times New Roman" panose="02020603050405020304" pitchFamily="18" charset="0"/>
                <a:cs typeface="Times New Roman" panose="02020603050405020304" pitchFamily="18" charset="0"/>
              </a:rPr>
              <a:t>    &lt;/div&gt;</a:t>
            </a:r>
          </a:p>
          <a:p>
            <a:pPr marL="400050" lvl="1" indent="0">
              <a:buNone/>
            </a:pPr>
            <a:r>
              <a:rPr lang="en-US" sz="6000" dirty="0">
                <a:solidFill>
                  <a:schemeClr val="tx1"/>
                </a:solidFill>
                <a:latin typeface="Times New Roman" panose="02020603050405020304" pitchFamily="18" charset="0"/>
                <a:cs typeface="Times New Roman" panose="02020603050405020304" pitchFamily="18" charset="0"/>
              </a:rPr>
              <a:t>&lt;/body&gt;</a:t>
            </a:r>
          </a:p>
          <a:p>
            <a:pPr marL="400050" lvl="1" indent="0">
              <a:buNone/>
            </a:pPr>
            <a:r>
              <a:rPr lang="en-US" sz="6000" dirty="0">
                <a:solidFill>
                  <a:schemeClr val="tx1"/>
                </a:solidFill>
                <a:latin typeface="Times New Roman" panose="02020603050405020304" pitchFamily="18" charset="0"/>
                <a:cs typeface="Times New Roman" panose="02020603050405020304" pitchFamily="18" charset="0"/>
              </a:rPr>
              <a:t>&lt;/html&gt;</a:t>
            </a:r>
          </a:p>
        </p:txBody>
      </p:sp>
      <p:sp>
        <p:nvSpPr>
          <p:cNvPr id="5" name="Rectangle : coins arrondis 4">
            <a:extLst>
              <a:ext uri="{FF2B5EF4-FFF2-40B4-BE49-F238E27FC236}">
                <a16:creationId xmlns:a16="http://schemas.microsoft.com/office/drawing/2014/main" id="{5B7D8339-1417-46E0-926D-6C918614FC78}"/>
              </a:ext>
            </a:extLst>
          </p:cNvPr>
          <p:cNvSpPr/>
          <p:nvPr/>
        </p:nvSpPr>
        <p:spPr>
          <a:xfrm>
            <a:off x="647564" y="2996952"/>
            <a:ext cx="7848872" cy="3168352"/>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582386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40000" lnSpcReduction="20000"/>
          </a:bodyPr>
          <a:lstStyle/>
          <a:p>
            <a:pPr marL="514350" indent="-514350">
              <a:buFont typeface="+mj-lt"/>
              <a:buAutoNum type="alphaUcPeriod" startAt="2"/>
            </a:pPr>
            <a:r>
              <a:rPr lang="fr-FR" sz="6200" b="1" dirty="0">
                <a:solidFill>
                  <a:srgbClr val="002060"/>
                </a:solidFill>
                <a:latin typeface="Times New Roman" panose="02020603050405020304" pitchFamily="18" charset="0"/>
                <a:cs typeface="Times New Roman" panose="02020603050405020304" pitchFamily="18" charset="0"/>
              </a:rPr>
              <a:t>Programmer avec Laravel</a:t>
            </a:r>
            <a:endParaRPr lang="fr-FR" sz="6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62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6200" dirty="0"/>
              <a:t> </a:t>
            </a:r>
            <a:r>
              <a:rPr lang="fr-FR" sz="6200" dirty="0">
                <a:solidFill>
                  <a:srgbClr val="C00000"/>
                </a:solidFill>
                <a:latin typeface="Times New Roman" panose="02020603050405020304" pitchFamily="18" charset="0"/>
                <a:cs typeface="Times New Roman" panose="02020603050405020304" pitchFamily="18" charset="0"/>
              </a:rPr>
              <a:t>Laravel</a:t>
            </a:r>
            <a:endParaRPr lang="fr-FR" sz="6200" dirty="0">
              <a:latin typeface="Times New Roman" panose="02020603050405020304" pitchFamily="18" charset="0"/>
              <a:cs typeface="Times New Roman" panose="02020603050405020304" pitchFamily="18" charset="0"/>
            </a:endParaRPr>
          </a:p>
          <a:p>
            <a:pPr marL="400050" lvl="1" indent="0" algn="ctr">
              <a:buNone/>
            </a:pPr>
            <a:r>
              <a:rPr lang="fr-FR" sz="6200" dirty="0">
                <a:solidFill>
                  <a:srgbClr val="00B0F0"/>
                </a:solidFill>
              </a:rPr>
              <a:t>Création des Template Blade</a:t>
            </a:r>
          </a:p>
          <a:p>
            <a:pPr lvl="1">
              <a:buFont typeface="Wingdings" panose="05000000000000000000" pitchFamily="2" charset="2"/>
              <a:buChar char="ü"/>
            </a:pPr>
            <a:r>
              <a:rPr lang="fr-FR" sz="6200" dirty="0">
                <a:solidFill>
                  <a:srgbClr val="00B0F0"/>
                </a:solidFill>
              </a:rPr>
              <a:t>Créer un layout</a:t>
            </a:r>
            <a:endParaRPr lang="fr-FR" sz="6200" dirty="0">
              <a:solidFill>
                <a:srgbClr val="00B0F0"/>
              </a:solidFill>
              <a:sym typeface="Wingdings" panose="05000000000000000000" pitchFamily="2" charset="2"/>
            </a:endParaRPr>
          </a:p>
          <a:p>
            <a:pPr marL="400050" lvl="1" indent="0">
              <a:buNone/>
            </a:pPr>
            <a:r>
              <a:rPr lang="fr-FR" sz="6000" dirty="0">
                <a:solidFill>
                  <a:schemeClr val="tx1"/>
                </a:solidFill>
                <a:latin typeface="Times New Roman" panose="02020603050405020304" pitchFamily="18" charset="0"/>
                <a:cs typeface="Times New Roman" panose="02020603050405020304" pitchFamily="18" charset="0"/>
              </a:rPr>
              <a:t>Les éléments de Blade </a:t>
            </a:r>
            <a:r>
              <a:rPr lang="fr-FR" sz="6000" dirty="0">
                <a:solidFill>
                  <a:srgbClr val="7030A0"/>
                </a:solidFill>
                <a:latin typeface="Times New Roman" panose="02020603050405020304" pitchFamily="18" charset="0"/>
                <a:cs typeface="Times New Roman" panose="02020603050405020304" pitchFamily="18" charset="0"/>
              </a:rPr>
              <a:t>: @section et @yield</a:t>
            </a:r>
            <a:endParaRPr lang="en-US" sz="6000" dirty="0">
              <a:solidFill>
                <a:srgbClr val="7030A0"/>
              </a:solidFill>
              <a:latin typeface="Times New Roman" panose="02020603050405020304" pitchFamily="18" charset="0"/>
              <a:cs typeface="Times New Roman" panose="02020603050405020304" pitchFamily="18" charset="0"/>
            </a:endParaRPr>
          </a:p>
          <a:p>
            <a:pPr marL="400050" lvl="1" indent="0">
              <a:buNone/>
            </a:pPr>
            <a:r>
              <a:rPr lang="fr-FR" sz="6000" dirty="0">
                <a:solidFill>
                  <a:srgbClr val="7030A0"/>
                </a:solidFill>
                <a:latin typeface="Times New Roman" panose="02020603050405020304" pitchFamily="18" charset="0"/>
                <a:cs typeface="Times New Roman" panose="02020603050405020304" pitchFamily="18" charset="0"/>
              </a:rPr>
              <a:t>@section</a:t>
            </a:r>
            <a:r>
              <a:rPr lang="fr-FR" sz="6000" dirty="0">
                <a:solidFill>
                  <a:schemeClr val="tx1"/>
                </a:solidFill>
                <a:latin typeface="Times New Roman" panose="02020603050405020304" pitchFamily="18" charset="0"/>
                <a:cs typeface="Times New Roman" panose="02020603050405020304" pitchFamily="18" charset="0"/>
              </a:rPr>
              <a:t>() permet de déterminer la section d’un contenu.</a:t>
            </a:r>
          </a:p>
          <a:p>
            <a:pPr marL="400050" lvl="1" indent="0">
              <a:buNone/>
            </a:pPr>
            <a:r>
              <a:rPr lang="fr-FR" sz="6000" dirty="0">
                <a:solidFill>
                  <a:srgbClr val="7030A0"/>
                </a:solidFill>
                <a:latin typeface="Times New Roman" panose="02020603050405020304" pitchFamily="18" charset="0"/>
                <a:cs typeface="Times New Roman" panose="02020603050405020304" pitchFamily="18" charset="0"/>
              </a:rPr>
              <a:t>@yield</a:t>
            </a:r>
            <a:r>
              <a:rPr lang="fr-FR" sz="6000" dirty="0">
                <a:solidFill>
                  <a:schemeClr val="tx1"/>
                </a:solidFill>
                <a:latin typeface="Times New Roman" panose="02020603050405020304" pitchFamily="18" charset="0"/>
                <a:cs typeface="Times New Roman" panose="02020603050405020304" pitchFamily="18" charset="0"/>
              </a:rPr>
              <a:t>() permet de définir une zone qui permettra à l’enfant du Template d’y établir sa valeur. (yield signifie “céder” en anglais).</a:t>
            </a:r>
          </a:p>
          <a:p>
            <a:pPr marL="400050" lvl="1" indent="0">
              <a:buNone/>
            </a:pPr>
            <a:r>
              <a:rPr lang="fr-FR" sz="6000" dirty="0">
                <a:solidFill>
                  <a:schemeClr val="tx1"/>
                </a:solidFill>
                <a:latin typeface="Times New Roman" panose="02020603050405020304" pitchFamily="18" charset="0"/>
                <a:cs typeface="Times New Roman" panose="02020603050405020304" pitchFamily="18" charset="0"/>
              </a:rPr>
              <a:t>Voici comment étendre le Template que nous venu de voir :</a:t>
            </a:r>
            <a:endParaRPr lang="en-US" sz="6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567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25000" lnSpcReduction="20000"/>
          </a:bodyPr>
          <a:lstStyle/>
          <a:p>
            <a:pPr marL="514350" indent="-514350">
              <a:buFont typeface="+mj-lt"/>
              <a:buAutoNum type="alphaUcPeriod" startAt="2"/>
            </a:pPr>
            <a:r>
              <a:rPr lang="fr-FR" sz="8000" b="1" dirty="0">
                <a:solidFill>
                  <a:srgbClr val="002060"/>
                </a:solidFill>
                <a:latin typeface="Times New Roman" panose="02020603050405020304" pitchFamily="18" charset="0"/>
                <a:cs typeface="Times New Roman" panose="02020603050405020304" pitchFamily="18" charset="0"/>
              </a:rPr>
              <a:t>Programmer avec Laravel</a:t>
            </a:r>
            <a:endParaRPr lang="fr-FR" sz="8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8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8000" dirty="0"/>
              <a:t> </a:t>
            </a:r>
            <a:r>
              <a:rPr lang="fr-FR" sz="8000" dirty="0">
                <a:solidFill>
                  <a:srgbClr val="C00000"/>
                </a:solidFill>
                <a:latin typeface="Times New Roman" panose="02020603050405020304" pitchFamily="18" charset="0"/>
                <a:cs typeface="Times New Roman" panose="02020603050405020304" pitchFamily="18" charset="0"/>
              </a:rPr>
              <a:t>Laravel</a:t>
            </a:r>
            <a:endParaRPr lang="fr-FR" sz="8000" dirty="0">
              <a:latin typeface="Times New Roman" panose="02020603050405020304" pitchFamily="18" charset="0"/>
              <a:cs typeface="Times New Roman" panose="02020603050405020304" pitchFamily="18" charset="0"/>
            </a:endParaRPr>
          </a:p>
          <a:p>
            <a:pPr marL="400050" lvl="1" indent="0" algn="ctr">
              <a:buNone/>
            </a:pPr>
            <a:r>
              <a:rPr lang="fr-FR" sz="8000" dirty="0">
                <a:solidFill>
                  <a:srgbClr val="00B0F0"/>
                </a:solidFill>
              </a:rPr>
              <a:t>Création des Template Blade</a:t>
            </a:r>
          </a:p>
          <a:p>
            <a:pPr lvl="1">
              <a:buFont typeface="Wingdings" panose="05000000000000000000" pitchFamily="2" charset="2"/>
              <a:buChar char="ü"/>
            </a:pPr>
            <a:r>
              <a:rPr lang="fr-FR" sz="8000" dirty="0">
                <a:solidFill>
                  <a:srgbClr val="00B0F0"/>
                </a:solidFill>
              </a:rPr>
              <a:t>Créer un layout</a:t>
            </a:r>
          </a:p>
          <a:p>
            <a:pPr lvl="1">
              <a:buFont typeface="Wingdings" panose="05000000000000000000" pitchFamily="2" charset="2"/>
              <a:buChar char="ü"/>
            </a:pPr>
            <a:endParaRPr lang="fr-FR" sz="8000" dirty="0">
              <a:solidFill>
                <a:srgbClr val="00B0F0"/>
              </a:solidFill>
            </a:endParaRPr>
          </a:p>
          <a:p>
            <a:pPr marL="400050" lvl="1" indent="0">
              <a:buNone/>
            </a:pPr>
            <a:r>
              <a:rPr lang="fr-FR" sz="7600" dirty="0">
                <a:solidFill>
                  <a:schemeClr val="bg1">
                    <a:lumMod val="50000"/>
                  </a:schemeClr>
                </a:solidFill>
                <a:latin typeface="Times New Roman" panose="02020603050405020304" pitchFamily="18" charset="0"/>
                <a:cs typeface="Times New Roman" panose="02020603050405020304" pitchFamily="18" charset="0"/>
              </a:rPr>
              <a:t>&lt;!-- Voici l'enfant du parent situé dans resources/views/</a:t>
            </a:r>
            <a:r>
              <a:rPr lang="fr-FR" sz="7600" dirty="0" err="1">
                <a:solidFill>
                  <a:schemeClr val="bg1">
                    <a:lumMod val="50000"/>
                  </a:schemeClr>
                </a:solidFill>
                <a:latin typeface="Times New Roman" panose="02020603050405020304" pitchFamily="18" charset="0"/>
                <a:cs typeface="Times New Roman" panose="02020603050405020304" pitchFamily="18" charset="0"/>
              </a:rPr>
              <a:t>child.blade.php</a:t>
            </a:r>
            <a:r>
              <a:rPr lang="fr-FR" sz="7600" dirty="0">
                <a:solidFill>
                  <a:schemeClr val="bg1">
                    <a:lumMod val="50000"/>
                  </a:schemeClr>
                </a:solidFill>
                <a:latin typeface="Times New Roman" panose="02020603050405020304" pitchFamily="18" charset="0"/>
                <a:cs typeface="Times New Roman" panose="02020603050405020304" pitchFamily="18" charset="0"/>
              </a:rPr>
              <a:t> --&gt;</a:t>
            </a:r>
          </a:p>
          <a:p>
            <a:pPr marL="400050" lvl="1" indent="0">
              <a:buNone/>
            </a:pPr>
            <a:r>
              <a:rPr lang="fr-FR" sz="7600" dirty="0">
                <a:solidFill>
                  <a:srgbClr val="7030A0"/>
                </a:solidFill>
                <a:latin typeface="Times New Roman" panose="02020603050405020304" pitchFamily="18" charset="0"/>
                <a:cs typeface="Times New Roman" panose="02020603050405020304" pitchFamily="18" charset="0"/>
              </a:rPr>
              <a:t>@</a:t>
            </a:r>
            <a:r>
              <a:rPr lang="fr-FR" sz="7600" dirty="0" err="1">
                <a:solidFill>
                  <a:srgbClr val="7030A0"/>
                </a:solidFill>
                <a:latin typeface="Times New Roman" panose="02020603050405020304" pitchFamily="18" charset="0"/>
                <a:cs typeface="Times New Roman" panose="02020603050405020304" pitchFamily="18" charset="0"/>
              </a:rPr>
              <a:t>extends</a:t>
            </a:r>
            <a:r>
              <a:rPr lang="fr-FR" sz="7600" dirty="0">
                <a:solidFill>
                  <a:schemeClr val="tx1"/>
                </a:solidFill>
                <a:latin typeface="Times New Roman" panose="02020603050405020304" pitchFamily="18" charset="0"/>
                <a:cs typeface="Times New Roman" panose="02020603050405020304" pitchFamily="18" charset="0"/>
              </a:rPr>
              <a:t>(</a:t>
            </a:r>
            <a:r>
              <a:rPr lang="fr-FR" sz="7600" dirty="0">
                <a:solidFill>
                  <a:srgbClr val="00B050"/>
                </a:solidFill>
                <a:latin typeface="Times New Roman" panose="02020603050405020304" pitchFamily="18" charset="0"/>
                <a:cs typeface="Times New Roman" panose="02020603050405020304" pitchFamily="18" charset="0"/>
              </a:rPr>
              <a:t>'layout'</a:t>
            </a:r>
            <a:r>
              <a:rPr lang="fr-FR" sz="7600" dirty="0">
                <a:solidFill>
                  <a:schemeClr val="tx1"/>
                </a:solidFill>
                <a:latin typeface="Times New Roman" panose="02020603050405020304" pitchFamily="18" charset="0"/>
                <a:cs typeface="Times New Roman" panose="02020603050405020304" pitchFamily="18" charset="0"/>
              </a:rPr>
              <a:t>)</a:t>
            </a:r>
          </a:p>
          <a:p>
            <a:pPr marL="400050" lvl="1" indent="0">
              <a:buNone/>
            </a:pPr>
            <a:r>
              <a:rPr lang="fr-FR" sz="7600" dirty="0">
                <a:solidFill>
                  <a:srgbClr val="7030A0"/>
                </a:solidFill>
                <a:latin typeface="Times New Roman" panose="02020603050405020304" pitchFamily="18" charset="0"/>
                <a:cs typeface="Times New Roman" panose="02020603050405020304" pitchFamily="18" charset="0"/>
              </a:rPr>
              <a:t>@section</a:t>
            </a:r>
            <a:r>
              <a:rPr lang="fr-FR" sz="7600" dirty="0">
                <a:solidFill>
                  <a:schemeClr val="tx1"/>
                </a:solidFill>
                <a:latin typeface="Times New Roman" panose="02020603050405020304" pitchFamily="18" charset="0"/>
                <a:cs typeface="Times New Roman" panose="02020603050405020304" pitchFamily="18" charset="0"/>
              </a:rPr>
              <a:t>('</a:t>
            </a:r>
            <a:r>
              <a:rPr lang="fr-FR" sz="7600" dirty="0" err="1">
                <a:solidFill>
                  <a:srgbClr val="00B050"/>
                </a:solidFill>
                <a:latin typeface="Times New Roman" panose="02020603050405020304" pitchFamily="18" charset="0"/>
                <a:cs typeface="Times New Roman" panose="02020603050405020304" pitchFamily="18" charset="0"/>
              </a:rPr>
              <a:t>title</a:t>
            </a:r>
            <a:r>
              <a:rPr lang="fr-FR" sz="7600" dirty="0">
                <a:solidFill>
                  <a:schemeClr val="tx1"/>
                </a:solidFill>
                <a:latin typeface="Times New Roman" panose="02020603050405020304" pitchFamily="18" charset="0"/>
                <a:cs typeface="Times New Roman" panose="02020603050405020304" pitchFamily="18" charset="0"/>
              </a:rPr>
              <a:t>', 'Titre de la page enfant')</a:t>
            </a:r>
          </a:p>
          <a:p>
            <a:pPr marL="400050" lvl="1" indent="0">
              <a:buNone/>
            </a:pPr>
            <a:endParaRPr lang="fr-FR" sz="76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7600" dirty="0">
                <a:solidFill>
                  <a:srgbClr val="7030A0"/>
                </a:solidFill>
                <a:latin typeface="Times New Roman" panose="02020603050405020304" pitchFamily="18" charset="0"/>
                <a:cs typeface="Times New Roman" panose="02020603050405020304" pitchFamily="18" charset="0"/>
              </a:rPr>
              <a:t>@section</a:t>
            </a:r>
            <a:r>
              <a:rPr lang="fr-FR" sz="7600" dirty="0">
                <a:solidFill>
                  <a:schemeClr val="tx1"/>
                </a:solidFill>
                <a:latin typeface="Times New Roman" panose="02020603050405020304" pitchFamily="18" charset="0"/>
                <a:cs typeface="Times New Roman" panose="02020603050405020304" pitchFamily="18" charset="0"/>
              </a:rPr>
              <a:t>(</a:t>
            </a:r>
            <a:r>
              <a:rPr lang="fr-FR" sz="7600" dirty="0">
                <a:solidFill>
                  <a:srgbClr val="00B050"/>
                </a:solidFill>
                <a:latin typeface="Times New Roman" panose="02020603050405020304" pitchFamily="18" charset="0"/>
                <a:cs typeface="Times New Roman" panose="02020603050405020304" pitchFamily="18" charset="0"/>
              </a:rPr>
              <a:t>'sidebar'</a:t>
            </a:r>
            <a:r>
              <a:rPr lang="fr-FR" sz="7600" dirty="0">
                <a:solidFill>
                  <a:schemeClr val="tx1"/>
                </a:solidFill>
                <a:latin typeface="Times New Roman" panose="02020603050405020304" pitchFamily="18" charset="0"/>
                <a:cs typeface="Times New Roman" panose="02020603050405020304" pitchFamily="18" charset="0"/>
              </a:rPr>
              <a:t>)</a:t>
            </a:r>
          </a:p>
          <a:p>
            <a:pPr marL="400050" lvl="1" indent="0">
              <a:buNone/>
            </a:pPr>
            <a:r>
              <a:rPr lang="fr-FR" sz="7600" dirty="0">
                <a:solidFill>
                  <a:schemeClr val="bg1">
                    <a:lumMod val="50000"/>
                  </a:schemeClr>
                </a:solidFill>
                <a:latin typeface="Times New Roman" panose="02020603050405020304" pitchFamily="18" charset="0"/>
                <a:cs typeface="Times New Roman" panose="02020603050405020304" pitchFamily="18" charset="0"/>
              </a:rPr>
              <a:t>    &lt;!-- Ajout de contenu avant le contenu du parent --&gt;</a:t>
            </a:r>
          </a:p>
          <a:p>
            <a:pPr marL="400050" lvl="1" indent="0">
              <a:buNone/>
            </a:pPr>
            <a:r>
              <a:rPr lang="fr-FR" sz="7600" dirty="0">
                <a:solidFill>
                  <a:schemeClr val="tx1"/>
                </a:solidFill>
                <a:latin typeface="Times New Roman" panose="02020603050405020304" pitchFamily="18" charset="0"/>
                <a:cs typeface="Times New Roman" panose="02020603050405020304" pitchFamily="18" charset="0"/>
              </a:rPr>
              <a:t>    </a:t>
            </a:r>
            <a:r>
              <a:rPr lang="fr-FR" sz="7600" dirty="0">
                <a:solidFill>
                  <a:srgbClr val="7030A0"/>
                </a:solidFill>
                <a:latin typeface="Times New Roman" panose="02020603050405020304" pitchFamily="18" charset="0"/>
                <a:cs typeface="Times New Roman" panose="02020603050405020304" pitchFamily="18" charset="0"/>
              </a:rPr>
              <a:t>@parent </a:t>
            </a:r>
            <a:r>
              <a:rPr lang="fr-FR" sz="7600" dirty="0">
                <a:solidFill>
                  <a:schemeClr val="bg1">
                    <a:lumMod val="50000"/>
                  </a:schemeClr>
                </a:solidFill>
                <a:latin typeface="Times New Roman" panose="02020603050405020304" pitchFamily="18" charset="0"/>
                <a:cs typeface="Times New Roman" panose="02020603050405020304" pitchFamily="18" charset="0"/>
              </a:rPr>
              <a:t>&lt;!-- Contenu de la section 'sidebar' du parent --&gt;</a:t>
            </a:r>
          </a:p>
          <a:p>
            <a:pPr marL="400050" lvl="1" indent="0">
              <a:buNone/>
            </a:pPr>
            <a:r>
              <a:rPr lang="fr-FR" sz="7600" dirty="0">
                <a:solidFill>
                  <a:schemeClr val="tx1"/>
                </a:solidFill>
                <a:latin typeface="Times New Roman" panose="02020603050405020304" pitchFamily="18" charset="0"/>
                <a:cs typeface="Times New Roman" panose="02020603050405020304" pitchFamily="18" charset="0"/>
              </a:rPr>
              <a:t>    </a:t>
            </a:r>
            <a:r>
              <a:rPr lang="fr-FR" sz="7600" dirty="0">
                <a:solidFill>
                  <a:schemeClr val="bg1">
                    <a:lumMod val="50000"/>
                  </a:schemeClr>
                </a:solidFill>
                <a:latin typeface="Times New Roman" panose="02020603050405020304" pitchFamily="18" charset="0"/>
                <a:cs typeface="Times New Roman" panose="02020603050405020304" pitchFamily="18" charset="0"/>
              </a:rPr>
              <a:t>&lt;!-- Ajout de contenu après le contenu du parent --&gt;</a:t>
            </a:r>
          </a:p>
          <a:p>
            <a:pPr marL="400050" lvl="1" indent="0">
              <a:buNone/>
            </a:pPr>
            <a:r>
              <a:rPr lang="fr-FR" sz="7600" dirty="0">
                <a:solidFill>
                  <a:srgbClr val="7030A0"/>
                </a:solidFill>
                <a:latin typeface="Times New Roman" panose="02020603050405020304" pitchFamily="18" charset="0"/>
                <a:cs typeface="Times New Roman" panose="02020603050405020304" pitchFamily="18" charset="0"/>
              </a:rPr>
              <a:t>@</a:t>
            </a:r>
            <a:r>
              <a:rPr lang="fr-FR" sz="7600" dirty="0" err="1">
                <a:solidFill>
                  <a:srgbClr val="7030A0"/>
                </a:solidFill>
                <a:latin typeface="Times New Roman" panose="02020603050405020304" pitchFamily="18" charset="0"/>
                <a:cs typeface="Times New Roman" panose="02020603050405020304" pitchFamily="18" charset="0"/>
              </a:rPr>
              <a:t>endsection</a:t>
            </a:r>
            <a:endParaRPr lang="fr-FR" sz="7600" dirty="0">
              <a:solidFill>
                <a:srgbClr val="7030A0"/>
              </a:solidFill>
              <a:latin typeface="Times New Roman" panose="02020603050405020304" pitchFamily="18" charset="0"/>
              <a:cs typeface="Times New Roman" panose="02020603050405020304" pitchFamily="18" charset="0"/>
            </a:endParaRPr>
          </a:p>
          <a:p>
            <a:pPr marL="400050" lvl="1" indent="0">
              <a:buNone/>
            </a:pPr>
            <a:r>
              <a:rPr lang="fr-FR" sz="7600" dirty="0">
                <a:solidFill>
                  <a:srgbClr val="7030A0"/>
                </a:solidFill>
                <a:latin typeface="Times New Roman" panose="02020603050405020304" pitchFamily="18" charset="0"/>
                <a:cs typeface="Times New Roman" panose="02020603050405020304" pitchFamily="18" charset="0"/>
              </a:rPr>
              <a:t>@section</a:t>
            </a:r>
            <a:r>
              <a:rPr lang="fr-FR" sz="7600" dirty="0">
                <a:solidFill>
                  <a:schemeClr val="tx1"/>
                </a:solidFill>
                <a:latin typeface="Times New Roman" panose="02020603050405020304" pitchFamily="18" charset="0"/>
                <a:cs typeface="Times New Roman" panose="02020603050405020304" pitchFamily="18" charset="0"/>
              </a:rPr>
              <a:t>(</a:t>
            </a:r>
            <a:r>
              <a:rPr lang="fr-FR" sz="7600" dirty="0">
                <a:solidFill>
                  <a:srgbClr val="00B050"/>
                </a:solidFill>
                <a:latin typeface="Times New Roman" panose="02020603050405020304" pitchFamily="18" charset="0"/>
                <a:cs typeface="Times New Roman" panose="02020603050405020304" pitchFamily="18" charset="0"/>
              </a:rPr>
              <a:t>'content'</a:t>
            </a:r>
            <a:r>
              <a:rPr lang="fr-FR" sz="7600" dirty="0">
                <a:solidFill>
                  <a:schemeClr val="tx1"/>
                </a:solidFill>
                <a:latin typeface="Times New Roman" panose="02020603050405020304" pitchFamily="18" charset="0"/>
                <a:cs typeface="Times New Roman" panose="02020603050405020304" pitchFamily="18" charset="0"/>
              </a:rPr>
              <a:t>)</a:t>
            </a:r>
          </a:p>
          <a:p>
            <a:pPr marL="400050" lvl="1" indent="0">
              <a:buNone/>
            </a:pPr>
            <a:r>
              <a:rPr lang="fr-FR" sz="7600" dirty="0">
                <a:solidFill>
                  <a:schemeClr val="tx1"/>
                </a:solidFill>
                <a:latin typeface="Times New Roman" panose="02020603050405020304" pitchFamily="18" charset="0"/>
                <a:cs typeface="Times New Roman" panose="02020603050405020304" pitchFamily="18" charset="0"/>
              </a:rPr>
              <a:t>    </a:t>
            </a:r>
            <a:r>
              <a:rPr lang="fr-FR" sz="7600" dirty="0">
                <a:solidFill>
                  <a:schemeClr val="bg1">
                    <a:lumMod val="50000"/>
                  </a:schemeClr>
                </a:solidFill>
                <a:latin typeface="Times New Roman" panose="02020603050405020304" pitchFamily="18" charset="0"/>
                <a:cs typeface="Times New Roman" panose="02020603050405020304" pitchFamily="18" charset="0"/>
              </a:rPr>
              <a:t>&lt;!-- Contenu de la section 'content' de l'enfant --&gt;</a:t>
            </a:r>
          </a:p>
          <a:p>
            <a:pPr marL="400050" lvl="1" indent="0">
              <a:buNone/>
            </a:pPr>
            <a:r>
              <a:rPr lang="fr-FR" sz="7600" dirty="0">
                <a:solidFill>
                  <a:srgbClr val="7030A0"/>
                </a:solidFill>
                <a:latin typeface="Times New Roman" panose="02020603050405020304" pitchFamily="18" charset="0"/>
                <a:cs typeface="Times New Roman" panose="02020603050405020304" pitchFamily="18" charset="0"/>
              </a:rPr>
              <a:t>@</a:t>
            </a:r>
            <a:r>
              <a:rPr lang="fr-FR" sz="7600" dirty="0" err="1">
                <a:solidFill>
                  <a:srgbClr val="7030A0"/>
                </a:solidFill>
                <a:latin typeface="Times New Roman" panose="02020603050405020304" pitchFamily="18" charset="0"/>
                <a:cs typeface="Times New Roman" panose="02020603050405020304" pitchFamily="18" charset="0"/>
              </a:rPr>
              <a:t>endsection</a:t>
            </a:r>
            <a:endParaRPr lang="en-US" sz="7600" dirty="0">
              <a:solidFill>
                <a:srgbClr val="7030A0"/>
              </a:solidFill>
              <a:latin typeface="Times New Roman" panose="02020603050405020304" pitchFamily="18" charset="0"/>
              <a:cs typeface="Times New Roman" panose="02020603050405020304" pitchFamily="18" charset="0"/>
            </a:endParaRPr>
          </a:p>
        </p:txBody>
      </p:sp>
      <p:sp>
        <p:nvSpPr>
          <p:cNvPr id="5" name="Rectangle : coins arrondis 4">
            <a:extLst>
              <a:ext uri="{FF2B5EF4-FFF2-40B4-BE49-F238E27FC236}">
                <a16:creationId xmlns:a16="http://schemas.microsoft.com/office/drawing/2014/main" id="{E95BAB57-7FB2-4224-A4CE-4C33B95490B2}"/>
              </a:ext>
            </a:extLst>
          </p:cNvPr>
          <p:cNvSpPr/>
          <p:nvPr/>
        </p:nvSpPr>
        <p:spPr>
          <a:xfrm>
            <a:off x="647564" y="2564904"/>
            <a:ext cx="7884876" cy="3902732"/>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21296735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1862</TotalTime>
  <Words>1873</Words>
  <Application>Microsoft Office PowerPoint</Application>
  <PresentationFormat>Affichage à l'écran (4:3)</PresentationFormat>
  <Paragraphs>282</Paragraphs>
  <Slides>20</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20</vt:i4>
      </vt:variant>
    </vt:vector>
  </HeadingPairs>
  <TitlesOfParts>
    <vt:vector size="26" baseType="lpstr">
      <vt:lpstr>Angsana New</vt:lpstr>
      <vt:lpstr>Arial</vt:lpstr>
      <vt:lpstr>Calibri</vt:lpstr>
      <vt:lpstr>Times New Roman</vt:lpstr>
      <vt:lpstr>Wingdings</vt:lpstr>
      <vt:lpstr>Thème Office</vt:lpstr>
      <vt:lpstr>Présentation PowerPoint</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 DOT NET Langage VB.NET Réalisé par M. Hamid Belyazidi Année Scolaire 2011/2012 </dc:title>
  <dc:creator>Belyazidi</dc:creator>
  <cp:lastModifiedBy>HAMID BELYAZIDI</cp:lastModifiedBy>
  <cp:revision>268</cp:revision>
  <dcterms:created xsi:type="dcterms:W3CDTF">2011-10-01T12:57:10Z</dcterms:created>
  <dcterms:modified xsi:type="dcterms:W3CDTF">2025-10-02T13:02:43Z</dcterms:modified>
</cp:coreProperties>
</file>