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9" r:id="rId3"/>
    <p:sldId id="282" r:id="rId4"/>
    <p:sldId id="283" r:id="rId5"/>
    <p:sldId id="298" r:id="rId6"/>
    <p:sldId id="299" r:id="rId7"/>
    <p:sldId id="300" r:id="rId8"/>
    <p:sldId id="305" r:id="rId9"/>
    <p:sldId id="301" r:id="rId10"/>
    <p:sldId id="303" r:id="rId11"/>
    <p:sldId id="304" r:id="rId12"/>
    <p:sldId id="306" r:id="rId13"/>
    <p:sldId id="302" r:id="rId14"/>
    <p:sldId id="309" r:id="rId15"/>
    <p:sldId id="307" r:id="rId16"/>
    <p:sldId id="310" r:id="rId1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09/01/2026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09/01/2026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09/01/2026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09/01/2026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09/01/2026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09/01/2026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09/01/2026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09/01/2026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09/01/2026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09/01/2026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D4C85-A4FC-445A-8CEF-D1C520D6A608}" type="datetimeFigureOut">
              <a:rPr lang="fr-FR" smtClean="0"/>
              <a:pPr/>
              <a:t>09/01/2026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CD4C85-A4FC-445A-8CEF-D1C520D6A608}" type="datetimeFigureOut">
              <a:rPr lang="fr-FR" smtClean="0"/>
              <a:pPr/>
              <a:t>09/01/2026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27249-2045-409D-A865-90E3C3AB835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1FDF1693-64E4-DD07-8AB3-8EC1CFA7AB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83837E31-76B9-4358-BD34-E36AC93E87F7}"/>
              </a:ext>
            </a:extLst>
          </p:cNvPr>
          <p:cNvSpPr/>
          <p:nvPr/>
        </p:nvSpPr>
        <p:spPr>
          <a:xfrm>
            <a:off x="1835696" y="844309"/>
            <a:ext cx="5472608" cy="471042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1500174"/>
            <a:ext cx="8229600" cy="4525963"/>
          </a:xfrm>
        </p:spPr>
        <p:txBody>
          <a:bodyPr/>
          <a:lstStyle/>
          <a:p>
            <a:pPr marL="514350" indent="-514350">
              <a:buNone/>
            </a:pPr>
            <a:endParaRPr lang="fr-FR" u="sng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buNone/>
            </a:pPr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7108DB9-4B51-4327-BAA9-34CE9E2C27A8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65113"/>
            <a:ext cx="864096" cy="7048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670F5631-B51C-4E5A-A708-40AE05543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449119"/>
              </p:ext>
            </p:extLst>
          </p:nvPr>
        </p:nvGraphicFramePr>
        <p:xfrm>
          <a:off x="1259632" y="479438"/>
          <a:ext cx="6124575" cy="314325"/>
        </p:xfrm>
        <a:graphic>
          <a:graphicData uri="http://schemas.openxmlformats.org/drawingml/2006/table">
            <a:tbl>
              <a:tblPr/>
              <a:tblGrid>
                <a:gridCol w="6124575">
                  <a:extLst>
                    <a:ext uri="{9D8B030D-6E8A-4147-A177-3AD203B41FA5}">
                      <a16:colId xmlns:a16="http://schemas.microsoft.com/office/drawing/2014/main" val="399840801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fr-FR" sz="1400" b="1" i="1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Direction Régionale Rabat – Salé - Kénitra</a:t>
                      </a:r>
                      <a:endParaRPr lang="fr-FR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44450" marR="4445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3340731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389DDFF2-F8CB-41BE-B914-4AF57B786865}"/>
              </a:ext>
            </a:extLst>
          </p:cNvPr>
          <p:cNvSpPr/>
          <p:nvPr/>
        </p:nvSpPr>
        <p:spPr>
          <a:xfrm>
            <a:off x="6804248" y="6287016"/>
            <a:ext cx="21467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i="1" dirty="0">
                <a:latin typeface="Angsana New" pitchFamily="18" charset="-34"/>
                <a:cs typeface="Angsana New" pitchFamily="18" charset="-34"/>
              </a:rPr>
              <a:t>Réalisé par M. Hamid </a:t>
            </a:r>
            <a:r>
              <a:rPr lang="fr-FR" i="1" dirty="0" err="1">
                <a:latin typeface="Angsana New" pitchFamily="18" charset="-34"/>
                <a:cs typeface="Angsana New" pitchFamily="18" charset="-34"/>
              </a:rPr>
              <a:t>Belyazidi</a:t>
            </a:r>
            <a:endParaRPr lang="fr-FR" i="1" dirty="0">
              <a:latin typeface="Angsana New" pitchFamily="18" charset="-34"/>
              <a:cs typeface="Angsana New" pitchFamily="18" charset="-34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E213D3-8E98-4129-BEC2-FBE648C34139}"/>
              </a:ext>
            </a:extLst>
          </p:cNvPr>
          <p:cNvSpPr/>
          <p:nvPr/>
        </p:nvSpPr>
        <p:spPr>
          <a:xfrm>
            <a:off x="6784214" y="148206"/>
            <a:ext cx="2186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b="1" i="1" dirty="0">
                <a:latin typeface="Angsana New" pitchFamily="18" charset="-34"/>
                <a:cs typeface="Angsana New" pitchFamily="18" charset="-34"/>
              </a:rPr>
              <a:t>Année de formation :2025/2026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7A9E4E8-707B-4C64-92ED-A5F3701B082E}"/>
              </a:ext>
            </a:extLst>
          </p:cNvPr>
          <p:cNvSpPr/>
          <p:nvPr/>
        </p:nvSpPr>
        <p:spPr>
          <a:xfrm>
            <a:off x="1907704" y="847274"/>
            <a:ext cx="5328592" cy="468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fr-FR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Développer en back-end</a:t>
            </a:r>
            <a:endParaRPr lang="fr-FR" sz="2400" dirty="0">
              <a:solidFill>
                <a:schemeClr val="accent1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6F5AEB-5EF8-495E-97C3-D51D6A6A9F31}"/>
              </a:ext>
            </a:extLst>
          </p:cNvPr>
          <p:cNvSpPr/>
          <p:nvPr/>
        </p:nvSpPr>
        <p:spPr>
          <a:xfrm>
            <a:off x="684279" y="6064237"/>
            <a:ext cx="3637640" cy="523220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2800" dirty="0"/>
              <a:t>Seeders et Factories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25658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>
              <a:buFont typeface="+mj-lt"/>
              <a:buAutoNum type="alphaUcPeriod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Découvrir le Framework PHP Laravel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Découvrir les notions fondamentales des </a:t>
            </a:r>
            <a:r>
              <a:rPr lang="fr-FR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Frameworks</a:t>
            </a: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PHP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Préparer l’environnement de Laravel</a:t>
            </a: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lphaUcPeriod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Programmer avec Laravel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Connaître les fondements du modèle MVC Laravel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Maîtriser le Framework Laravel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UcPeriod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Gérer la sécurité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Interagir avec la base de données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Manipuler l’ORM Eloquent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Prendre en charge les tests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+mj-lt"/>
              <a:buAutoNum type="alphaUcPeriod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Administrer un site à l’aide d’un CMS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Manipuler les éléments essentiels d’un CMS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Personnaliser graphiquement un site à l’aide d’un CMS</a:t>
            </a:r>
          </a:p>
          <a:p>
            <a:pPr marL="857250" lvl="1" indent="-457200">
              <a:buFont typeface="+mj-lt"/>
              <a:buAutoNum type="arabicPeriod"/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Manipuler les outils avancés d’un CMS</a:t>
            </a:r>
          </a:p>
          <a:p>
            <a:pPr marL="0" lvl="1" indent="0">
              <a:buNone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lvl="0" indent="-457200">
              <a:buFont typeface="+mj-lt"/>
              <a:buAutoNum type="alphaUcPeriod"/>
            </a:pPr>
            <a:endParaRPr lang="fr-FR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8747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256584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2"/>
            </a:pPr>
            <a:r>
              <a:rPr lang="fr-F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Interagir avec la base de données</a:t>
            </a:r>
            <a:endParaRPr lang="fr-FR" sz="22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171450">
              <a:buFont typeface="Wingdings" panose="05000000000000000000" pitchFamily="2" charset="2"/>
              <a:buChar char="ü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Mise en route</a:t>
            </a:r>
          </a:p>
          <a:p>
            <a:pPr marL="685800" lvl="1" indent="-171450">
              <a:buFont typeface="Wingdings" panose="05000000000000000000" pitchFamily="2" charset="2"/>
              <a:buChar char="ü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Générateur de requêtes (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Builder)</a:t>
            </a:r>
          </a:p>
          <a:p>
            <a:pPr marL="685800" lvl="1" indent="-171450">
              <a:buFont typeface="Wingdings" panose="05000000000000000000" pitchFamily="2" charset="2"/>
              <a:buChar char="ü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Pagination de la base de données</a:t>
            </a:r>
          </a:p>
          <a:p>
            <a:pPr marL="685800" lvl="1" indent="-171450">
              <a:buFont typeface="Wingdings" panose="05000000000000000000" pitchFamily="2" charset="2"/>
              <a:buChar char="ü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Gestion de migration (génération, structure, exécution, manipulation des tables, colonnes,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indexeset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events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685800" lvl="1" indent="-171450">
              <a:buFont typeface="Wingdings" panose="05000000000000000000" pitchFamily="2" charset="2"/>
              <a:buChar char="ü"/>
            </a:pPr>
            <a:r>
              <a:rPr lang="fr-FR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Création de Seeders (utilisation des modèles </a:t>
            </a:r>
            <a:r>
              <a:rPr lang="fr-FR" sz="2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factories</a:t>
            </a:r>
            <a:r>
              <a:rPr lang="fr-FR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appels de seeders additionnels,</a:t>
            </a:r>
          </a:p>
          <a:p>
            <a:pPr marL="685800" lvl="1" indent="-171450">
              <a:buFont typeface="Wingdings" panose="05000000000000000000" pitchFamily="2" charset="2"/>
              <a:buChar char="ü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désactivation d’événements de modèles)</a:t>
            </a:r>
          </a:p>
          <a:p>
            <a:pPr marL="685800" lvl="1" indent="-171450">
              <a:buFont typeface="Wingdings" panose="05000000000000000000" pitchFamily="2" charset="2"/>
              <a:buChar char="ü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Insertion des données d’un formulaire dans une base de données</a:t>
            </a:r>
          </a:p>
          <a:p>
            <a:pPr marL="685800" lvl="1" indent="-171450">
              <a:buFont typeface="Wingdings" panose="05000000000000000000" pitchFamily="2" charset="2"/>
              <a:buChar char="ü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Utilisation de Redis</a:t>
            </a:r>
          </a:p>
          <a:p>
            <a:pPr marL="400050" lvl="1" indent="0">
              <a:buNone/>
            </a:pPr>
            <a:endParaRPr lang="fr-FR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indent="-342900">
              <a:buFont typeface="+mj-lt"/>
              <a:buAutoNum type="arabicPeriod"/>
            </a:pPr>
            <a:endParaRPr lang="fr-FR" sz="24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fr-FR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74851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2"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Interagir avec la base de données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Seeders et Factories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00050" lvl="1" indent="0">
              <a:buNone/>
            </a:pPr>
            <a:r>
              <a:rPr lang="fr-FR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inclut la possibilité de peupler la base de données </a:t>
            </a:r>
          </a:p>
          <a:p>
            <a:pPr marL="45720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manière beaucoup plus “propre” mais surtout beaucoup plus rapide et réutilisable grâce aux </a:t>
            </a: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Seeders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aux </a:t>
            </a: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Factories.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45720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Nous allons voir que les deux travaillent ensemble et qu’ils portent bien leurs noms. </a:t>
            </a:r>
          </a:p>
          <a:p>
            <a:pPr marL="45720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Surtout si les données à rentrer deviennent de plus en plus complexes et que nous sommes amenés à en enregistrer fréquemment lors de la phase de développement de notre application pour divers test.</a:t>
            </a:r>
          </a:p>
        </p:txBody>
      </p:sp>
    </p:spTree>
    <p:extLst>
      <p:ext uri="{BB962C8B-B14F-4D97-AF65-F5344CB8AC3E}">
        <p14:creationId xmlns:p14="http://schemas.microsoft.com/office/powerpoint/2010/main" val="3010774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2"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Interagir avec la base de données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Seeders et Factories</a:t>
            </a:r>
          </a:p>
          <a:p>
            <a:pPr marL="400050" lvl="1" indent="0">
              <a:buNone/>
            </a:pPr>
            <a:r>
              <a:rPr lang="fr-FR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Seeders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Il est possible de n’utiliser que les </a:t>
            </a: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Seeders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pour peupler notre base de données de manière très basique.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Pour créer un nouveau seeder pour notre table </a:t>
            </a: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stagiaires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lancez la commande :</a:t>
            </a:r>
          </a:p>
          <a:p>
            <a:pPr marL="400050" lvl="1" indent="0">
              <a:buNone/>
            </a:pPr>
            <a:endParaRPr lang="fr-FR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 nouveau fichier se trouvera dans le dossier </a:t>
            </a: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fr-F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fr-FR" sz="20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/seeder </a:t>
            </a:r>
            <a:endParaRPr lang="fr-F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Pour que notre seeder </a:t>
            </a:r>
            <a:r>
              <a:rPr lang="fr-F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StagiaireSeeder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s’</a:t>
            </a:r>
            <a:r>
              <a:rPr lang="fr-F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execute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nous devons utiliser la méthode </a:t>
            </a: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call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dans la méthode </a:t>
            </a: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run() 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notre Classe </a:t>
            </a:r>
            <a:r>
              <a:rPr lang="fr-F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DatabaseSeeder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F731152E-FB0F-4E2B-BC4D-60A9CC8F236A}"/>
              </a:ext>
            </a:extLst>
          </p:cNvPr>
          <p:cNvSpPr/>
          <p:nvPr/>
        </p:nvSpPr>
        <p:spPr>
          <a:xfrm>
            <a:off x="899592" y="4365104"/>
            <a:ext cx="7560840" cy="57606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70C0"/>
                </a:solidFill>
                <a:latin typeface="Source Code Pro"/>
              </a:rPr>
              <a:t>php artisan </a:t>
            </a:r>
            <a:r>
              <a:rPr lang="en-US" sz="2000" dirty="0" err="1">
                <a:solidFill>
                  <a:srgbClr val="0070C0"/>
                </a:solidFill>
                <a:latin typeface="Source Code Pro"/>
              </a:rPr>
              <a:t>make:seeder</a:t>
            </a:r>
            <a:r>
              <a:rPr lang="en-US" sz="2000" dirty="0">
                <a:solidFill>
                  <a:srgbClr val="0070C0"/>
                </a:solidFill>
                <a:latin typeface="Source Code Pro"/>
              </a:rPr>
              <a:t> </a:t>
            </a:r>
            <a:r>
              <a:rPr lang="en-US" sz="2000" dirty="0" err="1">
                <a:solidFill>
                  <a:srgbClr val="00B050"/>
                </a:solidFill>
                <a:latin typeface="Source Code Pro"/>
              </a:rPr>
              <a:t>StagiaireSeeder</a:t>
            </a:r>
            <a:endParaRPr lang="fr-FR" sz="2000" dirty="0">
              <a:solidFill>
                <a:srgbClr val="0070C0"/>
              </a:solidFill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2745230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2"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Interagir avec la base de données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Seeders et Factories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Seeders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F731152E-FB0F-4E2B-BC4D-60A9CC8F236A}"/>
              </a:ext>
            </a:extLst>
          </p:cNvPr>
          <p:cNvSpPr/>
          <p:nvPr/>
        </p:nvSpPr>
        <p:spPr>
          <a:xfrm>
            <a:off x="755576" y="3011252"/>
            <a:ext cx="7560840" cy="345638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000" dirty="0">
                <a:solidFill>
                  <a:srgbClr val="4B69C6"/>
                </a:solidFill>
                <a:latin typeface="Consolas" panose="020B0609020204030204" pitchFamily="49" charset="0"/>
              </a:rPr>
              <a:t>use</a:t>
            </a:r>
            <a:r>
              <a:rPr lang="fr-FR" sz="20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rgbClr val="333333"/>
                </a:solidFill>
                <a:latin typeface="Consolas" panose="020B0609020204030204" pitchFamily="49" charset="0"/>
              </a:rPr>
              <a:t>Illuminate</a:t>
            </a:r>
            <a:r>
              <a:rPr lang="fr-FR" sz="2000" dirty="0">
                <a:solidFill>
                  <a:srgbClr val="777777"/>
                </a:solidFill>
                <a:latin typeface="Consolas" panose="020B0609020204030204" pitchFamily="49" charset="0"/>
              </a:rPr>
              <a:t>\</a:t>
            </a:r>
            <a:r>
              <a:rPr lang="fr-FR" sz="2000" dirty="0" err="1">
                <a:solidFill>
                  <a:srgbClr val="333333"/>
                </a:solidFill>
                <a:latin typeface="Consolas" panose="020B0609020204030204" pitchFamily="49" charset="0"/>
              </a:rPr>
              <a:t>Database</a:t>
            </a:r>
            <a:r>
              <a:rPr lang="fr-FR" sz="2000" dirty="0">
                <a:solidFill>
                  <a:srgbClr val="777777"/>
                </a:solidFill>
                <a:latin typeface="Consolas" panose="020B0609020204030204" pitchFamily="49" charset="0"/>
              </a:rPr>
              <a:t>\</a:t>
            </a:r>
            <a:r>
              <a:rPr lang="fr-FR" sz="2000" b="1" dirty="0">
                <a:solidFill>
                  <a:srgbClr val="7A3E9D"/>
                </a:solidFill>
                <a:latin typeface="Consolas" panose="020B0609020204030204" pitchFamily="49" charset="0"/>
              </a:rPr>
              <a:t>Seeder</a:t>
            </a:r>
            <a:r>
              <a:rPr lang="fr-FR" sz="2000" dirty="0">
                <a:solidFill>
                  <a:srgbClr val="777777"/>
                </a:solidFill>
                <a:latin typeface="Consolas" panose="020B0609020204030204" pitchFamily="49" charset="0"/>
              </a:rPr>
              <a:t>;</a:t>
            </a:r>
            <a:endParaRPr lang="fr-FR" sz="20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2000" dirty="0">
                <a:solidFill>
                  <a:srgbClr val="7A3E9D"/>
                </a:solidFill>
                <a:latin typeface="Consolas" panose="020B0609020204030204" pitchFamily="49" charset="0"/>
              </a:rPr>
              <a:t>class</a:t>
            </a:r>
            <a:r>
              <a:rPr lang="fr-FR" sz="20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2000" b="1" dirty="0" err="1">
                <a:solidFill>
                  <a:srgbClr val="7A3E9D"/>
                </a:solidFill>
                <a:latin typeface="Consolas" panose="020B0609020204030204" pitchFamily="49" charset="0"/>
              </a:rPr>
              <a:t>DatabaseSeeder</a:t>
            </a:r>
            <a:r>
              <a:rPr lang="fr-FR" sz="20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rgbClr val="4B69C6"/>
                </a:solidFill>
                <a:latin typeface="Consolas" panose="020B0609020204030204" pitchFamily="49" charset="0"/>
              </a:rPr>
              <a:t>extends</a:t>
            </a:r>
            <a:r>
              <a:rPr lang="fr-FR" sz="20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2000" b="1" dirty="0">
                <a:solidFill>
                  <a:srgbClr val="7A3E9D"/>
                </a:solidFill>
                <a:latin typeface="Consolas" panose="020B0609020204030204" pitchFamily="49" charset="0"/>
              </a:rPr>
              <a:t>Seeder</a:t>
            </a:r>
            <a:endParaRPr lang="fr-FR" sz="20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2000" dirty="0">
                <a:solidFill>
                  <a:srgbClr val="777777"/>
                </a:solidFill>
                <a:latin typeface="Consolas" panose="020B0609020204030204" pitchFamily="49" charset="0"/>
              </a:rPr>
              <a:t>{</a:t>
            </a:r>
            <a:endParaRPr lang="fr-FR" sz="20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20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fr-FR" sz="2000" dirty="0">
                <a:solidFill>
                  <a:srgbClr val="4B69C6"/>
                </a:solidFill>
                <a:latin typeface="Consolas" panose="020B0609020204030204" pitchFamily="49" charset="0"/>
              </a:rPr>
              <a:t>public</a:t>
            </a:r>
            <a:r>
              <a:rPr lang="fr-FR" sz="20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2000" dirty="0" err="1">
                <a:solidFill>
                  <a:srgbClr val="7A3E9D"/>
                </a:solidFill>
                <a:latin typeface="Consolas" panose="020B0609020204030204" pitchFamily="49" charset="0"/>
              </a:rPr>
              <a:t>function</a:t>
            </a:r>
            <a:r>
              <a:rPr lang="fr-FR" sz="20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2000" b="1" dirty="0">
                <a:solidFill>
                  <a:srgbClr val="AA3731"/>
                </a:solidFill>
                <a:latin typeface="Consolas" panose="020B0609020204030204" pitchFamily="49" charset="0"/>
              </a:rPr>
              <a:t>run</a:t>
            </a:r>
            <a:r>
              <a:rPr lang="fr-FR" sz="2000" dirty="0">
                <a:solidFill>
                  <a:srgbClr val="777777"/>
                </a:solidFill>
                <a:latin typeface="Consolas" panose="020B0609020204030204" pitchFamily="49" charset="0"/>
              </a:rPr>
              <a:t>()</a:t>
            </a:r>
            <a:endParaRPr lang="fr-FR" sz="20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20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fr-FR" sz="2000" dirty="0">
                <a:solidFill>
                  <a:srgbClr val="777777"/>
                </a:solidFill>
                <a:latin typeface="Consolas" panose="020B0609020204030204" pitchFamily="49" charset="0"/>
              </a:rPr>
              <a:t>{</a:t>
            </a:r>
            <a:endParaRPr lang="fr-FR" sz="20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20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fr-FR" sz="2000" dirty="0">
                <a:solidFill>
                  <a:srgbClr val="777777"/>
                </a:solidFill>
                <a:latin typeface="Consolas" panose="020B0609020204030204" pitchFamily="49" charset="0"/>
              </a:rPr>
              <a:t>$</a:t>
            </a:r>
            <a:r>
              <a:rPr lang="fr-FR" sz="2000" dirty="0" err="1">
                <a:solidFill>
                  <a:srgbClr val="9C5D27"/>
                </a:solidFill>
                <a:latin typeface="Consolas" panose="020B0609020204030204" pitchFamily="49" charset="0"/>
              </a:rPr>
              <a:t>this</a:t>
            </a:r>
            <a:r>
              <a:rPr lang="fr-FR" sz="2000" dirty="0">
                <a:solidFill>
                  <a:srgbClr val="777777"/>
                </a:solidFill>
                <a:latin typeface="Consolas" panose="020B0609020204030204" pitchFamily="49" charset="0"/>
              </a:rPr>
              <a:t>-&gt;</a:t>
            </a:r>
            <a:r>
              <a:rPr lang="fr-FR" sz="2000" b="1" dirty="0">
                <a:solidFill>
                  <a:srgbClr val="AA3731"/>
                </a:solidFill>
                <a:latin typeface="Consolas" panose="020B0609020204030204" pitchFamily="49" charset="0"/>
              </a:rPr>
              <a:t>call</a:t>
            </a:r>
            <a:r>
              <a:rPr lang="fr-FR" sz="2000" dirty="0">
                <a:solidFill>
                  <a:srgbClr val="777777"/>
                </a:solidFill>
                <a:latin typeface="Consolas" panose="020B0609020204030204" pitchFamily="49" charset="0"/>
              </a:rPr>
              <a:t>([</a:t>
            </a:r>
            <a:endParaRPr lang="fr-FR" sz="20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20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fr-FR" sz="2000" b="1" dirty="0" err="1">
                <a:solidFill>
                  <a:srgbClr val="7A3E9D"/>
                </a:solidFill>
                <a:latin typeface="Consolas" panose="020B0609020204030204" pitchFamily="49" charset="0"/>
              </a:rPr>
              <a:t>StagiaireSeeder</a:t>
            </a:r>
            <a:r>
              <a:rPr lang="fr-FR" sz="2000" dirty="0">
                <a:solidFill>
                  <a:srgbClr val="777777"/>
                </a:solidFill>
                <a:latin typeface="Consolas" panose="020B0609020204030204" pitchFamily="49" charset="0"/>
              </a:rPr>
              <a:t>::</a:t>
            </a:r>
            <a:r>
              <a:rPr lang="fr-FR" sz="2000" dirty="0">
                <a:solidFill>
                  <a:srgbClr val="4B69C6"/>
                </a:solidFill>
                <a:latin typeface="Consolas" panose="020B0609020204030204" pitchFamily="49" charset="0"/>
              </a:rPr>
              <a:t>class</a:t>
            </a:r>
            <a:r>
              <a:rPr lang="fr-FR" sz="2000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r>
              <a:rPr lang="fr-FR" sz="2000" dirty="0">
                <a:solidFill>
                  <a:srgbClr val="333333"/>
                </a:solidFill>
                <a:latin typeface="Consolas" panose="020B0609020204030204" pitchFamily="49" charset="0"/>
              </a:rPr>
              <a:t>  </a:t>
            </a:r>
          </a:p>
          <a:p>
            <a:r>
              <a:rPr lang="fr-FR" sz="20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fr-FR" sz="2000" dirty="0">
                <a:solidFill>
                  <a:srgbClr val="777777"/>
                </a:solidFill>
                <a:latin typeface="Consolas" panose="020B0609020204030204" pitchFamily="49" charset="0"/>
              </a:rPr>
              <a:t>]);</a:t>
            </a:r>
            <a:endParaRPr lang="fr-FR" sz="20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20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fr-FR" sz="2000" dirty="0">
                <a:solidFill>
                  <a:srgbClr val="777777"/>
                </a:solidFill>
                <a:latin typeface="Consolas" panose="020B0609020204030204" pitchFamily="49" charset="0"/>
              </a:rPr>
              <a:t>}</a:t>
            </a:r>
            <a:endParaRPr lang="fr-FR" sz="20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2000" dirty="0">
                <a:solidFill>
                  <a:srgbClr val="777777"/>
                </a:solidFill>
                <a:latin typeface="Consolas" panose="020B0609020204030204" pitchFamily="49" charset="0"/>
              </a:rPr>
              <a:t>}</a:t>
            </a:r>
            <a:endParaRPr lang="fr-FR" sz="20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954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2"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Interagir avec la base de données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Seeders et Factories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Seeders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F731152E-FB0F-4E2B-BC4D-60A9CC8F236A}"/>
              </a:ext>
            </a:extLst>
          </p:cNvPr>
          <p:cNvSpPr/>
          <p:nvPr/>
        </p:nvSpPr>
        <p:spPr>
          <a:xfrm>
            <a:off x="755576" y="2924944"/>
            <a:ext cx="7560840" cy="360040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4B69C6"/>
                </a:solidFill>
                <a:latin typeface="Consolas" panose="020B0609020204030204" pitchFamily="49" charset="0"/>
              </a:rPr>
              <a:t>use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333333"/>
                </a:solidFill>
                <a:latin typeface="Consolas" panose="020B0609020204030204" pitchFamily="49" charset="0"/>
              </a:rPr>
              <a:t>Illuminate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\</a:t>
            </a:r>
            <a:r>
              <a:rPr lang="fr-FR" dirty="0" err="1">
                <a:solidFill>
                  <a:srgbClr val="333333"/>
                </a:solidFill>
                <a:latin typeface="Consolas" panose="020B0609020204030204" pitchFamily="49" charset="0"/>
              </a:rPr>
              <a:t>Database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\</a:t>
            </a:r>
            <a:r>
              <a:rPr lang="fr-FR" b="1" dirty="0">
                <a:solidFill>
                  <a:srgbClr val="7A3E9D"/>
                </a:solidFill>
                <a:latin typeface="Consolas" panose="020B0609020204030204" pitchFamily="49" charset="0"/>
              </a:rPr>
              <a:t>Seeder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;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4B69C6"/>
                </a:solidFill>
                <a:latin typeface="Consolas" panose="020B0609020204030204" pitchFamily="49" charset="0"/>
              </a:rPr>
              <a:t>use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333333"/>
                </a:solidFill>
                <a:latin typeface="Consolas" panose="020B0609020204030204" pitchFamily="49" charset="0"/>
              </a:rPr>
              <a:t>Illuminate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\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Support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\</a:t>
            </a:r>
            <a:r>
              <a:rPr lang="fr-FR" dirty="0" err="1">
                <a:solidFill>
                  <a:srgbClr val="333333"/>
                </a:solidFill>
                <a:latin typeface="Consolas" panose="020B0609020204030204" pitchFamily="49" charset="0"/>
              </a:rPr>
              <a:t>Facades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\</a:t>
            </a:r>
            <a:r>
              <a:rPr lang="fr-FR" b="1" dirty="0">
                <a:solidFill>
                  <a:srgbClr val="7A3E9D"/>
                </a:solidFill>
                <a:latin typeface="Consolas" panose="020B0609020204030204" pitchFamily="49" charset="0"/>
              </a:rPr>
              <a:t>DB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;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7A3E9D"/>
                </a:solidFill>
                <a:latin typeface="Consolas" panose="020B0609020204030204" pitchFamily="49" charset="0"/>
              </a:rPr>
              <a:t>class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b="1" dirty="0" err="1">
                <a:solidFill>
                  <a:srgbClr val="7A3E9D"/>
                </a:solidFill>
                <a:latin typeface="Consolas" panose="020B0609020204030204" pitchFamily="49" charset="0"/>
              </a:rPr>
              <a:t>StagiaireSeeder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4B69C6"/>
                </a:solidFill>
                <a:latin typeface="Consolas" panose="020B0609020204030204" pitchFamily="49" charset="0"/>
              </a:rPr>
              <a:t>extends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b="1" dirty="0">
                <a:solidFill>
                  <a:srgbClr val="7A3E9D"/>
                </a:solidFill>
                <a:latin typeface="Consolas" panose="020B0609020204030204" pitchFamily="49" charset="0"/>
              </a:rPr>
              <a:t>Seeder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{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fr-FR" dirty="0">
                <a:solidFill>
                  <a:srgbClr val="4B69C6"/>
                </a:solidFill>
                <a:latin typeface="Consolas" panose="020B0609020204030204" pitchFamily="49" charset="0"/>
              </a:rPr>
              <a:t>public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7A3E9D"/>
                </a:solidFill>
                <a:latin typeface="Consolas" panose="020B0609020204030204" pitchFamily="49" charset="0"/>
              </a:rPr>
              <a:t>function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b="1" dirty="0">
                <a:solidFill>
                  <a:srgbClr val="AA3731"/>
                </a:solidFill>
                <a:latin typeface="Consolas" panose="020B0609020204030204" pitchFamily="49" charset="0"/>
              </a:rPr>
              <a:t>run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()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     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{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fr-FR" b="1" dirty="0">
                <a:solidFill>
                  <a:srgbClr val="7A3E9D"/>
                </a:solidFill>
                <a:latin typeface="Consolas" panose="020B0609020204030204" pitchFamily="49" charset="0"/>
              </a:rPr>
              <a:t>DB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::</a:t>
            </a:r>
            <a:r>
              <a:rPr lang="fr-FR" b="1" dirty="0">
                <a:solidFill>
                  <a:srgbClr val="AA3731"/>
                </a:solidFill>
                <a:latin typeface="Consolas" panose="020B0609020204030204" pitchFamily="49" charset="0"/>
              </a:rPr>
              <a:t>table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('</a:t>
            </a:r>
            <a:r>
              <a:rPr lang="fr-FR" dirty="0">
                <a:solidFill>
                  <a:srgbClr val="448C27"/>
                </a:solidFill>
                <a:latin typeface="Consolas" panose="020B0609020204030204" pitchFamily="49" charset="0"/>
              </a:rPr>
              <a:t>stagiaires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')-&gt;</a:t>
            </a:r>
            <a:r>
              <a:rPr lang="fr-FR" b="1" dirty="0">
                <a:solidFill>
                  <a:srgbClr val="AA3731"/>
                </a:solidFill>
                <a:latin typeface="Consolas" panose="020B0609020204030204" pitchFamily="49" charset="0"/>
              </a:rPr>
              <a:t>insert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([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fr-FR" dirty="0">
                <a:solidFill>
                  <a:srgbClr val="448C27"/>
                </a:solidFill>
                <a:latin typeface="Consolas" panose="020B0609020204030204" pitchFamily="49" charset="0"/>
              </a:rPr>
              <a:t>nom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'=&gt;'</a:t>
            </a:r>
            <a:r>
              <a:rPr lang="fr-FR" dirty="0" err="1">
                <a:solidFill>
                  <a:srgbClr val="448C27"/>
                </a:solidFill>
                <a:latin typeface="Consolas" panose="020B0609020204030204" pitchFamily="49" charset="0"/>
              </a:rPr>
              <a:t>Barouni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',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fr-FR" dirty="0" err="1">
                <a:solidFill>
                  <a:srgbClr val="448C27"/>
                </a:solidFill>
                <a:latin typeface="Consolas" panose="020B0609020204030204" pitchFamily="49" charset="0"/>
              </a:rPr>
              <a:t>prenom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'=&gt;'</a:t>
            </a:r>
            <a:r>
              <a:rPr lang="fr-FR" dirty="0">
                <a:solidFill>
                  <a:srgbClr val="448C27"/>
                </a:solidFill>
                <a:latin typeface="Consolas" panose="020B0609020204030204" pitchFamily="49" charset="0"/>
              </a:rPr>
              <a:t>Racha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',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fr-FR" dirty="0" err="1">
                <a:solidFill>
                  <a:srgbClr val="448C27"/>
                </a:solidFill>
                <a:latin typeface="Consolas" panose="020B0609020204030204" pitchFamily="49" charset="0"/>
              </a:rPr>
              <a:t>age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'=&gt;</a:t>
            </a:r>
            <a:r>
              <a:rPr lang="fr-FR" dirty="0">
                <a:solidFill>
                  <a:srgbClr val="9C5D27"/>
                </a:solidFill>
                <a:latin typeface="Consolas" panose="020B0609020204030204" pitchFamily="49" charset="0"/>
              </a:rPr>
              <a:t>23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]);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}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}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endParaRPr lang="fr-FR" dirty="0">
              <a:solidFill>
                <a:srgbClr val="0070C0"/>
              </a:solidFill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240874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2"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Interagir avec la base de données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Seeders et Factories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Seeders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F731152E-FB0F-4E2B-BC4D-60A9CC8F236A}"/>
              </a:ext>
            </a:extLst>
          </p:cNvPr>
          <p:cNvSpPr/>
          <p:nvPr/>
        </p:nvSpPr>
        <p:spPr>
          <a:xfrm>
            <a:off x="827584" y="2852936"/>
            <a:ext cx="7560840" cy="381642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600" dirty="0">
                <a:solidFill>
                  <a:srgbClr val="4B69C6"/>
                </a:solidFill>
                <a:latin typeface="Consolas" panose="020B0609020204030204" pitchFamily="49" charset="0"/>
              </a:rPr>
              <a:t>use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err="1">
                <a:solidFill>
                  <a:srgbClr val="333333"/>
                </a:solidFill>
                <a:latin typeface="Consolas" panose="020B0609020204030204" pitchFamily="49" charset="0"/>
              </a:rPr>
              <a:t>Illuminate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\</a:t>
            </a:r>
            <a:r>
              <a:rPr lang="fr-FR" sz="1600" dirty="0" err="1">
                <a:solidFill>
                  <a:srgbClr val="333333"/>
                </a:solidFill>
                <a:latin typeface="Consolas" panose="020B0609020204030204" pitchFamily="49" charset="0"/>
              </a:rPr>
              <a:t>Database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\</a:t>
            </a:r>
            <a:r>
              <a:rPr lang="fr-FR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Seeder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;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4B69C6"/>
                </a:solidFill>
                <a:latin typeface="Consolas" panose="020B0609020204030204" pitchFamily="49" charset="0"/>
              </a:rPr>
              <a:t>use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err="1">
                <a:solidFill>
                  <a:srgbClr val="333333"/>
                </a:solidFill>
                <a:latin typeface="Consolas" panose="020B0609020204030204" pitchFamily="49" charset="0"/>
              </a:rPr>
              <a:t>Illuminate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\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Support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\</a:t>
            </a:r>
            <a:r>
              <a:rPr lang="fr-FR" sz="1600" dirty="0" err="1">
                <a:solidFill>
                  <a:srgbClr val="333333"/>
                </a:solidFill>
                <a:latin typeface="Consolas" panose="020B0609020204030204" pitchFamily="49" charset="0"/>
              </a:rPr>
              <a:t>Facades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\</a:t>
            </a:r>
            <a:r>
              <a:rPr lang="fr-FR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DB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fr-FR" sz="1600" dirty="0">
                <a:solidFill>
                  <a:srgbClr val="4B69C6"/>
                </a:solidFill>
                <a:latin typeface="Consolas" panose="020B0609020204030204" pitchFamily="49" charset="0"/>
              </a:rPr>
              <a:t>use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err="1">
                <a:solidFill>
                  <a:srgbClr val="333333"/>
                </a:solidFill>
                <a:latin typeface="Consolas" panose="020B0609020204030204" pitchFamily="49" charset="0"/>
              </a:rPr>
              <a:t>Illuminate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\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Support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\</a:t>
            </a:r>
            <a:r>
              <a:rPr lang="fr-FR" sz="1600" b="1" dirty="0" err="1">
                <a:solidFill>
                  <a:srgbClr val="7A3E9D"/>
                </a:solidFill>
                <a:latin typeface="Consolas" panose="020B0609020204030204" pitchFamily="49" charset="0"/>
              </a:rPr>
              <a:t>Str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;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7A3E9D"/>
                </a:solidFill>
                <a:latin typeface="Consolas" panose="020B0609020204030204" pitchFamily="49" charset="0"/>
              </a:rPr>
              <a:t>class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600" b="1" dirty="0" err="1">
                <a:solidFill>
                  <a:srgbClr val="7A3E9D"/>
                </a:solidFill>
                <a:latin typeface="Consolas" panose="020B0609020204030204" pitchFamily="49" charset="0"/>
              </a:rPr>
              <a:t>StagiairesSeeder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err="1">
                <a:solidFill>
                  <a:srgbClr val="4B69C6"/>
                </a:solidFill>
                <a:latin typeface="Consolas" panose="020B0609020204030204" pitchFamily="49" charset="0"/>
              </a:rPr>
              <a:t>extends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Seeder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{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4B69C6"/>
                </a:solidFill>
                <a:latin typeface="Consolas" panose="020B0609020204030204" pitchFamily="49" charset="0"/>
              </a:rPr>
              <a:t>public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function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run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()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{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  </a:t>
            </a:r>
            <a:r>
              <a:rPr lang="fr-FR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DB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::</a:t>
            </a:r>
            <a:r>
              <a:rPr lang="fr-FR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table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('</a:t>
            </a:r>
            <a:r>
              <a:rPr lang="fr-FR" sz="1600" dirty="0">
                <a:solidFill>
                  <a:srgbClr val="448C27"/>
                </a:solidFill>
                <a:latin typeface="Consolas" panose="020B0609020204030204" pitchFamily="49" charset="0"/>
              </a:rPr>
              <a:t>stagiaires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')-&gt;</a:t>
            </a:r>
            <a:r>
              <a:rPr lang="fr-FR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insert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([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fr-FR" sz="1600" dirty="0">
                <a:solidFill>
                  <a:srgbClr val="448C27"/>
                </a:solidFill>
                <a:latin typeface="Consolas" panose="020B0609020204030204" pitchFamily="49" charset="0"/>
              </a:rPr>
              <a:t>nom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 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=&gt;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600" b="1" dirty="0" err="1">
                <a:solidFill>
                  <a:srgbClr val="7A3E9D"/>
                </a:solidFill>
                <a:latin typeface="Consolas" panose="020B0609020204030204" pitchFamily="49" charset="0"/>
              </a:rPr>
              <a:t>Str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::</a:t>
            </a:r>
            <a:r>
              <a:rPr lang="fr-FR" sz="16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random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>
                <a:solidFill>
                  <a:srgbClr val="9C5D27"/>
                </a:solidFill>
                <a:latin typeface="Consolas" panose="020B0609020204030204" pitchFamily="49" charset="0"/>
              </a:rPr>
              <a:t>20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),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fr-FR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prenom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=&gt;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600" b="1" dirty="0" err="1">
                <a:solidFill>
                  <a:srgbClr val="7A3E9D"/>
                </a:solidFill>
                <a:latin typeface="Consolas" panose="020B0609020204030204" pitchFamily="49" charset="0"/>
              </a:rPr>
              <a:t>Str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::</a:t>
            </a:r>
            <a:r>
              <a:rPr lang="fr-FR" sz="16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random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>
                <a:solidFill>
                  <a:srgbClr val="9C5D27"/>
                </a:solidFill>
                <a:latin typeface="Consolas" panose="020B0609020204030204" pitchFamily="49" charset="0"/>
              </a:rPr>
              <a:t>20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),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fr-FR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age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=&gt;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rand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fr-FR" sz="1600" dirty="0">
                <a:solidFill>
                  <a:srgbClr val="9C5D27"/>
                </a:solidFill>
                <a:latin typeface="Consolas" panose="020B0609020204030204" pitchFamily="49" charset="0"/>
              </a:rPr>
              <a:t>18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r>
              <a:rPr lang="fr-FR" sz="1600" dirty="0">
                <a:solidFill>
                  <a:srgbClr val="9C5D27"/>
                </a:solidFill>
                <a:latin typeface="Consolas" panose="020B0609020204030204" pitchFamily="49" charset="0"/>
              </a:rPr>
              <a:t>30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),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]);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7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fr-FR" sz="1700" dirty="0">
                <a:solidFill>
                  <a:srgbClr val="777777"/>
                </a:solidFill>
                <a:latin typeface="Consolas" panose="020B0609020204030204" pitchFamily="49" charset="0"/>
              </a:rPr>
              <a:t>}</a:t>
            </a:r>
            <a:endParaRPr lang="fr-FR" sz="17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700" dirty="0">
                <a:solidFill>
                  <a:srgbClr val="777777"/>
                </a:solidFill>
                <a:latin typeface="Consolas" panose="020B0609020204030204" pitchFamily="49" charset="0"/>
              </a:rPr>
              <a:t>}</a:t>
            </a:r>
            <a:endParaRPr lang="fr-FR" sz="17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287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2"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Interagir avec la base de données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Seeders et Factories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Seeders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Pour finir nous allons seeder la base de données mais avant cela assurer vous d’effacer correctement tous vos enregistrements déjà présents pour repartir d’une base vide :</a:t>
            </a: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Assurez-vous de n’avoir aucune donnée dans votre base et lancez la commande de </a:t>
            </a:r>
            <a:r>
              <a:rPr lang="fr-F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seeding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 vous avez bien suivi vous devriez voir dans votre base de données un nouvel enregistrement dans la table stagiaires.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F731152E-FB0F-4E2B-BC4D-60A9CC8F236A}"/>
              </a:ext>
            </a:extLst>
          </p:cNvPr>
          <p:cNvSpPr/>
          <p:nvPr/>
        </p:nvSpPr>
        <p:spPr>
          <a:xfrm>
            <a:off x="899592" y="3918756"/>
            <a:ext cx="7560840" cy="50405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000" dirty="0" err="1">
                <a:solidFill>
                  <a:srgbClr val="0070C0"/>
                </a:solidFill>
                <a:latin typeface="Source Code Pro"/>
              </a:rPr>
              <a:t>php</a:t>
            </a:r>
            <a:r>
              <a:rPr lang="fr-FR" sz="2000" dirty="0">
                <a:solidFill>
                  <a:srgbClr val="0070C0"/>
                </a:solidFill>
                <a:latin typeface="Source Code Pro"/>
              </a:rPr>
              <a:t> artisan </a:t>
            </a:r>
            <a:r>
              <a:rPr lang="fr-FR" sz="2000" dirty="0" err="1">
                <a:solidFill>
                  <a:srgbClr val="0070C0"/>
                </a:solidFill>
                <a:latin typeface="Source Code Pro"/>
              </a:rPr>
              <a:t>migrate:fresh</a:t>
            </a:r>
            <a:endParaRPr lang="fr-FR" sz="2000" dirty="0">
              <a:solidFill>
                <a:srgbClr val="0070C0"/>
              </a:solidFill>
              <a:latin typeface="Source Code Pro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E85FEBFB-62C9-456D-9F16-F692A86EC78A}"/>
              </a:ext>
            </a:extLst>
          </p:cNvPr>
          <p:cNvSpPr/>
          <p:nvPr/>
        </p:nvSpPr>
        <p:spPr>
          <a:xfrm>
            <a:off x="909116" y="5301208"/>
            <a:ext cx="7560840" cy="50405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2000" dirty="0" err="1">
                <a:solidFill>
                  <a:srgbClr val="0070C0"/>
                </a:solidFill>
                <a:latin typeface="Source Code Pro"/>
              </a:rPr>
              <a:t>php</a:t>
            </a:r>
            <a:r>
              <a:rPr lang="fr-FR" sz="2000" dirty="0">
                <a:solidFill>
                  <a:srgbClr val="0070C0"/>
                </a:solidFill>
                <a:latin typeface="Source Code Pro"/>
              </a:rPr>
              <a:t> artisan </a:t>
            </a:r>
            <a:r>
              <a:rPr lang="fr-FR" sz="2000" dirty="0" err="1">
                <a:solidFill>
                  <a:srgbClr val="0070C0"/>
                </a:solidFill>
                <a:latin typeface="Source Code Pro"/>
              </a:rPr>
              <a:t>db:seed</a:t>
            </a:r>
            <a:endParaRPr lang="fr-FR" sz="2000" dirty="0">
              <a:solidFill>
                <a:srgbClr val="0070C0"/>
              </a:solidFill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3303725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2"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Interagir avec la base de données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Seeders et Factories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Seeders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Vous pouvez exécuter la commande artisan </a:t>
            </a:r>
            <a:r>
              <a:rPr lang="fr-FR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db:seed</a:t>
            </a: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pour amorcer votre base de données. Par défaut, la commande </a:t>
            </a:r>
            <a:r>
              <a:rPr lang="fr-FR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db:seed</a:t>
            </a: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exécute la classe </a:t>
            </a:r>
            <a:r>
              <a:rPr lang="fr-FR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\Seeders\</a:t>
            </a:r>
            <a:r>
              <a:rPr lang="fr-FR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DatabaseSeeder</a:t>
            </a: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qui peut à son tour invoquer d'autres classes de départ. Cependant, vous pouvez utiliser l’option  </a:t>
            </a: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–class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pour spécifier une classe de départ à exécuter individuellement :</a:t>
            </a: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E85FEBFB-62C9-456D-9F16-F692A86EC78A}"/>
              </a:ext>
            </a:extLst>
          </p:cNvPr>
          <p:cNvSpPr/>
          <p:nvPr/>
        </p:nvSpPr>
        <p:spPr>
          <a:xfrm>
            <a:off x="899592" y="4581128"/>
            <a:ext cx="7560840" cy="50405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0070C0"/>
                </a:solidFill>
                <a:latin typeface="Source Code Pro"/>
              </a:rPr>
              <a:t>php artisan </a:t>
            </a:r>
            <a:r>
              <a:rPr lang="en-US" sz="2000" dirty="0" err="1">
                <a:solidFill>
                  <a:srgbClr val="0070C0"/>
                </a:solidFill>
                <a:latin typeface="Source Code Pro"/>
              </a:rPr>
              <a:t>db:seed</a:t>
            </a:r>
            <a:r>
              <a:rPr lang="en-US" sz="2000" dirty="0">
                <a:solidFill>
                  <a:srgbClr val="0070C0"/>
                </a:solidFill>
                <a:latin typeface="Source Code Pro"/>
              </a:rPr>
              <a:t> --class=</a:t>
            </a:r>
            <a:r>
              <a:rPr lang="en-US" sz="2000" dirty="0" err="1">
                <a:solidFill>
                  <a:srgbClr val="00B050"/>
                </a:solidFill>
                <a:latin typeface="Source Code Pro"/>
              </a:rPr>
              <a:t>StagiaireSeeder</a:t>
            </a:r>
            <a:endParaRPr lang="fr-FR" sz="2000" dirty="0">
              <a:solidFill>
                <a:srgbClr val="00B050"/>
              </a:solidFill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428297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2"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Interagir avec la base de données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Seeders et Factories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Seeders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Vous pouvez également amorcer votre base de données en utilisant la  commande </a:t>
            </a:r>
            <a:r>
              <a:rPr lang="fr-FR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migrate:fresh</a:t>
            </a: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combinaison avec l’option </a:t>
            </a: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fr-FR" sz="2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seed</a:t>
            </a: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qui supprimera toutes les tables et réexécutera toutes vos migrations. Cette commande est utile pour reconstruire complètement votre base de données. L’option </a:t>
            </a: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–seeder 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peut être utilisée pour spécifier un seeder spécifique à exécuter :</a:t>
            </a: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E85FEBFB-62C9-456D-9F16-F692A86EC78A}"/>
              </a:ext>
            </a:extLst>
          </p:cNvPr>
          <p:cNvSpPr/>
          <p:nvPr/>
        </p:nvSpPr>
        <p:spPr>
          <a:xfrm>
            <a:off x="708186" y="4797152"/>
            <a:ext cx="7824254" cy="100811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900" dirty="0" err="1">
                <a:solidFill>
                  <a:srgbClr val="0070C0"/>
                </a:solidFill>
                <a:latin typeface="Source Code Pro"/>
              </a:rPr>
              <a:t>php</a:t>
            </a:r>
            <a:r>
              <a:rPr lang="fr-FR" sz="1900" dirty="0">
                <a:solidFill>
                  <a:srgbClr val="0070C0"/>
                </a:solidFill>
                <a:latin typeface="Source Code Pro"/>
              </a:rPr>
              <a:t> artisan </a:t>
            </a:r>
            <a:r>
              <a:rPr lang="fr-FR" sz="1900" dirty="0" err="1">
                <a:solidFill>
                  <a:srgbClr val="0070C0"/>
                </a:solidFill>
                <a:latin typeface="Source Code Pro"/>
              </a:rPr>
              <a:t>migrate:fresh</a:t>
            </a:r>
            <a:r>
              <a:rPr lang="fr-FR" sz="1900" dirty="0">
                <a:solidFill>
                  <a:srgbClr val="0070C0"/>
                </a:solidFill>
                <a:latin typeface="Source Code Pro"/>
              </a:rPr>
              <a:t> –</a:t>
            </a:r>
            <a:r>
              <a:rPr lang="fr-FR" sz="1900" dirty="0" err="1">
                <a:solidFill>
                  <a:srgbClr val="0070C0"/>
                </a:solidFill>
                <a:latin typeface="Source Code Pro"/>
              </a:rPr>
              <a:t>seed</a:t>
            </a:r>
            <a:r>
              <a:rPr lang="fr-FR" sz="1900" dirty="0">
                <a:solidFill>
                  <a:srgbClr val="0070C0"/>
                </a:solidFill>
                <a:latin typeface="Source Code Pro"/>
              </a:rPr>
              <a:t> </a:t>
            </a:r>
          </a:p>
          <a:p>
            <a:r>
              <a:rPr lang="fr-FR" sz="1900" dirty="0" err="1">
                <a:solidFill>
                  <a:srgbClr val="0070C0"/>
                </a:solidFill>
                <a:latin typeface="Source Code Pro"/>
              </a:rPr>
              <a:t>php</a:t>
            </a:r>
            <a:r>
              <a:rPr lang="fr-FR" sz="1900" dirty="0">
                <a:solidFill>
                  <a:srgbClr val="0070C0"/>
                </a:solidFill>
                <a:latin typeface="Source Code Pro"/>
              </a:rPr>
              <a:t> artisan </a:t>
            </a:r>
            <a:r>
              <a:rPr lang="fr-FR" sz="1900" dirty="0" err="1">
                <a:solidFill>
                  <a:srgbClr val="0070C0"/>
                </a:solidFill>
                <a:latin typeface="Source Code Pro"/>
              </a:rPr>
              <a:t>migrate:fresh</a:t>
            </a:r>
            <a:r>
              <a:rPr lang="fr-FR" sz="1900" dirty="0">
                <a:solidFill>
                  <a:srgbClr val="0070C0"/>
                </a:solidFill>
                <a:latin typeface="Source Code Pro"/>
              </a:rPr>
              <a:t> --</a:t>
            </a:r>
            <a:r>
              <a:rPr lang="fr-FR" sz="1900" dirty="0" err="1">
                <a:solidFill>
                  <a:srgbClr val="0070C0"/>
                </a:solidFill>
                <a:latin typeface="Source Code Pro"/>
              </a:rPr>
              <a:t>seed</a:t>
            </a:r>
            <a:r>
              <a:rPr lang="fr-FR" sz="1900" dirty="0">
                <a:solidFill>
                  <a:srgbClr val="0070C0"/>
                </a:solidFill>
                <a:latin typeface="Source Code Pro"/>
              </a:rPr>
              <a:t> -seeder=</a:t>
            </a:r>
            <a:r>
              <a:rPr lang="fr-FR" sz="1900" dirty="0" err="1">
                <a:solidFill>
                  <a:srgbClr val="00B050"/>
                </a:solidFill>
                <a:latin typeface="Source Code Pro"/>
              </a:rPr>
              <a:t>StagiaireSeeder</a:t>
            </a:r>
            <a:endParaRPr lang="fr-FR" sz="1900" dirty="0">
              <a:solidFill>
                <a:srgbClr val="00B050"/>
              </a:solidFill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4101626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2"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Interagir avec la base de données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Seeders et </a:t>
            </a:r>
            <a:r>
              <a:rPr lang="fr-FR" sz="2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Factories</a:t>
            </a:r>
            <a:endParaRPr lang="fr-FR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Tinker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Toutes les applications </a:t>
            </a:r>
            <a:r>
              <a:rPr lang="fr-F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incluent </a:t>
            </a: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Tinker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 défaut. 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Vous pouvez installer Tinker à l'aide de Composer :</a:t>
            </a: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Tinker vous permet d'interagir avec l'ensemble de votre application </a:t>
            </a:r>
            <a:r>
              <a:rPr lang="fr-F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Laravel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 ligne de commande :</a:t>
            </a: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E85FEBFB-62C9-456D-9F16-F692A86EC78A}"/>
              </a:ext>
            </a:extLst>
          </p:cNvPr>
          <p:cNvSpPr/>
          <p:nvPr/>
        </p:nvSpPr>
        <p:spPr>
          <a:xfrm>
            <a:off x="611560" y="4581128"/>
            <a:ext cx="7920880" cy="194421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dirty="0">
                <a:solidFill>
                  <a:srgbClr val="00B050"/>
                </a:solidFill>
                <a:latin typeface="Source Code Pro"/>
              </a:rPr>
              <a:t>PS F:\ISTA2022\TPSeeders&gt; </a:t>
            </a:r>
            <a:r>
              <a:rPr lang="fr-FR" dirty="0" err="1">
                <a:solidFill>
                  <a:srgbClr val="00B050"/>
                </a:solidFill>
                <a:latin typeface="Source Code Pro"/>
              </a:rPr>
              <a:t>php</a:t>
            </a:r>
            <a:r>
              <a:rPr lang="fr-FR" dirty="0">
                <a:solidFill>
                  <a:srgbClr val="00B050"/>
                </a:solidFill>
                <a:latin typeface="Source Code Pro"/>
              </a:rPr>
              <a:t> artisan tinker</a:t>
            </a:r>
          </a:p>
          <a:p>
            <a:r>
              <a:rPr lang="fr-FR" dirty="0">
                <a:solidFill>
                  <a:srgbClr val="00B050"/>
                </a:solidFill>
                <a:latin typeface="Source Code Pro"/>
              </a:rPr>
              <a:t>Psy Shell v0.11.10 (PHP 8.1.2 — cli) by Justin </a:t>
            </a:r>
            <a:r>
              <a:rPr lang="fr-FR" dirty="0" err="1">
                <a:solidFill>
                  <a:srgbClr val="00B050"/>
                </a:solidFill>
                <a:latin typeface="Source Code Pro"/>
              </a:rPr>
              <a:t>Hileman</a:t>
            </a:r>
            <a:endParaRPr lang="fr-FR" dirty="0">
              <a:solidFill>
                <a:srgbClr val="00B050"/>
              </a:solidFill>
              <a:latin typeface="Source Code Pro"/>
            </a:endParaRPr>
          </a:p>
          <a:p>
            <a:endParaRPr lang="fr-FR" dirty="0">
              <a:solidFill>
                <a:srgbClr val="00B050"/>
              </a:solidFill>
              <a:latin typeface="Source Code Pro"/>
            </a:endParaRPr>
          </a:p>
          <a:p>
            <a:r>
              <a:rPr lang="fr-FR" dirty="0">
                <a:solidFill>
                  <a:srgbClr val="00B050"/>
                </a:solidFill>
                <a:latin typeface="Source Code Pro"/>
              </a:rPr>
              <a:t>&gt; DB::table('stagiaires')-&gt;insert( ['nom'=&gt;'</a:t>
            </a:r>
            <a:r>
              <a:rPr lang="fr-FR" dirty="0" err="1">
                <a:solidFill>
                  <a:srgbClr val="00B050"/>
                </a:solidFill>
                <a:latin typeface="Source Code Pro"/>
              </a:rPr>
              <a:t>Girari</a:t>
            </a:r>
            <a:r>
              <a:rPr lang="fr-FR" dirty="0">
                <a:solidFill>
                  <a:srgbClr val="00B050"/>
                </a:solidFill>
                <a:latin typeface="Source Code Pro"/>
              </a:rPr>
              <a:t>','</a:t>
            </a:r>
            <a:r>
              <a:rPr lang="fr-FR" dirty="0" err="1">
                <a:solidFill>
                  <a:srgbClr val="00B050"/>
                </a:solidFill>
                <a:latin typeface="Source Code Pro"/>
              </a:rPr>
              <a:t>prenom</a:t>
            </a:r>
            <a:r>
              <a:rPr lang="fr-FR" dirty="0">
                <a:solidFill>
                  <a:srgbClr val="00B050"/>
                </a:solidFill>
                <a:latin typeface="Source Code Pro"/>
              </a:rPr>
              <a:t>'=&gt;'Nada','</a:t>
            </a:r>
            <a:r>
              <a:rPr lang="fr-FR" dirty="0" err="1">
                <a:solidFill>
                  <a:srgbClr val="00B050"/>
                </a:solidFill>
                <a:latin typeface="Source Code Pro"/>
              </a:rPr>
              <a:t>age</a:t>
            </a:r>
            <a:r>
              <a:rPr lang="fr-FR" dirty="0">
                <a:solidFill>
                  <a:srgbClr val="00B050"/>
                </a:solidFill>
                <a:latin typeface="Source Code Pro"/>
              </a:rPr>
              <a:t>'=&gt;21])</a:t>
            </a:r>
          </a:p>
          <a:p>
            <a:r>
              <a:rPr lang="fr-FR" dirty="0">
                <a:solidFill>
                  <a:srgbClr val="00B050"/>
                </a:solidFill>
                <a:latin typeface="Source Code Pro"/>
              </a:rPr>
              <a:t>= </a:t>
            </a:r>
            <a:r>
              <a:rPr lang="fr-FR" dirty="0" err="1">
                <a:solidFill>
                  <a:srgbClr val="00B050"/>
                </a:solidFill>
                <a:latin typeface="Source Code Pro"/>
              </a:rPr>
              <a:t>true</a:t>
            </a:r>
            <a:endParaRPr lang="fr-FR" dirty="0">
              <a:solidFill>
                <a:srgbClr val="00B050"/>
              </a:solidFill>
              <a:latin typeface="Source Code Pro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1FC31A32-156A-44E4-ACC4-0590A71F6DE1}"/>
              </a:ext>
            </a:extLst>
          </p:cNvPr>
          <p:cNvSpPr/>
          <p:nvPr/>
        </p:nvSpPr>
        <p:spPr>
          <a:xfrm>
            <a:off x="729062" y="3530812"/>
            <a:ext cx="7685878" cy="43204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900">
                <a:solidFill>
                  <a:srgbClr val="0070C0"/>
                </a:solidFill>
                <a:latin typeface="Source Code Pro"/>
              </a:rPr>
              <a:t>composer require laravel/tinker</a:t>
            </a:r>
            <a:endParaRPr lang="fr-FR" sz="1900" dirty="0">
              <a:solidFill>
                <a:srgbClr val="0070C0"/>
              </a:solidFill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4273569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2"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Interagir avec la base de données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Seeders et Factories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Factories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Factories sont donc là pour nous permettre de créer des enregistrements en quantité et d’établir facilement diverses relations entre nos tables. 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Nous allons donc créer le </a:t>
            </a:r>
            <a:r>
              <a:rPr lang="fr-F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StagiaireFactory</a:t>
            </a:r>
            <a:endParaRPr lang="fr-FR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Vos Factories se situe dans le dossier </a:t>
            </a: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fr-F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fr-FR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factories</a:t>
            </a: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L’option </a:t>
            </a:r>
            <a:r>
              <a:rPr lang="fr-F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--model </a:t>
            </a: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la commande permet de préciser de quel model il s’agit.</a:t>
            </a: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E85FEBFB-62C9-456D-9F16-F692A86EC78A}"/>
              </a:ext>
            </a:extLst>
          </p:cNvPr>
          <p:cNvSpPr/>
          <p:nvPr/>
        </p:nvSpPr>
        <p:spPr>
          <a:xfrm>
            <a:off x="712380" y="6002281"/>
            <a:ext cx="7738287" cy="50405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70C0"/>
                </a:solidFill>
                <a:latin typeface="Source Code Pro"/>
              </a:rPr>
              <a:t>php artisan make:factory </a:t>
            </a:r>
            <a:r>
              <a:rPr lang="en-US" dirty="0">
                <a:solidFill>
                  <a:srgbClr val="00B050"/>
                </a:solidFill>
                <a:latin typeface="Source Code Pro"/>
              </a:rPr>
              <a:t>StagiaireFactory</a:t>
            </a:r>
            <a:r>
              <a:rPr lang="en-US" dirty="0">
                <a:solidFill>
                  <a:srgbClr val="0070C0"/>
                </a:solidFill>
                <a:latin typeface="Source Code Pro"/>
              </a:rPr>
              <a:t> --model=</a:t>
            </a:r>
            <a:r>
              <a:rPr lang="en-US" dirty="0">
                <a:solidFill>
                  <a:srgbClr val="00B050"/>
                </a:solidFill>
                <a:latin typeface="Source Code Pro"/>
              </a:rPr>
              <a:t>Stagiaire</a:t>
            </a:r>
            <a:endParaRPr lang="fr-FR" dirty="0">
              <a:solidFill>
                <a:srgbClr val="00B050"/>
              </a:solidFill>
              <a:latin typeface="Source Code Pro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04087C41-9850-40D4-ADCA-DE84EE9FE2F8}"/>
              </a:ext>
            </a:extLst>
          </p:cNvPr>
          <p:cNvSpPr/>
          <p:nvPr/>
        </p:nvSpPr>
        <p:spPr>
          <a:xfrm>
            <a:off x="712380" y="4221088"/>
            <a:ext cx="7738287" cy="50405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70C0"/>
                </a:solidFill>
                <a:latin typeface="Source Code Pro"/>
              </a:rPr>
              <a:t>php artisan make:factory </a:t>
            </a:r>
            <a:r>
              <a:rPr lang="en-US" dirty="0">
                <a:solidFill>
                  <a:srgbClr val="00B050"/>
                </a:solidFill>
                <a:latin typeface="Source Code Pro"/>
              </a:rPr>
              <a:t>StagiaireFactory</a:t>
            </a:r>
            <a:endParaRPr lang="fr-FR" dirty="0">
              <a:solidFill>
                <a:srgbClr val="00B050"/>
              </a:solidFill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1033360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2"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Interagir avec la base de données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Seeders et Factories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Factories</a:t>
            </a:r>
          </a:p>
          <a:p>
            <a:pPr marL="400050" lvl="1" indent="0">
              <a:buNone/>
            </a:pPr>
            <a:r>
              <a:rPr lang="fr-F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Nous allons donc créer Le model </a:t>
            </a:r>
            <a:r>
              <a:rPr lang="fr-F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Stagiaire</a:t>
            </a:r>
            <a:r>
              <a:rPr lang="fr-F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04087C41-9850-40D4-ADCA-DE84EE9FE2F8}"/>
              </a:ext>
            </a:extLst>
          </p:cNvPr>
          <p:cNvSpPr/>
          <p:nvPr/>
        </p:nvSpPr>
        <p:spPr>
          <a:xfrm>
            <a:off x="657208" y="3945879"/>
            <a:ext cx="7829583" cy="2462572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dirty="0">
                <a:solidFill>
                  <a:srgbClr val="4B69C6"/>
                </a:solidFill>
                <a:latin typeface="Consolas" panose="020B0609020204030204" pitchFamily="49" charset="0"/>
              </a:rPr>
              <a:t>use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333333"/>
                </a:solidFill>
                <a:latin typeface="Consolas" panose="020B0609020204030204" pitchFamily="49" charset="0"/>
              </a:rPr>
              <a:t>Illuminate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\</a:t>
            </a:r>
            <a:r>
              <a:rPr lang="fr-FR" dirty="0" err="1">
                <a:solidFill>
                  <a:srgbClr val="333333"/>
                </a:solidFill>
                <a:latin typeface="Consolas" panose="020B0609020204030204" pitchFamily="49" charset="0"/>
              </a:rPr>
              <a:t>Database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\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Eloquent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\</a:t>
            </a:r>
            <a:r>
              <a:rPr lang="fr-FR" dirty="0" err="1">
                <a:solidFill>
                  <a:srgbClr val="333333"/>
                </a:solidFill>
                <a:latin typeface="Consolas" panose="020B0609020204030204" pitchFamily="49" charset="0"/>
              </a:rPr>
              <a:t>Factories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\</a:t>
            </a:r>
            <a:r>
              <a:rPr lang="fr-FR" b="1" dirty="0" err="1">
                <a:solidFill>
                  <a:srgbClr val="7A3E9D"/>
                </a:solidFill>
                <a:latin typeface="Consolas" panose="020B0609020204030204" pitchFamily="49" charset="0"/>
              </a:rPr>
              <a:t>HasFactory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;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4B69C6"/>
                </a:solidFill>
                <a:latin typeface="Consolas" panose="020B0609020204030204" pitchFamily="49" charset="0"/>
              </a:rPr>
              <a:t>use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333333"/>
                </a:solidFill>
                <a:latin typeface="Consolas" panose="020B0609020204030204" pitchFamily="49" charset="0"/>
              </a:rPr>
              <a:t>Illuminate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\</a:t>
            </a:r>
            <a:r>
              <a:rPr lang="fr-FR" dirty="0" err="1">
                <a:solidFill>
                  <a:srgbClr val="333333"/>
                </a:solidFill>
                <a:latin typeface="Consolas" panose="020B0609020204030204" pitchFamily="49" charset="0"/>
              </a:rPr>
              <a:t>Database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\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Eloquent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\</a:t>
            </a:r>
            <a:r>
              <a:rPr lang="fr-FR" b="1" dirty="0">
                <a:solidFill>
                  <a:srgbClr val="7A3E9D"/>
                </a:solidFill>
                <a:latin typeface="Consolas" panose="020B0609020204030204" pitchFamily="49" charset="0"/>
              </a:rPr>
              <a:t>Model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;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b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fr-FR" dirty="0">
                <a:solidFill>
                  <a:srgbClr val="7A3E9D"/>
                </a:solidFill>
                <a:latin typeface="Consolas" panose="020B0609020204030204" pitchFamily="49" charset="0"/>
              </a:rPr>
              <a:t>class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b="1" dirty="0">
                <a:solidFill>
                  <a:srgbClr val="7A3E9D"/>
                </a:solidFill>
                <a:latin typeface="Consolas" panose="020B0609020204030204" pitchFamily="49" charset="0"/>
              </a:rPr>
              <a:t>Stagiaire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dirty="0" err="1">
                <a:solidFill>
                  <a:srgbClr val="4B69C6"/>
                </a:solidFill>
                <a:latin typeface="Consolas" panose="020B0609020204030204" pitchFamily="49" charset="0"/>
              </a:rPr>
              <a:t>extends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b="1" dirty="0">
                <a:solidFill>
                  <a:srgbClr val="7A3E9D"/>
                </a:solidFill>
                <a:latin typeface="Consolas" panose="020B0609020204030204" pitchFamily="49" charset="0"/>
              </a:rPr>
              <a:t>Model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{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fr-FR" dirty="0">
                <a:solidFill>
                  <a:srgbClr val="4B69C6"/>
                </a:solidFill>
                <a:latin typeface="Consolas" panose="020B0609020204030204" pitchFamily="49" charset="0"/>
              </a:rPr>
              <a:t>use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b="1" dirty="0" err="1">
                <a:solidFill>
                  <a:srgbClr val="7A3E9D"/>
                </a:solidFill>
                <a:latin typeface="Consolas" panose="020B0609020204030204" pitchFamily="49" charset="0"/>
              </a:rPr>
              <a:t>HasFactory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;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fr-FR" dirty="0" err="1">
                <a:solidFill>
                  <a:srgbClr val="4B69C6"/>
                </a:solidFill>
                <a:latin typeface="Consolas" panose="020B0609020204030204" pitchFamily="49" charset="0"/>
              </a:rPr>
              <a:t>protected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$</a:t>
            </a:r>
            <a:r>
              <a:rPr lang="fr-FR" dirty="0" err="1">
                <a:solidFill>
                  <a:srgbClr val="7A3E9D"/>
                </a:solidFill>
                <a:latin typeface="Consolas" panose="020B0609020204030204" pitchFamily="49" charset="0"/>
              </a:rPr>
              <a:t>fillable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=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['</a:t>
            </a:r>
            <a:r>
              <a:rPr lang="fr-FR" dirty="0">
                <a:solidFill>
                  <a:srgbClr val="448C27"/>
                </a:solidFill>
                <a:latin typeface="Consolas" panose="020B0609020204030204" pitchFamily="49" charset="0"/>
              </a:rPr>
              <a:t>nom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',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fr-FR" dirty="0" err="1">
                <a:solidFill>
                  <a:srgbClr val="448C27"/>
                </a:solidFill>
                <a:latin typeface="Consolas" panose="020B0609020204030204" pitchFamily="49" charset="0"/>
              </a:rPr>
              <a:t>prenom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',</a:t>
            </a:r>
            <a:r>
              <a:rPr lang="fr-FR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fr-FR" dirty="0" err="1">
                <a:solidFill>
                  <a:srgbClr val="448C27"/>
                </a:solidFill>
                <a:latin typeface="Consolas" panose="020B0609020204030204" pitchFamily="49" charset="0"/>
              </a:rPr>
              <a:t>age</a:t>
            </a:r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'];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dirty="0">
                <a:solidFill>
                  <a:srgbClr val="777777"/>
                </a:solidFill>
                <a:latin typeface="Consolas" panose="020B0609020204030204" pitchFamily="49" charset="0"/>
              </a:rPr>
              <a:t>}</a:t>
            </a:r>
            <a:endParaRPr lang="fr-FR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F41A9AE-295C-488A-A212-2651484B4E8B}"/>
              </a:ext>
            </a:extLst>
          </p:cNvPr>
          <p:cNvSpPr/>
          <p:nvPr/>
        </p:nvSpPr>
        <p:spPr>
          <a:xfrm>
            <a:off x="748504" y="3176972"/>
            <a:ext cx="7738287" cy="50405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70C0"/>
                </a:solidFill>
                <a:latin typeface="Source Code Pro"/>
              </a:rPr>
              <a:t>php artisan </a:t>
            </a:r>
            <a:r>
              <a:rPr lang="en-US" dirty="0" err="1">
                <a:solidFill>
                  <a:srgbClr val="0070C0"/>
                </a:solidFill>
                <a:latin typeface="Source Code Pro"/>
              </a:rPr>
              <a:t>make:model</a:t>
            </a:r>
            <a:r>
              <a:rPr lang="en-US" dirty="0">
                <a:solidFill>
                  <a:srgbClr val="0070C0"/>
                </a:solidFill>
                <a:latin typeface="Source Code Pro"/>
              </a:rPr>
              <a:t> </a:t>
            </a:r>
            <a:r>
              <a:rPr lang="en-US" dirty="0">
                <a:solidFill>
                  <a:srgbClr val="00B050"/>
                </a:solidFill>
                <a:latin typeface="Source Code Pro"/>
              </a:rPr>
              <a:t>Stagiaire</a:t>
            </a:r>
            <a:endParaRPr lang="fr-FR" dirty="0">
              <a:solidFill>
                <a:srgbClr val="00B050"/>
              </a:solidFill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27485135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2"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Interagir avec la base de données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Seeders et Factories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Factories</a:t>
            </a:r>
          </a:p>
          <a:p>
            <a:pPr marL="400050" lvl="1" indent="0">
              <a:buNone/>
            </a:pPr>
            <a:r>
              <a:rPr lang="fr-F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Nous allons donc créer Le </a:t>
            </a:r>
            <a:r>
              <a:rPr lang="fr-F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StagiaireFactory</a:t>
            </a:r>
            <a:r>
              <a:rPr lang="fr-F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04087C41-9850-40D4-ADCA-DE84EE9FE2F8}"/>
              </a:ext>
            </a:extLst>
          </p:cNvPr>
          <p:cNvSpPr/>
          <p:nvPr/>
        </p:nvSpPr>
        <p:spPr>
          <a:xfrm>
            <a:off x="680033" y="3747356"/>
            <a:ext cx="7783934" cy="284999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400" dirty="0">
                <a:solidFill>
                  <a:srgbClr val="4B69C6"/>
                </a:solidFill>
                <a:latin typeface="Consolas" panose="020B0609020204030204" pitchFamily="49" charset="0"/>
              </a:rPr>
              <a:t>use</a:t>
            </a:r>
            <a:r>
              <a:rPr lang="fr-FR" sz="14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400" dirty="0" err="1">
                <a:solidFill>
                  <a:srgbClr val="333333"/>
                </a:solidFill>
                <a:latin typeface="Consolas" panose="020B0609020204030204" pitchFamily="49" charset="0"/>
              </a:rPr>
              <a:t>Illuminate</a:t>
            </a:r>
            <a:r>
              <a:rPr lang="fr-FR" sz="1400" dirty="0">
                <a:solidFill>
                  <a:srgbClr val="777777"/>
                </a:solidFill>
                <a:latin typeface="Consolas" panose="020B0609020204030204" pitchFamily="49" charset="0"/>
              </a:rPr>
              <a:t>\</a:t>
            </a:r>
            <a:r>
              <a:rPr lang="fr-FR" sz="1400" dirty="0" err="1">
                <a:solidFill>
                  <a:srgbClr val="333333"/>
                </a:solidFill>
                <a:latin typeface="Consolas" panose="020B0609020204030204" pitchFamily="49" charset="0"/>
              </a:rPr>
              <a:t>Database</a:t>
            </a:r>
            <a:r>
              <a:rPr lang="fr-FR" sz="1400" dirty="0">
                <a:solidFill>
                  <a:srgbClr val="777777"/>
                </a:solidFill>
                <a:latin typeface="Consolas" panose="020B0609020204030204" pitchFamily="49" charset="0"/>
              </a:rPr>
              <a:t>\</a:t>
            </a:r>
            <a:r>
              <a:rPr lang="fr-FR" sz="1400" dirty="0">
                <a:solidFill>
                  <a:srgbClr val="333333"/>
                </a:solidFill>
                <a:latin typeface="Consolas" panose="020B0609020204030204" pitchFamily="49" charset="0"/>
              </a:rPr>
              <a:t>Eloquent</a:t>
            </a:r>
            <a:r>
              <a:rPr lang="fr-FR" sz="1400" dirty="0">
                <a:solidFill>
                  <a:srgbClr val="777777"/>
                </a:solidFill>
                <a:latin typeface="Consolas" panose="020B0609020204030204" pitchFamily="49" charset="0"/>
              </a:rPr>
              <a:t>\</a:t>
            </a:r>
            <a:r>
              <a:rPr lang="fr-FR" sz="1400" dirty="0" err="1">
                <a:solidFill>
                  <a:srgbClr val="333333"/>
                </a:solidFill>
                <a:latin typeface="Consolas" panose="020B0609020204030204" pitchFamily="49" charset="0"/>
              </a:rPr>
              <a:t>Factories</a:t>
            </a:r>
            <a:r>
              <a:rPr lang="fr-FR" sz="1400" dirty="0">
                <a:solidFill>
                  <a:srgbClr val="777777"/>
                </a:solidFill>
                <a:latin typeface="Consolas" panose="020B0609020204030204" pitchFamily="49" charset="0"/>
              </a:rPr>
              <a:t>\</a:t>
            </a:r>
            <a:r>
              <a:rPr lang="fr-FR" sz="1400" b="1" dirty="0" err="1">
                <a:solidFill>
                  <a:srgbClr val="7A3E9D"/>
                </a:solidFill>
                <a:latin typeface="Consolas" panose="020B0609020204030204" pitchFamily="49" charset="0"/>
              </a:rPr>
              <a:t>Factory</a:t>
            </a:r>
            <a:r>
              <a:rPr lang="fr-FR" sz="1400" dirty="0">
                <a:solidFill>
                  <a:srgbClr val="777777"/>
                </a:solidFill>
                <a:latin typeface="Consolas" panose="020B0609020204030204" pitchFamily="49" charset="0"/>
              </a:rPr>
              <a:t>;</a:t>
            </a:r>
            <a:br>
              <a:rPr lang="fr-FR" sz="1400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fr-FR" sz="1400" dirty="0">
                <a:solidFill>
                  <a:srgbClr val="333333"/>
                </a:solidFill>
                <a:latin typeface="Consolas" panose="020B0609020204030204" pitchFamily="49" charset="0"/>
              </a:rPr>
              <a:t>\</a:t>
            </a:r>
            <a:r>
              <a:rPr lang="fr-FR" sz="1400" i="1" dirty="0">
                <a:solidFill>
                  <a:srgbClr val="448C27"/>
                </a:solidFill>
                <a:latin typeface="Consolas" panose="020B0609020204030204" pitchFamily="49" charset="0"/>
              </a:rPr>
              <a:t>\Illuminate\Database\Eloquent\Factories\Factory&lt;\App\Models\Stagiaire&gt;</a:t>
            </a:r>
            <a:endParaRPr lang="fr-FR" sz="14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400" dirty="0">
                <a:solidFill>
                  <a:srgbClr val="7A3E9D"/>
                </a:solidFill>
                <a:latin typeface="Consolas" panose="020B0609020204030204" pitchFamily="49" charset="0"/>
              </a:rPr>
              <a:t>class</a:t>
            </a:r>
            <a:r>
              <a:rPr lang="fr-FR" sz="14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400" b="1" dirty="0" err="1">
                <a:solidFill>
                  <a:srgbClr val="7A3E9D"/>
                </a:solidFill>
                <a:latin typeface="Consolas" panose="020B0609020204030204" pitchFamily="49" charset="0"/>
              </a:rPr>
              <a:t>StagiaireFactory</a:t>
            </a:r>
            <a:r>
              <a:rPr lang="fr-FR" sz="14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400" dirty="0" err="1">
                <a:solidFill>
                  <a:srgbClr val="4B69C6"/>
                </a:solidFill>
                <a:latin typeface="Consolas" panose="020B0609020204030204" pitchFamily="49" charset="0"/>
              </a:rPr>
              <a:t>extends</a:t>
            </a:r>
            <a:r>
              <a:rPr lang="fr-FR" sz="14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400" b="1" dirty="0" err="1">
                <a:solidFill>
                  <a:srgbClr val="7A3E9D"/>
                </a:solidFill>
                <a:latin typeface="Consolas" panose="020B0609020204030204" pitchFamily="49" charset="0"/>
              </a:rPr>
              <a:t>Factory</a:t>
            </a:r>
            <a:endParaRPr lang="fr-FR" sz="14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400" dirty="0">
                <a:solidFill>
                  <a:srgbClr val="777777"/>
                </a:solidFill>
                <a:latin typeface="Consolas" panose="020B0609020204030204" pitchFamily="49" charset="0"/>
              </a:rPr>
              <a:t>{</a:t>
            </a:r>
            <a:endParaRPr lang="fr-FR" sz="14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400" dirty="0">
                <a:solidFill>
                  <a:srgbClr val="333333"/>
                </a:solidFill>
                <a:latin typeface="Consolas" panose="020B0609020204030204" pitchFamily="49" charset="0"/>
              </a:rPr>
              <a:t>   </a:t>
            </a:r>
            <a:r>
              <a:rPr lang="fr-FR" sz="1400" dirty="0">
                <a:solidFill>
                  <a:srgbClr val="4B69C6"/>
                </a:solidFill>
                <a:latin typeface="Consolas" panose="020B0609020204030204" pitchFamily="49" charset="0"/>
              </a:rPr>
              <a:t>public</a:t>
            </a:r>
            <a:r>
              <a:rPr lang="fr-FR" sz="14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400" dirty="0" err="1">
                <a:solidFill>
                  <a:srgbClr val="7A3E9D"/>
                </a:solidFill>
                <a:latin typeface="Consolas" panose="020B0609020204030204" pitchFamily="49" charset="0"/>
              </a:rPr>
              <a:t>function</a:t>
            </a:r>
            <a:r>
              <a:rPr lang="fr-FR" sz="14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4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definition</a:t>
            </a:r>
            <a:r>
              <a:rPr lang="fr-FR" sz="1400" dirty="0">
                <a:solidFill>
                  <a:srgbClr val="777777"/>
                </a:solidFill>
                <a:latin typeface="Consolas" panose="020B0609020204030204" pitchFamily="49" charset="0"/>
              </a:rPr>
              <a:t>()</a:t>
            </a:r>
            <a:endParaRPr lang="fr-FR" sz="14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4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fr-FR" sz="1400" dirty="0">
                <a:solidFill>
                  <a:srgbClr val="777777"/>
                </a:solidFill>
                <a:latin typeface="Consolas" panose="020B0609020204030204" pitchFamily="49" charset="0"/>
              </a:rPr>
              <a:t>{</a:t>
            </a:r>
            <a:endParaRPr lang="fr-FR" sz="14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4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fr-FR" sz="1400" dirty="0">
                <a:solidFill>
                  <a:srgbClr val="4B69C6"/>
                </a:solidFill>
                <a:latin typeface="Consolas" panose="020B0609020204030204" pitchFamily="49" charset="0"/>
              </a:rPr>
              <a:t>return</a:t>
            </a:r>
            <a:r>
              <a:rPr lang="fr-FR" sz="14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400" dirty="0">
                <a:solidFill>
                  <a:srgbClr val="777777"/>
                </a:solidFill>
                <a:latin typeface="Consolas" panose="020B0609020204030204" pitchFamily="49" charset="0"/>
              </a:rPr>
              <a:t>[</a:t>
            </a:r>
            <a:endParaRPr lang="fr-FR" sz="14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4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fr-FR" sz="1400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fr-FR" sz="1400" dirty="0">
                <a:solidFill>
                  <a:srgbClr val="448C27"/>
                </a:solidFill>
                <a:latin typeface="Consolas" panose="020B0609020204030204" pitchFamily="49" charset="0"/>
              </a:rPr>
              <a:t>nom</a:t>
            </a:r>
            <a:r>
              <a:rPr lang="fr-FR" sz="1400" dirty="0">
                <a:solidFill>
                  <a:srgbClr val="777777"/>
                </a:solidFill>
                <a:latin typeface="Consolas" panose="020B0609020204030204" pitchFamily="49" charset="0"/>
              </a:rPr>
              <a:t>'=&gt;</a:t>
            </a:r>
            <a:r>
              <a:rPr lang="fr-FR" sz="14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400" b="1" dirty="0">
                <a:solidFill>
                  <a:srgbClr val="AA3731"/>
                </a:solidFill>
                <a:latin typeface="Consolas" panose="020B0609020204030204" pitchFamily="49" charset="0"/>
              </a:rPr>
              <a:t>fake</a:t>
            </a:r>
            <a:r>
              <a:rPr lang="fr-FR" sz="1400" dirty="0">
                <a:solidFill>
                  <a:srgbClr val="777777"/>
                </a:solidFill>
                <a:latin typeface="Consolas" panose="020B0609020204030204" pitchFamily="49" charset="0"/>
              </a:rPr>
              <a:t>()-&gt;</a:t>
            </a:r>
            <a:r>
              <a:rPr lang="fr-FR" sz="14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firstName</a:t>
            </a:r>
            <a:r>
              <a:rPr lang="fr-FR" sz="14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fr-FR" sz="1400" dirty="0">
                <a:solidFill>
                  <a:srgbClr val="9C5D27"/>
                </a:solidFill>
                <a:latin typeface="Consolas" panose="020B0609020204030204" pitchFamily="49" charset="0"/>
              </a:rPr>
              <a:t>40</a:t>
            </a:r>
            <a:r>
              <a:rPr lang="fr-FR" sz="1400" dirty="0">
                <a:solidFill>
                  <a:srgbClr val="777777"/>
                </a:solidFill>
                <a:latin typeface="Consolas" panose="020B0609020204030204" pitchFamily="49" charset="0"/>
              </a:rPr>
              <a:t>),</a:t>
            </a:r>
            <a:endParaRPr lang="fr-FR" sz="14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4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fr-FR" sz="1400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fr-FR" sz="1400" dirty="0" err="1">
                <a:solidFill>
                  <a:srgbClr val="448C27"/>
                </a:solidFill>
                <a:latin typeface="Consolas" panose="020B0609020204030204" pitchFamily="49" charset="0"/>
              </a:rPr>
              <a:t>prenom</a:t>
            </a:r>
            <a:r>
              <a:rPr lang="fr-FR" sz="1400" dirty="0">
                <a:solidFill>
                  <a:srgbClr val="777777"/>
                </a:solidFill>
                <a:latin typeface="Consolas" panose="020B0609020204030204" pitchFamily="49" charset="0"/>
              </a:rPr>
              <a:t>'=&gt;</a:t>
            </a:r>
            <a:r>
              <a:rPr lang="fr-FR" sz="1400" b="1" dirty="0">
                <a:solidFill>
                  <a:srgbClr val="AA3731"/>
                </a:solidFill>
                <a:latin typeface="Consolas" panose="020B0609020204030204" pitchFamily="49" charset="0"/>
              </a:rPr>
              <a:t>fake</a:t>
            </a:r>
            <a:r>
              <a:rPr lang="fr-FR" sz="1400" dirty="0">
                <a:solidFill>
                  <a:srgbClr val="777777"/>
                </a:solidFill>
                <a:latin typeface="Consolas" panose="020B0609020204030204" pitchFamily="49" charset="0"/>
              </a:rPr>
              <a:t>()-&gt;</a:t>
            </a:r>
            <a:r>
              <a:rPr lang="fr-FR" sz="14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lastName</a:t>
            </a:r>
            <a:r>
              <a:rPr lang="fr-FR" sz="14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fr-FR" sz="1400" dirty="0">
                <a:solidFill>
                  <a:srgbClr val="9C5D27"/>
                </a:solidFill>
                <a:latin typeface="Consolas" panose="020B0609020204030204" pitchFamily="49" charset="0"/>
              </a:rPr>
              <a:t>40</a:t>
            </a:r>
            <a:r>
              <a:rPr lang="fr-FR" sz="1400" dirty="0">
                <a:solidFill>
                  <a:srgbClr val="777777"/>
                </a:solidFill>
                <a:latin typeface="Consolas" panose="020B0609020204030204" pitchFamily="49" charset="0"/>
              </a:rPr>
              <a:t>),</a:t>
            </a:r>
            <a:endParaRPr lang="fr-FR" sz="14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4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fr-FR" sz="1400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fr-FR" sz="1400" dirty="0" err="1">
                <a:solidFill>
                  <a:srgbClr val="448C27"/>
                </a:solidFill>
                <a:latin typeface="Consolas" panose="020B0609020204030204" pitchFamily="49" charset="0"/>
              </a:rPr>
              <a:t>age</a:t>
            </a:r>
            <a:r>
              <a:rPr lang="fr-FR" sz="1400" dirty="0">
                <a:solidFill>
                  <a:srgbClr val="777777"/>
                </a:solidFill>
                <a:latin typeface="Consolas" panose="020B0609020204030204" pitchFamily="49" charset="0"/>
              </a:rPr>
              <a:t>'=&gt;</a:t>
            </a:r>
            <a:r>
              <a:rPr lang="fr-FR" sz="1400" b="1" dirty="0">
                <a:solidFill>
                  <a:srgbClr val="AA3731"/>
                </a:solidFill>
                <a:latin typeface="Consolas" panose="020B0609020204030204" pitchFamily="49" charset="0"/>
              </a:rPr>
              <a:t>fake</a:t>
            </a:r>
            <a:r>
              <a:rPr lang="fr-FR" sz="1400" dirty="0">
                <a:solidFill>
                  <a:srgbClr val="777777"/>
                </a:solidFill>
                <a:latin typeface="Consolas" panose="020B0609020204030204" pitchFamily="49" charset="0"/>
              </a:rPr>
              <a:t>()-&gt;</a:t>
            </a:r>
            <a:r>
              <a:rPr lang="fr-FR" sz="14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numberBetween</a:t>
            </a:r>
            <a:r>
              <a:rPr lang="fr-FR" sz="1400" dirty="0">
                <a:solidFill>
                  <a:srgbClr val="777777"/>
                </a:solidFill>
                <a:latin typeface="Consolas" panose="020B0609020204030204" pitchFamily="49" charset="0"/>
              </a:rPr>
              <a:t>(</a:t>
            </a:r>
            <a:r>
              <a:rPr lang="fr-FR" sz="1400" dirty="0">
                <a:solidFill>
                  <a:srgbClr val="9C5D27"/>
                </a:solidFill>
                <a:latin typeface="Consolas" panose="020B0609020204030204" pitchFamily="49" charset="0"/>
              </a:rPr>
              <a:t>18</a:t>
            </a:r>
            <a:r>
              <a:rPr lang="fr-FR" sz="1400" dirty="0">
                <a:solidFill>
                  <a:srgbClr val="777777"/>
                </a:solidFill>
                <a:latin typeface="Consolas" panose="020B0609020204030204" pitchFamily="49" charset="0"/>
              </a:rPr>
              <a:t>,</a:t>
            </a:r>
            <a:r>
              <a:rPr lang="fr-FR" sz="1400" dirty="0">
                <a:solidFill>
                  <a:srgbClr val="9C5D27"/>
                </a:solidFill>
                <a:latin typeface="Consolas" panose="020B0609020204030204" pitchFamily="49" charset="0"/>
              </a:rPr>
              <a:t>30</a:t>
            </a:r>
            <a:r>
              <a:rPr lang="fr-FR" sz="1400" dirty="0">
                <a:solidFill>
                  <a:srgbClr val="777777"/>
                </a:solidFill>
                <a:latin typeface="Consolas" panose="020B0609020204030204" pitchFamily="49" charset="0"/>
              </a:rPr>
              <a:t>),</a:t>
            </a:r>
            <a:endParaRPr lang="fr-FR" sz="14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4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fr-FR" sz="1400" dirty="0">
                <a:solidFill>
                  <a:srgbClr val="777777"/>
                </a:solidFill>
                <a:latin typeface="Consolas" panose="020B0609020204030204" pitchFamily="49" charset="0"/>
              </a:rPr>
              <a:t>];</a:t>
            </a:r>
            <a:endParaRPr lang="fr-FR" sz="14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4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fr-FR" sz="1400" dirty="0">
                <a:solidFill>
                  <a:srgbClr val="777777"/>
                </a:solidFill>
                <a:latin typeface="Consolas" panose="020B0609020204030204" pitchFamily="49" charset="0"/>
              </a:rPr>
              <a:t>}</a:t>
            </a:r>
            <a:endParaRPr lang="fr-FR" sz="14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400" dirty="0">
                <a:solidFill>
                  <a:srgbClr val="777777"/>
                </a:solidFill>
                <a:latin typeface="Consolas" panose="020B0609020204030204" pitchFamily="49" charset="0"/>
              </a:rPr>
              <a:t>}</a:t>
            </a:r>
            <a:endParaRPr lang="fr-FR" sz="14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1E1F5186-2CF9-4893-A2D3-B8F8A59B3094}"/>
              </a:ext>
            </a:extLst>
          </p:cNvPr>
          <p:cNvSpPr/>
          <p:nvPr/>
        </p:nvSpPr>
        <p:spPr>
          <a:xfrm>
            <a:off x="748504" y="3176972"/>
            <a:ext cx="7738287" cy="396044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0070C0"/>
                </a:solidFill>
                <a:latin typeface="Source Code Pro"/>
              </a:rPr>
              <a:t>php artisan </a:t>
            </a:r>
            <a:r>
              <a:rPr lang="en-US" sz="1600" dirty="0" err="1">
                <a:solidFill>
                  <a:srgbClr val="0070C0"/>
                </a:solidFill>
                <a:latin typeface="Source Code Pro"/>
              </a:rPr>
              <a:t>make:factory</a:t>
            </a:r>
            <a:r>
              <a:rPr lang="en-US" sz="1600" dirty="0">
                <a:solidFill>
                  <a:srgbClr val="0070C0"/>
                </a:solidFill>
                <a:latin typeface="Source Code Pro"/>
              </a:rPr>
              <a:t> </a:t>
            </a:r>
            <a:r>
              <a:rPr lang="en-US" sz="1600" dirty="0" err="1">
                <a:solidFill>
                  <a:srgbClr val="00B050"/>
                </a:solidFill>
                <a:latin typeface="Source Code Pro"/>
              </a:rPr>
              <a:t>StagiaireFacory</a:t>
            </a:r>
            <a:endParaRPr lang="fr-FR" sz="1600" dirty="0">
              <a:solidFill>
                <a:srgbClr val="00B050"/>
              </a:solidFill>
              <a:latin typeface="Source Code Pro"/>
            </a:endParaRPr>
          </a:p>
        </p:txBody>
      </p:sp>
    </p:spTree>
    <p:extLst>
      <p:ext uri="{BB962C8B-B14F-4D97-AF65-F5344CB8AC3E}">
        <p14:creationId xmlns:p14="http://schemas.microsoft.com/office/powerpoint/2010/main" val="14008066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4B61B9B-A94A-41A0-B2B5-8EAB5968A763}"/>
              </a:ext>
            </a:extLst>
          </p:cNvPr>
          <p:cNvSpPr/>
          <p:nvPr/>
        </p:nvSpPr>
        <p:spPr>
          <a:xfrm>
            <a:off x="457200" y="332656"/>
            <a:ext cx="8229600" cy="126754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D6EDF2E-28D5-4E7E-9002-E0B03ABC4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0364"/>
            <a:ext cx="8229600" cy="1152128"/>
          </a:xfrm>
        </p:spPr>
        <p:txBody>
          <a:bodyPr>
            <a:normAutofit fontScale="90000"/>
          </a:bodyPr>
          <a:lstStyle/>
          <a:p>
            <a:br>
              <a:rPr lang="fr-FR" sz="27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sz="2700" b="1" dirty="0">
                <a:solidFill>
                  <a:srgbClr val="C00000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Développer en back-end</a:t>
            </a:r>
            <a:br>
              <a:rPr lang="fr-FR" sz="2700" b="1" dirty="0">
                <a:solidFill>
                  <a:schemeClr val="tx2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</a:br>
            <a:br>
              <a:rPr lang="fr-FR" dirty="0">
                <a:solidFill>
                  <a:srgbClr val="C00000"/>
                </a:solidFill>
              </a:rPr>
            </a:br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AA7025C-DB73-4FBD-AE8F-1E15F960E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547260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514350" indent="-514350">
              <a:buFont typeface="+mj-lt"/>
              <a:buAutoNum type="alphaUcPeriod" startAt="3"/>
            </a:pPr>
            <a:r>
              <a:rPr lang="fr-FR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Approfondir la programmation Laravel</a:t>
            </a:r>
            <a:endParaRPr lang="fr-FR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57250" lvl="1" indent="-457200">
              <a:buFont typeface="+mj-lt"/>
              <a:buAutoNum type="arabicPeriod" startAt="2"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Interagir avec la base de données</a:t>
            </a:r>
            <a:endParaRPr lang="fr-FR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1" indent="0" algn="ctr">
              <a:buNone/>
            </a:pPr>
            <a:r>
              <a:rPr lang="fr-FR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Seeders et Factories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Factories</a:t>
            </a:r>
          </a:p>
          <a:p>
            <a:pPr marL="400050" lvl="1" indent="0">
              <a:buNone/>
            </a:pPr>
            <a:r>
              <a:rPr lang="fr-FR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commande artisan pour remplir la base de donnée :</a:t>
            </a:r>
          </a:p>
          <a:p>
            <a:pPr marL="400050" lvl="1" indent="0">
              <a:buNone/>
            </a:pPr>
            <a:endParaRPr lang="fr-F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00050" lvl="1" indent="0">
              <a:buNone/>
            </a:pPr>
            <a:r>
              <a:rPr lang="fr-F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DatabaseSeeder</a:t>
            </a:r>
            <a:r>
              <a:rPr lang="fr-F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00050" lvl="1" indent="0">
              <a:buNone/>
            </a:pPr>
            <a:r>
              <a:rPr 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peu aussi ajouter des données directement dans la méthode </a:t>
            </a:r>
            <a:r>
              <a:rPr lang="fr-FR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run()</a:t>
            </a:r>
          </a:p>
          <a:p>
            <a:pPr marL="400050" lvl="1" indent="0">
              <a:buNone/>
            </a:pPr>
            <a:endParaRPr lang="fr-F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1E1F5186-2CF9-4893-A2D3-B8F8A59B3094}"/>
              </a:ext>
            </a:extLst>
          </p:cNvPr>
          <p:cNvSpPr/>
          <p:nvPr/>
        </p:nvSpPr>
        <p:spPr>
          <a:xfrm>
            <a:off x="760711" y="3148209"/>
            <a:ext cx="7738287" cy="35279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070C0"/>
                </a:solidFill>
                <a:latin typeface="Source Code Pro"/>
              </a:rPr>
              <a:t>php artisan </a:t>
            </a:r>
            <a:r>
              <a:rPr lang="en-US" dirty="0" err="1">
                <a:solidFill>
                  <a:srgbClr val="0070C0"/>
                </a:solidFill>
                <a:latin typeface="Source Code Pro"/>
              </a:rPr>
              <a:t>db:seed</a:t>
            </a:r>
            <a:endParaRPr lang="fr-FR" dirty="0">
              <a:solidFill>
                <a:srgbClr val="00B050"/>
              </a:solidFill>
              <a:latin typeface="Source Code Pro"/>
            </a:endParaRP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33E92325-DEB3-49CF-83B3-6BE59792B1B7}"/>
              </a:ext>
            </a:extLst>
          </p:cNvPr>
          <p:cNvSpPr/>
          <p:nvPr/>
        </p:nvSpPr>
        <p:spPr>
          <a:xfrm>
            <a:off x="680033" y="4221088"/>
            <a:ext cx="7783934" cy="2376265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1600" dirty="0">
                <a:solidFill>
                  <a:srgbClr val="4B69C6"/>
                </a:solidFill>
                <a:latin typeface="Consolas" panose="020B0609020204030204" pitchFamily="49" charset="0"/>
              </a:rPr>
              <a:t>public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 err="1">
                <a:solidFill>
                  <a:srgbClr val="7A3E9D"/>
                </a:solidFill>
                <a:latin typeface="Consolas" panose="020B0609020204030204" pitchFamily="49" charset="0"/>
              </a:rPr>
              <a:t>function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600" b="1" dirty="0">
                <a:solidFill>
                  <a:srgbClr val="AA3731"/>
                </a:solidFill>
                <a:latin typeface="Consolas" panose="020B0609020204030204" pitchFamily="49" charset="0"/>
              </a:rPr>
              <a:t>run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()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{</a:t>
            </a:r>
            <a:b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</a:b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\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App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\</a:t>
            </a:r>
            <a:r>
              <a:rPr lang="fr-FR" sz="1600" dirty="0" err="1">
                <a:solidFill>
                  <a:srgbClr val="333333"/>
                </a:solidFill>
                <a:latin typeface="Consolas" panose="020B0609020204030204" pitchFamily="49" charset="0"/>
              </a:rPr>
              <a:t>Models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\</a:t>
            </a:r>
            <a:r>
              <a:rPr lang="fr-FR" sz="1600" b="1" dirty="0">
                <a:solidFill>
                  <a:srgbClr val="7A3E9D"/>
                </a:solidFill>
                <a:latin typeface="Consolas" panose="020B0609020204030204" pitchFamily="49" charset="0"/>
              </a:rPr>
              <a:t>Stagiaire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::</a:t>
            </a:r>
            <a:r>
              <a:rPr lang="fr-FR" sz="16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factory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()-&gt;</a:t>
            </a:r>
            <a:r>
              <a:rPr lang="fr-FR" sz="1600" b="1" dirty="0" err="1">
                <a:solidFill>
                  <a:srgbClr val="AA3731"/>
                </a:solidFill>
                <a:latin typeface="Consolas" panose="020B0609020204030204" pitchFamily="49" charset="0"/>
              </a:rPr>
              <a:t>create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([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fr-FR" sz="1600" dirty="0">
                <a:solidFill>
                  <a:srgbClr val="448C27"/>
                </a:solidFill>
                <a:latin typeface="Consolas" panose="020B0609020204030204" pitchFamily="49" charset="0"/>
              </a:rPr>
              <a:t>nom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=&gt;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fr-FR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Tahiri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',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fr-FR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prenom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=&gt;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fr-FR" sz="1600" dirty="0">
                <a:solidFill>
                  <a:srgbClr val="448C27"/>
                </a:solidFill>
                <a:latin typeface="Consolas" panose="020B0609020204030204" pitchFamily="49" charset="0"/>
              </a:rPr>
              <a:t>Hassan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',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   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fr-FR" sz="1600" dirty="0" err="1">
                <a:solidFill>
                  <a:srgbClr val="448C27"/>
                </a:solidFill>
                <a:latin typeface="Consolas" panose="020B0609020204030204" pitchFamily="49" charset="0"/>
              </a:rPr>
              <a:t>age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'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=&gt;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9C5D27"/>
                </a:solidFill>
                <a:latin typeface="Consolas" panose="020B0609020204030204" pitchFamily="49" charset="0"/>
              </a:rPr>
              <a:t>24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   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]);</a:t>
            </a:r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fr-FR" sz="1600" dirty="0">
                <a:solidFill>
                  <a:srgbClr val="333333"/>
                </a:solidFill>
                <a:latin typeface="Consolas" panose="020B0609020204030204" pitchFamily="49" charset="0"/>
              </a:rPr>
              <a:t>    </a:t>
            </a:r>
            <a:r>
              <a:rPr lang="fr-FR" sz="1600" dirty="0">
                <a:solidFill>
                  <a:srgbClr val="777777"/>
                </a:solidFill>
                <a:latin typeface="Consolas" panose="020B0609020204030204" pitchFamily="49" charset="0"/>
              </a:rPr>
              <a:t>}</a:t>
            </a:r>
            <a:endParaRPr lang="fr-FR" sz="1600" dirty="0">
              <a:solidFill>
                <a:srgbClr val="333333"/>
              </a:solidFill>
              <a:latin typeface="Consolas" panose="020B0609020204030204" pitchFamily="49" charset="0"/>
            </a:endParaRPr>
          </a:p>
          <a:p>
            <a:endParaRPr lang="en-US" sz="1400" dirty="0">
              <a:solidFill>
                <a:srgbClr val="33333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98027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1996</TotalTime>
  <Words>1398</Words>
  <Application>Microsoft Office PowerPoint</Application>
  <PresentationFormat>Affichage à l'écran (4:3)</PresentationFormat>
  <Paragraphs>229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4" baseType="lpstr">
      <vt:lpstr>Angsana New</vt:lpstr>
      <vt:lpstr>Arial</vt:lpstr>
      <vt:lpstr>Calibri</vt:lpstr>
      <vt:lpstr>Consolas</vt:lpstr>
      <vt:lpstr>Source Code Pro</vt:lpstr>
      <vt:lpstr>Times New Roman</vt:lpstr>
      <vt:lpstr>Wingdings</vt:lpstr>
      <vt:lpstr>Thème Office</vt:lpstr>
      <vt:lpstr>Présentation PowerPoint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  <vt:lpstr>  Développer en back-end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ADO DOT NET Langage VB.NET Réalisé par M. Hamid Belyazidi Année Scolaire 2011/2012 </dc:title>
  <dc:creator>Belyazidi</dc:creator>
  <cp:lastModifiedBy>HAMID BELYAZIDI</cp:lastModifiedBy>
  <cp:revision>281</cp:revision>
  <dcterms:created xsi:type="dcterms:W3CDTF">2011-10-01T12:57:10Z</dcterms:created>
  <dcterms:modified xsi:type="dcterms:W3CDTF">2026-01-09T08:14:59Z</dcterms:modified>
</cp:coreProperties>
</file>