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82" r:id="rId4"/>
    <p:sldId id="323" r:id="rId5"/>
    <p:sldId id="336" r:id="rId6"/>
    <p:sldId id="335" r:id="rId7"/>
    <p:sldId id="337" r:id="rId8"/>
    <p:sldId id="341" r:id="rId9"/>
    <p:sldId id="339" r:id="rId10"/>
    <p:sldId id="340" r:id="rId11"/>
    <p:sldId id="324" r:id="rId12"/>
    <p:sldId id="334" r:id="rId13"/>
    <p:sldId id="326" r:id="rId14"/>
    <p:sldId id="342" r:id="rId15"/>
    <p:sldId id="327" r:id="rId16"/>
    <p:sldId id="343" r:id="rId17"/>
    <p:sldId id="328" r:id="rId18"/>
    <p:sldId id="344" r:id="rId19"/>
    <p:sldId id="329" r:id="rId20"/>
    <p:sldId id="345" r:id="rId21"/>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22/09/2025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D4C85-A4FC-445A-8CEF-D1C520D6A608}" type="datetimeFigureOut">
              <a:rPr lang="fr-FR" smtClean="0"/>
              <a:pPr/>
              <a:t>22/09/2025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027249-2045-409D-A865-90E3C3AB835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2DB1E482-C392-752D-72F0-5C9D613357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12" name="Rectangle : coins arrondis 11">
            <a:extLst>
              <a:ext uri="{FF2B5EF4-FFF2-40B4-BE49-F238E27FC236}">
                <a16:creationId xmlns:a16="http://schemas.microsoft.com/office/drawing/2014/main" id="{83837E31-76B9-4358-BD34-E36AC93E87F7}"/>
              </a:ext>
            </a:extLst>
          </p:cNvPr>
          <p:cNvSpPr/>
          <p:nvPr/>
        </p:nvSpPr>
        <p:spPr>
          <a:xfrm>
            <a:off x="1941235" y="881089"/>
            <a:ext cx="5472608" cy="445532"/>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428596" y="1500174"/>
            <a:ext cx="8229600" cy="4525963"/>
          </a:xfrm>
        </p:spPr>
        <p:txBody>
          <a:bodyPr/>
          <a:lstStyle/>
          <a:p>
            <a:pPr marL="514350" indent="-514350">
              <a:buNone/>
            </a:pPr>
            <a:endParaRPr lang="fr-FR" u="sng" dirty="0">
              <a:solidFill>
                <a:schemeClr val="tx1">
                  <a:lumMod val="95000"/>
                  <a:lumOff val="5000"/>
                </a:schemeClr>
              </a:solidFill>
            </a:endParaRPr>
          </a:p>
          <a:p>
            <a:pPr>
              <a:buNone/>
            </a:pPr>
            <a:endParaRPr lang="fr-FR" dirty="0"/>
          </a:p>
        </p:txBody>
      </p:sp>
      <p:pic>
        <p:nvPicPr>
          <p:cNvPr id="9" name="Image 8">
            <a:extLst>
              <a:ext uri="{FF2B5EF4-FFF2-40B4-BE49-F238E27FC236}">
                <a16:creationId xmlns:a16="http://schemas.microsoft.com/office/drawing/2014/main" id="{27108DB9-4B51-4327-BAA9-34CE9E2C27A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165113"/>
            <a:ext cx="864096" cy="704850"/>
          </a:xfrm>
          <a:prstGeom prst="rect">
            <a:avLst/>
          </a:prstGeom>
          <a:noFill/>
          <a:ln>
            <a:noFill/>
          </a:ln>
        </p:spPr>
      </p:pic>
      <p:graphicFrame>
        <p:nvGraphicFramePr>
          <p:cNvPr id="7" name="Tableau 6">
            <a:extLst>
              <a:ext uri="{FF2B5EF4-FFF2-40B4-BE49-F238E27FC236}">
                <a16:creationId xmlns:a16="http://schemas.microsoft.com/office/drawing/2014/main" id="{670F5631-B51C-4E5A-A708-40AE055435D7}"/>
              </a:ext>
            </a:extLst>
          </p:cNvPr>
          <p:cNvGraphicFramePr>
            <a:graphicFrameLocks noGrp="1"/>
          </p:cNvGraphicFramePr>
          <p:nvPr>
            <p:extLst>
              <p:ext uri="{D42A27DB-BD31-4B8C-83A1-F6EECF244321}">
                <p14:modId xmlns:p14="http://schemas.microsoft.com/office/powerpoint/2010/main" val="3075449119"/>
              </p:ext>
            </p:extLst>
          </p:nvPr>
        </p:nvGraphicFramePr>
        <p:xfrm>
          <a:off x="1259632" y="479438"/>
          <a:ext cx="6124575" cy="314325"/>
        </p:xfrm>
        <a:graphic>
          <a:graphicData uri="http://schemas.openxmlformats.org/drawingml/2006/table">
            <a:tbl>
              <a:tblPr/>
              <a:tblGrid>
                <a:gridCol w="6124575">
                  <a:extLst>
                    <a:ext uri="{9D8B030D-6E8A-4147-A177-3AD203B41FA5}">
                      <a16:colId xmlns:a16="http://schemas.microsoft.com/office/drawing/2014/main" val="399840801"/>
                    </a:ext>
                  </a:extLst>
                </a:gridCol>
              </a:tblGrid>
              <a:tr h="314325">
                <a:tc>
                  <a:txBody>
                    <a:bodyPr/>
                    <a:lstStyle/>
                    <a:p>
                      <a:pPr algn="ctr">
                        <a:lnSpc>
                          <a:spcPct val="115000"/>
                        </a:lnSpc>
                        <a:spcBef>
                          <a:spcPts val="1200"/>
                        </a:spcBef>
                        <a:spcAft>
                          <a:spcPts val="1200"/>
                        </a:spcAft>
                      </a:pPr>
                      <a:r>
                        <a:rPr lang="fr-FR" sz="1400" b="1" i="1" dirty="0">
                          <a:effectLst/>
                          <a:latin typeface="Calibri" panose="020F0502020204030204" pitchFamily="34" charset="0"/>
                          <a:ea typeface="Times New Roman" panose="02020603050405020304" pitchFamily="18" charset="0"/>
                          <a:cs typeface="Arial" panose="020B0604020202020204" pitchFamily="34" charset="0"/>
                        </a:rPr>
                        <a:t>Direction Régionale Rabat – Salé - Kénitra</a:t>
                      </a:r>
                      <a:endParaRPr lang="fr-FR" sz="1000" dirty="0">
                        <a:effectLst/>
                        <a:latin typeface="Times New Roman" panose="02020603050405020304" pitchFamily="18" charset="0"/>
                        <a:ea typeface="Times New Roman" panose="02020603050405020304" pitchFamily="18" charset="0"/>
                      </a:endParaRPr>
                    </a:p>
                  </a:txBody>
                  <a:tcPr marL="44450" marR="4445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340731"/>
                  </a:ext>
                </a:extLst>
              </a:tr>
            </a:tbl>
          </a:graphicData>
        </a:graphic>
      </p:graphicFrame>
      <p:sp>
        <p:nvSpPr>
          <p:cNvPr id="8" name="Rectangle 7">
            <a:extLst>
              <a:ext uri="{FF2B5EF4-FFF2-40B4-BE49-F238E27FC236}">
                <a16:creationId xmlns:a16="http://schemas.microsoft.com/office/drawing/2014/main" id="{389DDFF2-F8CB-41BE-B914-4AF57B786865}"/>
              </a:ext>
            </a:extLst>
          </p:cNvPr>
          <p:cNvSpPr/>
          <p:nvPr/>
        </p:nvSpPr>
        <p:spPr>
          <a:xfrm>
            <a:off x="6700053" y="6287016"/>
            <a:ext cx="2355132" cy="400110"/>
          </a:xfrm>
          <a:prstGeom prst="rect">
            <a:avLst/>
          </a:prstGeom>
        </p:spPr>
        <p:txBody>
          <a:bodyPr wrap="none">
            <a:spAutoFit/>
          </a:bodyPr>
          <a:lstStyle/>
          <a:p>
            <a:pPr algn="ctr"/>
            <a:r>
              <a:rPr lang="fr-FR" sz="2000" i="1" dirty="0">
                <a:solidFill>
                  <a:srgbClr val="0070C0"/>
                </a:solidFill>
                <a:latin typeface="Angsana New" pitchFamily="18" charset="-34"/>
                <a:cs typeface="Angsana New" pitchFamily="18" charset="-34"/>
              </a:rPr>
              <a:t>Réalisé par M. Hamid </a:t>
            </a:r>
            <a:r>
              <a:rPr lang="fr-FR" sz="2000" i="1" dirty="0" err="1">
                <a:solidFill>
                  <a:srgbClr val="0070C0"/>
                </a:solidFill>
                <a:latin typeface="Angsana New" pitchFamily="18" charset="-34"/>
                <a:cs typeface="Angsana New" pitchFamily="18" charset="-34"/>
              </a:rPr>
              <a:t>Belyazidi</a:t>
            </a:r>
            <a:endParaRPr lang="fr-FR" sz="2000" i="1" dirty="0">
              <a:solidFill>
                <a:srgbClr val="0070C0"/>
              </a:solidFill>
              <a:latin typeface="Angsana New" pitchFamily="18" charset="-34"/>
              <a:cs typeface="Angsana New" pitchFamily="18" charset="-34"/>
            </a:endParaRPr>
          </a:p>
        </p:txBody>
      </p:sp>
      <p:sp>
        <p:nvSpPr>
          <p:cNvPr id="10" name="Rectangle 9">
            <a:extLst>
              <a:ext uri="{FF2B5EF4-FFF2-40B4-BE49-F238E27FC236}">
                <a16:creationId xmlns:a16="http://schemas.microsoft.com/office/drawing/2014/main" id="{43E213D3-8E98-4129-BEC2-FBE648C34139}"/>
              </a:ext>
            </a:extLst>
          </p:cNvPr>
          <p:cNvSpPr/>
          <p:nvPr/>
        </p:nvSpPr>
        <p:spPr>
          <a:xfrm>
            <a:off x="6784214" y="148206"/>
            <a:ext cx="2186817" cy="369332"/>
          </a:xfrm>
          <a:prstGeom prst="rect">
            <a:avLst/>
          </a:prstGeom>
        </p:spPr>
        <p:txBody>
          <a:bodyPr wrap="none">
            <a:spAutoFit/>
          </a:bodyPr>
          <a:lstStyle/>
          <a:p>
            <a:pPr algn="ctr"/>
            <a:r>
              <a:rPr lang="fr-FR" b="1" i="1" dirty="0">
                <a:latin typeface="Angsana New" pitchFamily="18" charset="-34"/>
                <a:cs typeface="Angsana New" pitchFamily="18" charset="-34"/>
              </a:rPr>
              <a:t>Année de formation :2025/2026</a:t>
            </a:r>
          </a:p>
        </p:txBody>
      </p:sp>
      <p:sp>
        <p:nvSpPr>
          <p:cNvPr id="11" name="Rectangle 10">
            <a:extLst>
              <a:ext uri="{FF2B5EF4-FFF2-40B4-BE49-F238E27FC236}">
                <a16:creationId xmlns:a16="http://schemas.microsoft.com/office/drawing/2014/main" id="{B7A9E4E8-707B-4C64-92ED-A5F3701B082E}"/>
              </a:ext>
            </a:extLst>
          </p:cNvPr>
          <p:cNvSpPr/>
          <p:nvPr/>
        </p:nvSpPr>
        <p:spPr>
          <a:xfrm>
            <a:off x="1975551" y="862241"/>
            <a:ext cx="5328592" cy="468077"/>
          </a:xfrm>
          <a:prstGeom prst="rect">
            <a:avLst/>
          </a:prstGeom>
        </p:spPr>
        <p:txBody>
          <a:bodyPr wrap="square">
            <a:spAutoFit/>
          </a:bodyPr>
          <a:lstStyle/>
          <a:p>
            <a:pPr algn="ctr">
              <a:lnSpc>
                <a:spcPct val="107000"/>
              </a:lnSpc>
              <a:spcAft>
                <a:spcPts val="800"/>
              </a:spcAft>
            </a:pPr>
            <a:r>
              <a:rPr lang="fr-FR" sz="2400" b="1" dirty="0">
                <a:solidFill>
                  <a:schemeClr val="accent1">
                    <a:lumMod val="75000"/>
                  </a:schemeClr>
                </a:solidFill>
                <a:latin typeface="Times New Roman" panose="02020603050405020304" pitchFamily="18" charset="0"/>
                <a:ea typeface="Calibri" panose="020F0502020204030204" pitchFamily="34" charset="0"/>
                <a:cs typeface="Arial" panose="020B0604020202020204" pitchFamily="34" charset="0"/>
              </a:rPr>
              <a:t>Développer en back-end</a:t>
            </a:r>
            <a:endParaRPr lang="fr-FR" sz="2400" dirty="0">
              <a:solidFill>
                <a:schemeClr val="accent1">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B46F5AEB-5EF8-495E-97C3-D51D6A6A9F31}"/>
              </a:ext>
            </a:extLst>
          </p:cNvPr>
          <p:cNvSpPr/>
          <p:nvPr/>
        </p:nvSpPr>
        <p:spPr>
          <a:xfrm>
            <a:off x="251520" y="5934383"/>
            <a:ext cx="2850852" cy="52322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2800" dirty="0"/>
              <a:t>Middlewares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fr-FR" sz="2400" b="1" dirty="0">
                <a:solidFill>
                  <a:srgbClr val="002060"/>
                </a:solidFill>
                <a:latin typeface="Times New Roman" panose="02020603050405020304" pitchFamily="18" charset="0"/>
                <a:cs typeface="Times New Roman" panose="02020603050405020304" pitchFamily="18" charset="0"/>
              </a:rPr>
              <a:t>Introduction</a:t>
            </a: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Découvrir les notions fondamentales des </a:t>
            </a:r>
            <a:r>
              <a:rPr lang="fr-FR" sz="1600" dirty="0" err="1">
                <a:solidFill>
                  <a:schemeClr val="tx1"/>
                </a:solidFill>
                <a:latin typeface="Times New Roman" panose="02020603050405020304" pitchFamily="18" charset="0"/>
                <a:cs typeface="Times New Roman" panose="02020603050405020304" pitchFamily="18" charset="0"/>
              </a:rPr>
              <a:t>Frameworks</a:t>
            </a:r>
            <a:r>
              <a:rPr lang="fr-FR" sz="1600" dirty="0">
                <a:solidFill>
                  <a:schemeClr val="tx1"/>
                </a:solidFill>
                <a:latin typeface="Times New Roman" panose="02020603050405020304" pitchFamily="18" charset="0"/>
                <a:cs typeface="Times New Roman" panose="02020603050405020304" pitchFamily="18" charset="0"/>
              </a:rPr>
              <a:t> PHP</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Préparer l’environnement de Laravel</a:t>
            </a:r>
            <a:endParaRPr lang="fr-FR" sz="2400" dirty="0">
              <a:solidFill>
                <a:schemeClr val="tx1"/>
              </a:solidFill>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Programmer avec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Connaître les fondements du modèle MVC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Maîtriser le Framework Laravel</a:t>
            </a:r>
            <a:endParaRPr lang="fr-FR" sz="2400" dirty="0">
              <a:latin typeface="Times New Roman" panose="02020603050405020304" pitchFamily="18" charset="0"/>
              <a:cs typeface="Times New Roman" panose="02020603050405020304" pitchFamily="18" charset="0"/>
            </a:endParaRP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Gérer la sécurité</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Interagir avec la base de données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l’ORM Eloquent</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Prendre en charge les tests</a:t>
            </a:r>
            <a:endParaRPr lang="fr-FR" sz="2400" dirty="0">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Administrer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éléments essentiels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Personnaliser graphiquement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outils avancés d’un CMS</a:t>
            </a:r>
          </a:p>
          <a:p>
            <a:pPr marL="0" lvl="1" indent="0">
              <a:buNone/>
            </a:pPr>
            <a:r>
              <a:rPr lang="fr-FR" sz="2400" b="1" dirty="0">
                <a:solidFill>
                  <a:srgbClr val="002060"/>
                </a:solidFill>
                <a:latin typeface="Times New Roman" panose="02020603050405020304" pitchFamily="18" charset="0"/>
                <a:cs typeface="Times New Roman" panose="02020603050405020304" pitchFamily="18" charset="0"/>
              </a:rPr>
              <a:t>Conclusion</a:t>
            </a:r>
          </a:p>
          <a:p>
            <a:pPr marL="457200" lvl="0" indent="-457200">
              <a:buFont typeface="+mj-lt"/>
              <a:buAutoNum type="alphaUcPeriod"/>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4874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Gestion du routage</a:t>
            </a:r>
          </a:p>
          <a:p>
            <a:pPr lvl="2">
              <a:buFont typeface="Wingdings" panose="05000000000000000000" pitchFamily="2" charset="2"/>
              <a:buChar char="ü"/>
            </a:pPr>
            <a:r>
              <a:rPr lang="fr-FR" sz="2200" b="1" dirty="0">
                <a:solidFill>
                  <a:srgbClr val="00B050"/>
                </a:solidFill>
                <a:latin typeface="Times New Roman" panose="02020603050405020304" pitchFamily="18" charset="0"/>
                <a:cs typeface="Times New Roman" panose="02020603050405020304" pitchFamily="18" charset="0"/>
              </a:rPr>
              <a:t>Utilisation des Middleware (définition, enregistrement, paramétrage, terminate)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Protection CSRF</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contrôleurs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requêtes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réponses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vues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Création des </a:t>
            </a:r>
            <a:r>
              <a:rPr lang="fr-FR" sz="2200" dirty="0" err="1">
                <a:latin typeface="Times New Roman" panose="02020603050405020304" pitchFamily="18" charset="0"/>
                <a:cs typeface="Times New Roman" panose="02020603050405020304" pitchFamily="18" charset="0"/>
              </a:rPr>
              <a:t>template</a:t>
            </a:r>
            <a:r>
              <a:rPr lang="fr-FR" sz="2200" dirty="0">
                <a:latin typeface="Times New Roman" panose="02020603050405020304" pitchFamily="18" charset="0"/>
                <a:cs typeface="Times New Roman" panose="02020603050405020304" pitchFamily="18" charset="0"/>
              </a:rPr>
              <a:t> Blade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Génération d’URL</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sessions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Validation des données d’entrée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Gestion des erreurs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Journalisation (</a:t>
            </a:r>
            <a:r>
              <a:rPr lang="fr-FR" sz="2200" dirty="0" err="1">
                <a:latin typeface="Times New Roman" panose="02020603050405020304" pitchFamily="18" charset="0"/>
                <a:cs typeface="Times New Roman" panose="02020603050405020304" pitchFamily="18" charset="0"/>
              </a:rPr>
              <a:t>logging</a:t>
            </a:r>
            <a:r>
              <a:rPr lang="fr-FR" sz="2200"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ü"/>
            </a:pPr>
            <a:endParaRPr lang="fr-FR" sz="2000" dirty="0">
              <a:latin typeface="Times New Roman" panose="02020603050405020304" pitchFamily="18" charset="0"/>
              <a:cs typeface="Times New Roman" panose="02020603050405020304" pitchFamily="18" charset="0"/>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7485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Utilisation des Middleware </a:t>
            </a:r>
          </a:p>
          <a:p>
            <a:pPr lvl="2">
              <a:buFont typeface="Wingdings" panose="05000000000000000000" pitchFamily="2" charset="2"/>
              <a:buChar char="ü"/>
            </a:pPr>
            <a:r>
              <a:rPr lang="fr-FR" sz="1900" dirty="0">
                <a:solidFill>
                  <a:srgbClr val="00B0F0"/>
                </a:solidFill>
              </a:rPr>
              <a:t>Définition</a:t>
            </a:r>
          </a:p>
          <a:p>
            <a:pPr marL="400050" lvl="1" indent="0">
              <a:buNone/>
            </a:pPr>
            <a:r>
              <a:rPr lang="fr-FR" sz="2000" dirty="0">
                <a:latin typeface="Times New Roman" panose="02020603050405020304" pitchFamily="18" charset="0"/>
                <a:cs typeface="Times New Roman" panose="02020603050405020304" pitchFamily="18" charset="0"/>
              </a:rPr>
              <a:t>Le middleware fournit un mécanisme pratique pour inspecter et filtrer les requêtes HTTP entrant dans votre application. En tant qu'intermédiaires entre les requêtes HTTP et l'application, les middlewares peuvent intercepter et manipuler ces requêtes avant qu'elles n'atteignent leur destination. Ils peuvent également modifier les réponses avant qu'elles ne soient renvoyées au client. Cette flexibilité leur permet de s'adapter à un large éventail de fonctionnalités, telles que la gestion des erreurs, le routage, le </a:t>
            </a:r>
            <a:r>
              <a:rPr lang="fr-FR" sz="2000" dirty="0" err="1">
                <a:latin typeface="Times New Roman" panose="02020603050405020304" pitchFamily="18" charset="0"/>
                <a:cs typeface="Times New Roman" panose="02020603050405020304" pitchFamily="18" charset="0"/>
              </a:rPr>
              <a:t>logging</a:t>
            </a:r>
            <a:r>
              <a:rPr lang="fr-FR" sz="2000" dirty="0">
                <a:latin typeface="Times New Roman" panose="02020603050405020304" pitchFamily="18" charset="0"/>
                <a:cs typeface="Times New Roman" panose="02020603050405020304" pitchFamily="18" charset="0"/>
              </a:rPr>
              <a:t>, ou encore la compression de données.</a:t>
            </a: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12648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Utilisation des Middleware </a:t>
            </a:r>
          </a:p>
          <a:p>
            <a:pPr lvl="2">
              <a:buFont typeface="Wingdings" panose="05000000000000000000" pitchFamily="2" charset="2"/>
              <a:buChar char="ü"/>
            </a:pPr>
            <a:r>
              <a:rPr lang="fr-FR" sz="1900" dirty="0">
                <a:solidFill>
                  <a:srgbClr val="00B0F0"/>
                </a:solidFill>
              </a:rPr>
              <a:t>Définition (suite)</a:t>
            </a:r>
          </a:p>
          <a:p>
            <a:pPr marL="400050" lvl="1" indent="0">
              <a:buNone/>
            </a:pPr>
            <a:r>
              <a:rPr lang="fr-FR" sz="2000" dirty="0">
                <a:latin typeface="Times New Roman" panose="02020603050405020304" pitchFamily="18" charset="0"/>
                <a:cs typeface="Times New Roman" panose="02020603050405020304" pitchFamily="18" charset="0"/>
              </a:rPr>
              <a:t>Les middlewares sont très utilisés et constituent un élément clé de l'architecture de ce </a:t>
            </a:r>
            <a:r>
              <a:rPr lang="fr-FR" sz="2000" dirty="0" err="1">
                <a:latin typeface="Times New Roman" panose="02020603050405020304" pitchFamily="18" charset="0"/>
                <a:cs typeface="Times New Roman" panose="02020603050405020304" pitchFamily="18" charset="0"/>
              </a:rPr>
              <a:t>framework</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Laravel</a:t>
            </a:r>
            <a:r>
              <a:rPr lang="fr-FR" sz="2000" dirty="0">
                <a:latin typeface="Times New Roman" panose="02020603050405020304" pitchFamily="18" charset="0"/>
                <a:cs typeface="Times New Roman" panose="02020603050405020304" pitchFamily="18" charset="0"/>
              </a:rPr>
              <a:t> propose une variété de middlewares prédéfinis, tels que ceux pour la gestion des sessions, la protection CSRF, ou la vérification des jetons de sécurité. De plus, </a:t>
            </a:r>
            <a:r>
              <a:rPr lang="fr-FR" sz="2000" dirty="0" err="1">
                <a:latin typeface="Times New Roman" panose="02020603050405020304" pitchFamily="18" charset="0"/>
                <a:cs typeface="Times New Roman" panose="02020603050405020304" pitchFamily="18" charset="0"/>
              </a:rPr>
              <a:t>Laravel</a:t>
            </a:r>
            <a:r>
              <a:rPr lang="fr-FR" sz="2000" dirty="0">
                <a:latin typeface="Times New Roman" panose="02020603050405020304" pitchFamily="18" charset="0"/>
                <a:cs typeface="Times New Roman" panose="02020603050405020304" pitchFamily="18" charset="0"/>
              </a:rPr>
              <a:t> rend facile la création de middlewares personnalisés en fournissant des classes de base et des interfaces bien définies, ce qui permet aux développeurs d'étendre les fonctionnalités de leurs applications de manière élégante et structurée.</a:t>
            </a: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3355501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Utilisation des Middleware </a:t>
            </a:r>
          </a:p>
          <a:p>
            <a:pPr lvl="2">
              <a:buFont typeface="Wingdings" panose="05000000000000000000" pitchFamily="2" charset="2"/>
              <a:buChar char="ü"/>
            </a:pPr>
            <a:r>
              <a:rPr lang="fr-FR" sz="1900" dirty="0">
                <a:solidFill>
                  <a:srgbClr val="00B0F0"/>
                </a:solidFill>
              </a:rPr>
              <a:t>Schéma</a:t>
            </a:r>
          </a:p>
          <a:p>
            <a:pPr marL="400050" lvl="1" indent="0">
              <a:buNone/>
            </a:pPr>
            <a:endParaRPr lang="fr-FR" sz="2000" dirty="0">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pic>
        <p:nvPicPr>
          <p:cNvPr id="6" name="Picture 5">
            <a:extLst>
              <a:ext uri="{FF2B5EF4-FFF2-40B4-BE49-F238E27FC236}">
                <a16:creationId xmlns:a16="http://schemas.microsoft.com/office/drawing/2014/main" id="{D75926DD-E0A9-4D84-90EE-D0DD53829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3441773"/>
            <a:ext cx="5677692" cy="2734057"/>
          </a:xfrm>
          <a:prstGeom prst="rect">
            <a:avLst/>
          </a:prstGeom>
        </p:spPr>
      </p:pic>
    </p:spTree>
    <p:extLst>
      <p:ext uri="{BB962C8B-B14F-4D97-AF65-F5344CB8AC3E}">
        <p14:creationId xmlns:p14="http://schemas.microsoft.com/office/powerpoint/2010/main" val="3295483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Utilisation des Middleware </a:t>
            </a:r>
            <a:endParaRPr lang="fr-FR" sz="1900" dirty="0">
              <a:solidFill>
                <a:srgbClr val="00B0F0"/>
              </a:solidFill>
            </a:endParaRPr>
          </a:p>
          <a:p>
            <a:pPr marL="400050" lvl="1" indent="0">
              <a:buNone/>
            </a:pPr>
            <a:r>
              <a:rPr lang="fr-FR" sz="2200" dirty="0" err="1">
                <a:latin typeface="Times New Roman" panose="02020603050405020304" pitchFamily="18" charset="0"/>
                <a:cs typeface="Times New Roman" panose="02020603050405020304" pitchFamily="18" charset="0"/>
              </a:rPr>
              <a:t>Laravel</a:t>
            </a:r>
            <a:r>
              <a:rPr lang="fr-FR" sz="2200" dirty="0">
                <a:latin typeface="Times New Roman" panose="02020603050405020304" pitchFamily="18" charset="0"/>
                <a:cs typeface="Times New Roman" panose="02020603050405020304" pitchFamily="18" charset="0"/>
              </a:rPr>
              <a:t> peut servir comme application « </a:t>
            </a:r>
            <a:r>
              <a:rPr lang="fr-FR" sz="2200" b="1" dirty="0">
                <a:latin typeface="Times New Roman" panose="02020603050405020304" pitchFamily="18" charset="0"/>
                <a:cs typeface="Times New Roman" panose="02020603050405020304" pitchFamily="18" charset="0"/>
              </a:rPr>
              <a:t>web</a:t>
            </a:r>
            <a:r>
              <a:rPr lang="fr-FR" sz="2200" dirty="0">
                <a:latin typeface="Times New Roman" panose="02020603050405020304" pitchFamily="18" charset="0"/>
                <a:cs typeface="Times New Roman" panose="02020603050405020304" pitchFamily="18" charset="0"/>
              </a:rPr>
              <a:t> » ou comme « </a:t>
            </a:r>
            <a:r>
              <a:rPr lang="fr-FR" sz="2200" b="1" dirty="0">
                <a:latin typeface="Times New Roman" panose="02020603050405020304" pitchFamily="18" charset="0"/>
                <a:cs typeface="Times New Roman" panose="02020603050405020304" pitchFamily="18" charset="0"/>
              </a:rPr>
              <a:t>api</a:t>
            </a:r>
            <a:r>
              <a:rPr lang="fr-FR" sz="2200" dirty="0">
                <a:latin typeface="Times New Roman" panose="02020603050405020304" pitchFamily="18" charset="0"/>
                <a:cs typeface="Times New Roman" panose="02020603050405020304" pitchFamily="18" charset="0"/>
              </a:rPr>
              <a:t> ». Dans le premier cas, on a besoin :</a:t>
            </a:r>
          </a:p>
          <a:p>
            <a:pPr lvl="1" indent="-342900">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de gérer les cookies,</a:t>
            </a:r>
          </a:p>
          <a:p>
            <a:pPr lvl="1" indent="-342900">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de gérer une session,</a:t>
            </a:r>
          </a:p>
          <a:p>
            <a:pPr lvl="1" indent="-342900">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de gérer la protection </a:t>
            </a:r>
            <a:r>
              <a:rPr lang="fr-FR" sz="2200" b="1" dirty="0">
                <a:latin typeface="Times New Roman" panose="02020603050405020304" pitchFamily="18" charset="0"/>
                <a:cs typeface="Times New Roman" panose="02020603050405020304" pitchFamily="18" charset="0"/>
              </a:rPr>
              <a:t>CSRF</a:t>
            </a:r>
            <a:endParaRPr lang="fr-FR" sz="2200" dirty="0">
              <a:latin typeface="Times New Roman" panose="02020603050405020304" pitchFamily="18" charset="0"/>
              <a:cs typeface="Times New Roman" panose="02020603050405020304" pitchFamily="18" charset="0"/>
            </a:endParaRPr>
          </a:p>
          <a:p>
            <a:pPr marL="400050" lvl="1" indent="0">
              <a:buNone/>
            </a:pPr>
            <a:r>
              <a:rPr lang="fr-FR" sz="2200" dirty="0">
                <a:latin typeface="Times New Roman" panose="02020603050405020304" pitchFamily="18" charset="0"/>
                <a:cs typeface="Times New Roman" panose="02020603050405020304" pitchFamily="18" charset="0"/>
              </a:rPr>
              <a:t>Dans les précédentes version de </a:t>
            </a:r>
            <a:r>
              <a:rPr lang="fr-FR" sz="2200" dirty="0" err="1">
                <a:latin typeface="Times New Roman" panose="02020603050405020304" pitchFamily="18" charset="0"/>
                <a:cs typeface="Times New Roman" panose="02020603050405020304" pitchFamily="18" charset="0"/>
              </a:rPr>
              <a:t>Laravel</a:t>
            </a:r>
            <a:r>
              <a:rPr lang="fr-FR" sz="2200" dirty="0">
                <a:latin typeface="Times New Roman" panose="02020603050405020304" pitchFamily="18" charset="0"/>
                <a:cs typeface="Times New Roman" panose="02020603050405020304" pitchFamily="18" charset="0"/>
              </a:rPr>
              <a:t>, on avait le fichier. On trouvait ici là deux middlewares de groupes (ils rassemblent plusieurs middlewares) « web » et « api ». Dans le premier cas, on activait les cookies, les sessions et la vérification CSRF. Par défaut, toutes les routes que vous entriez dans le fichier </a:t>
            </a:r>
            <a:r>
              <a:rPr lang="fr-FR" sz="2200" b="1" dirty="0">
                <a:latin typeface="Times New Roman" panose="02020603050405020304" pitchFamily="18" charset="0"/>
                <a:cs typeface="Times New Roman" panose="02020603050405020304" pitchFamily="18" charset="0"/>
              </a:rPr>
              <a:t>routes/</a:t>
            </a:r>
            <a:r>
              <a:rPr lang="fr-FR" sz="2200" b="1" dirty="0" err="1">
                <a:latin typeface="Times New Roman" panose="02020603050405020304" pitchFamily="18" charset="0"/>
                <a:cs typeface="Times New Roman" panose="02020603050405020304" pitchFamily="18" charset="0"/>
              </a:rPr>
              <a:t>web.php</a:t>
            </a:r>
            <a:r>
              <a:rPr lang="fr-FR" sz="2200" b="1" dirty="0">
                <a:latin typeface="Times New Roman" panose="02020603050405020304" pitchFamily="18" charset="0"/>
                <a:cs typeface="Times New Roman" panose="02020603050405020304" pitchFamily="18" charset="0"/>
              </a:rPr>
              <a:t> </a:t>
            </a:r>
            <a:r>
              <a:rPr lang="fr-FR" sz="2200" dirty="0">
                <a:latin typeface="Times New Roman" panose="02020603050405020304" pitchFamily="18" charset="0"/>
                <a:cs typeface="Times New Roman" panose="02020603050405020304" pitchFamily="18" charset="0"/>
              </a:rPr>
              <a:t>étaient incluses dans le groupe « web ».</a:t>
            </a:r>
          </a:p>
          <a:p>
            <a:pPr marL="400050" lvl="1" indent="0">
              <a:buNone/>
            </a:pPr>
            <a:r>
              <a:rPr lang="fr-FR" sz="2200" dirty="0">
                <a:latin typeface="Times New Roman" panose="02020603050405020304" pitchFamily="18" charset="0"/>
                <a:cs typeface="Times New Roman" panose="02020603050405020304" pitchFamily="18" charset="0"/>
              </a:rPr>
              <a:t>Le fichier </a:t>
            </a:r>
            <a:r>
              <a:rPr lang="fr-FR" sz="2200" b="1" dirty="0">
                <a:latin typeface="Times New Roman" panose="02020603050405020304" pitchFamily="18" charset="0"/>
                <a:cs typeface="Times New Roman" panose="02020603050405020304" pitchFamily="18" charset="0"/>
              </a:rPr>
              <a:t>app/Http/</a:t>
            </a:r>
            <a:r>
              <a:rPr lang="fr-FR" sz="2200" b="1" dirty="0" err="1">
                <a:latin typeface="Times New Roman" panose="02020603050405020304" pitchFamily="18" charset="0"/>
                <a:cs typeface="Times New Roman" panose="02020603050405020304" pitchFamily="18" charset="0"/>
              </a:rPr>
              <a:t>Kernel.php</a:t>
            </a:r>
            <a:r>
              <a:rPr lang="fr-FR" sz="2200" b="1" dirty="0">
                <a:latin typeface="Times New Roman" panose="02020603050405020304" pitchFamily="18" charset="0"/>
                <a:cs typeface="Times New Roman" panose="02020603050405020304" pitchFamily="18" charset="0"/>
              </a:rPr>
              <a:t> </a:t>
            </a:r>
            <a:r>
              <a:rPr lang="fr-FR" sz="2200" dirty="0">
                <a:latin typeface="Times New Roman" panose="02020603050405020304" pitchFamily="18" charset="0"/>
                <a:cs typeface="Times New Roman" panose="02020603050405020304" pitchFamily="18" charset="0"/>
              </a:rPr>
              <a:t>n'est plus présent dans </a:t>
            </a:r>
            <a:r>
              <a:rPr lang="fr-FR" sz="2200" b="1" dirty="0" err="1">
                <a:latin typeface="Times New Roman" panose="02020603050405020304" pitchFamily="18" charset="0"/>
                <a:cs typeface="Times New Roman" panose="02020603050405020304" pitchFamily="18" charset="0"/>
              </a:rPr>
              <a:t>Laravel</a:t>
            </a:r>
            <a:r>
              <a:rPr lang="fr-FR" sz="2200" b="1" dirty="0">
                <a:latin typeface="Times New Roman" panose="02020603050405020304" pitchFamily="18" charset="0"/>
                <a:cs typeface="Times New Roman" panose="02020603050405020304" pitchFamily="18" charset="0"/>
              </a:rPr>
              <a:t> 11</a:t>
            </a:r>
            <a:r>
              <a:rPr lang="fr-FR" sz="2200" dirty="0">
                <a:latin typeface="Times New Roman" panose="02020603050405020304" pitchFamily="18" charset="0"/>
                <a:cs typeface="Times New Roman" panose="02020603050405020304" pitchFamily="18" charset="0"/>
              </a:rPr>
              <a:t>. </a:t>
            </a:r>
          </a:p>
          <a:p>
            <a:pPr marL="400050" lvl="1" indent="0">
              <a:buNone/>
            </a:pPr>
            <a:r>
              <a:rPr lang="fr-FR" sz="2200" dirty="0">
                <a:latin typeface="Times New Roman" panose="02020603050405020304" pitchFamily="18" charset="0"/>
                <a:cs typeface="Times New Roman" panose="02020603050405020304" pitchFamily="18" charset="0"/>
              </a:rPr>
              <a:t>Dorénavant, toutes les étapes d'initialisation sont réalisées dans le fichier </a:t>
            </a:r>
            <a:r>
              <a:rPr lang="fr-FR" sz="2200" b="1" dirty="0" err="1">
                <a:latin typeface="Times New Roman" panose="02020603050405020304" pitchFamily="18" charset="0"/>
                <a:cs typeface="Times New Roman" panose="02020603050405020304" pitchFamily="18" charset="0"/>
              </a:rPr>
              <a:t>bootstrap</a:t>
            </a:r>
            <a:r>
              <a:rPr lang="fr-FR" sz="2200" b="1" dirty="0">
                <a:latin typeface="Times New Roman" panose="02020603050405020304" pitchFamily="18" charset="0"/>
                <a:cs typeface="Times New Roman" panose="02020603050405020304" pitchFamily="18" charset="0"/>
              </a:rPr>
              <a:t>/</a:t>
            </a:r>
            <a:r>
              <a:rPr lang="fr-FR" sz="2200" b="1" dirty="0" err="1">
                <a:latin typeface="Times New Roman" panose="02020603050405020304" pitchFamily="18" charset="0"/>
                <a:cs typeface="Times New Roman" panose="02020603050405020304" pitchFamily="18" charset="0"/>
              </a:rPr>
              <a:t>app.php</a:t>
            </a:r>
            <a:endParaRPr lang="fr-FR" sz="2200" b="1" dirty="0">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483841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Utilisation des Middleware </a:t>
            </a:r>
            <a:endParaRPr lang="fr-FR" sz="1900" dirty="0">
              <a:solidFill>
                <a:srgbClr val="00B0F0"/>
              </a:solidFill>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5" name="Rectangle: Rounded Corners 4">
            <a:extLst>
              <a:ext uri="{FF2B5EF4-FFF2-40B4-BE49-F238E27FC236}">
                <a16:creationId xmlns:a16="http://schemas.microsoft.com/office/drawing/2014/main" id="{EA4C4321-B873-4444-90DF-464432A08DC6}"/>
              </a:ext>
            </a:extLst>
          </p:cNvPr>
          <p:cNvSpPr/>
          <p:nvPr/>
        </p:nvSpPr>
        <p:spPr>
          <a:xfrm>
            <a:off x="827584" y="2874676"/>
            <a:ext cx="7632848" cy="338437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sz="2000" dirty="0"/>
              <a:t>Un middleware dans </a:t>
            </a:r>
            <a:r>
              <a:rPr lang="fr-FR" sz="2000" dirty="0" err="1"/>
              <a:t>Laravel</a:t>
            </a:r>
            <a:r>
              <a:rPr lang="fr-FR" sz="2000" dirty="0"/>
              <a:t> est une couche intermédiaire qui traite les requêtes HTTP avant qu'elles n'atteignent les contrôleurs ou après qu'elles aient été traitées par les contrôleurs. Il permet d'exécuter des tâches spécifiques, comme l'authentification, la validation, la journalisation, ou la modification des requêtes et des réponses. Les middlewares sont utilisés pour centraliser et organiser le code qui doit être exécuté à chaque requête, ce qui facilite la maintenance et la réutilisation du code.</a:t>
            </a:r>
          </a:p>
        </p:txBody>
      </p:sp>
    </p:spTree>
    <p:extLst>
      <p:ext uri="{BB962C8B-B14F-4D97-AF65-F5344CB8AC3E}">
        <p14:creationId xmlns:p14="http://schemas.microsoft.com/office/powerpoint/2010/main" val="1959099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000" b="1" dirty="0">
                <a:solidFill>
                  <a:srgbClr val="002060"/>
                </a:solidFill>
                <a:latin typeface="Times New Roman" panose="02020603050405020304" pitchFamily="18" charset="0"/>
                <a:cs typeface="Times New Roman" panose="02020603050405020304" pitchFamily="18" charset="0"/>
              </a:rPr>
              <a:t>Programmer avec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1800" dirty="0">
                <a:solidFill>
                  <a:srgbClr val="00B0F0"/>
                </a:solidFill>
              </a:rPr>
              <a:t>Utilisation des Middleware </a:t>
            </a:r>
          </a:p>
          <a:p>
            <a:pPr marL="685800" lvl="1">
              <a:buFont typeface="Wingdings" panose="05000000000000000000" pitchFamily="2" charset="2"/>
              <a:buChar char="ü"/>
            </a:pPr>
            <a:r>
              <a:rPr lang="fr-FR" sz="1600" dirty="0" err="1">
                <a:solidFill>
                  <a:srgbClr val="00B0F0"/>
                </a:solidFill>
              </a:rPr>
              <a:t>bootstrap</a:t>
            </a:r>
            <a:r>
              <a:rPr lang="fr-FR" sz="1600" dirty="0">
                <a:solidFill>
                  <a:srgbClr val="00B0F0"/>
                </a:solidFill>
              </a:rPr>
              <a:t>/</a:t>
            </a:r>
            <a:r>
              <a:rPr lang="fr-FR" sz="1600" dirty="0" err="1">
                <a:solidFill>
                  <a:srgbClr val="00B0F0"/>
                </a:solidFill>
              </a:rPr>
              <a:t>app.php</a:t>
            </a:r>
            <a:endParaRPr lang="fr-FR" sz="1600" dirty="0">
              <a:solidFill>
                <a:srgbClr val="00B0F0"/>
              </a:solidFill>
            </a:endParaRPr>
          </a:p>
          <a:p>
            <a:pPr marL="400050" lvl="1" indent="0">
              <a:buNone/>
            </a:pPr>
            <a:endParaRPr lang="fr-FR" sz="2200" dirty="0">
              <a:latin typeface="Times New Roman" panose="02020603050405020304" pitchFamily="18" charset="0"/>
              <a:cs typeface="Times New Roman" panose="02020603050405020304" pitchFamily="18" charset="0"/>
            </a:endParaRPr>
          </a:p>
          <a:p>
            <a:pPr marL="400050" lvl="1"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5" name="Rectangle : coins arrondis 7">
            <a:extLst>
              <a:ext uri="{FF2B5EF4-FFF2-40B4-BE49-F238E27FC236}">
                <a16:creationId xmlns:a16="http://schemas.microsoft.com/office/drawing/2014/main" id="{F322C32C-3CD7-4A87-80FF-FAEE239583A9}"/>
              </a:ext>
            </a:extLst>
          </p:cNvPr>
          <p:cNvSpPr/>
          <p:nvPr/>
        </p:nvSpPr>
        <p:spPr>
          <a:xfrm>
            <a:off x="719572" y="2708920"/>
            <a:ext cx="7704856" cy="3600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1400" dirty="0">
                <a:solidFill>
                  <a:srgbClr val="0000FF"/>
                </a:solidFill>
                <a:latin typeface="Consolas" panose="020B0609020204030204" pitchFamily="49" charset="0"/>
              </a:rPr>
              <a:t>use</a:t>
            </a:r>
            <a:r>
              <a:rPr lang="fr-FR" sz="1400" dirty="0">
                <a:solidFill>
                  <a:srgbClr val="000000"/>
                </a:solidFill>
                <a:latin typeface="Consolas" panose="020B0609020204030204" pitchFamily="49" charset="0"/>
              </a:rPr>
              <a:t> </a:t>
            </a:r>
            <a:r>
              <a:rPr lang="fr-FR" sz="1400" dirty="0" err="1">
                <a:solidFill>
                  <a:srgbClr val="000000"/>
                </a:solidFill>
                <a:latin typeface="Consolas" panose="020B0609020204030204" pitchFamily="49" charset="0"/>
              </a:rPr>
              <a:t>Illuminate</a:t>
            </a:r>
            <a:r>
              <a:rPr lang="fr-FR" sz="1400" dirty="0">
                <a:solidFill>
                  <a:srgbClr val="000000"/>
                </a:solidFill>
                <a:latin typeface="Consolas" panose="020B0609020204030204" pitchFamily="49" charset="0"/>
              </a:rPr>
              <a:t>\</a:t>
            </a:r>
            <a:r>
              <a:rPr lang="fr-FR" sz="1400" dirty="0" err="1">
                <a:solidFill>
                  <a:srgbClr val="000000"/>
                </a:solidFill>
                <a:latin typeface="Consolas" panose="020B0609020204030204" pitchFamily="49" charset="0"/>
              </a:rPr>
              <a:t>Foundation</a:t>
            </a:r>
            <a:r>
              <a:rPr lang="fr-FR" sz="1400" dirty="0">
                <a:solidFill>
                  <a:srgbClr val="000000"/>
                </a:solidFill>
                <a:latin typeface="Consolas" panose="020B0609020204030204" pitchFamily="49" charset="0"/>
              </a:rPr>
              <a:t>\</a:t>
            </a:r>
            <a:r>
              <a:rPr lang="fr-FR" sz="1400" dirty="0">
                <a:solidFill>
                  <a:srgbClr val="267F99"/>
                </a:solidFill>
                <a:latin typeface="Consolas" panose="020B0609020204030204" pitchFamily="49" charset="0"/>
              </a:rPr>
              <a:t>Application</a:t>
            </a:r>
            <a:r>
              <a:rPr lang="fr-FR" sz="1400" dirty="0">
                <a:solidFill>
                  <a:srgbClr val="000000"/>
                </a:solidFill>
                <a:latin typeface="Consolas" panose="020B0609020204030204" pitchFamily="49" charset="0"/>
              </a:rPr>
              <a:t>;</a:t>
            </a:r>
          </a:p>
          <a:p>
            <a:r>
              <a:rPr lang="fr-FR" sz="1400" dirty="0">
                <a:solidFill>
                  <a:srgbClr val="0000FF"/>
                </a:solidFill>
                <a:latin typeface="Consolas" panose="020B0609020204030204" pitchFamily="49" charset="0"/>
              </a:rPr>
              <a:t>use</a:t>
            </a:r>
            <a:r>
              <a:rPr lang="fr-FR" sz="1400" dirty="0">
                <a:solidFill>
                  <a:srgbClr val="000000"/>
                </a:solidFill>
                <a:latin typeface="Consolas" panose="020B0609020204030204" pitchFamily="49" charset="0"/>
              </a:rPr>
              <a:t> </a:t>
            </a:r>
            <a:r>
              <a:rPr lang="fr-FR" sz="1400" dirty="0" err="1">
                <a:solidFill>
                  <a:srgbClr val="000000"/>
                </a:solidFill>
                <a:latin typeface="Consolas" panose="020B0609020204030204" pitchFamily="49" charset="0"/>
              </a:rPr>
              <a:t>Illuminate</a:t>
            </a:r>
            <a:r>
              <a:rPr lang="fr-FR" sz="1400" dirty="0">
                <a:solidFill>
                  <a:srgbClr val="000000"/>
                </a:solidFill>
                <a:latin typeface="Consolas" panose="020B0609020204030204" pitchFamily="49" charset="0"/>
              </a:rPr>
              <a:t>\</a:t>
            </a:r>
            <a:r>
              <a:rPr lang="fr-FR" sz="1400" dirty="0" err="1">
                <a:solidFill>
                  <a:srgbClr val="000000"/>
                </a:solidFill>
                <a:latin typeface="Consolas" panose="020B0609020204030204" pitchFamily="49" charset="0"/>
              </a:rPr>
              <a:t>Foundation</a:t>
            </a:r>
            <a:r>
              <a:rPr lang="fr-FR" sz="1400" dirty="0">
                <a:solidFill>
                  <a:srgbClr val="000000"/>
                </a:solidFill>
                <a:latin typeface="Consolas" panose="020B0609020204030204" pitchFamily="49" charset="0"/>
              </a:rPr>
              <a:t>\Configuration\</a:t>
            </a:r>
            <a:r>
              <a:rPr lang="fr-FR" sz="1400" dirty="0">
                <a:solidFill>
                  <a:srgbClr val="267F99"/>
                </a:solidFill>
                <a:latin typeface="Consolas" panose="020B0609020204030204" pitchFamily="49" charset="0"/>
              </a:rPr>
              <a:t>Exceptions</a:t>
            </a:r>
            <a:r>
              <a:rPr lang="fr-FR" sz="1400" dirty="0">
                <a:solidFill>
                  <a:srgbClr val="000000"/>
                </a:solidFill>
                <a:latin typeface="Consolas" panose="020B0609020204030204" pitchFamily="49" charset="0"/>
              </a:rPr>
              <a:t>;</a:t>
            </a:r>
          </a:p>
          <a:p>
            <a:r>
              <a:rPr lang="fr-FR" sz="1400" dirty="0">
                <a:solidFill>
                  <a:srgbClr val="0000FF"/>
                </a:solidFill>
                <a:latin typeface="Consolas" panose="020B0609020204030204" pitchFamily="49" charset="0"/>
              </a:rPr>
              <a:t>use</a:t>
            </a:r>
            <a:r>
              <a:rPr lang="fr-FR" sz="1400" dirty="0">
                <a:solidFill>
                  <a:srgbClr val="000000"/>
                </a:solidFill>
                <a:latin typeface="Consolas" panose="020B0609020204030204" pitchFamily="49" charset="0"/>
              </a:rPr>
              <a:t> </a:t>
            </a:r>
            <a:r>
              <a:rPr lang="fr-FR" sz="1400" dirty="0" err="1">
                <a:solidFill>
                  <a:srgbClr val="000000"/>
                </a:solidFill>
                <a:latin typeface="Consolas" panose="020B0609020204030204" pitchFamily="49" charset="0"/>
              </a:rPr>
              <a:t>Illuminate</a:t>
            </a:r>
            <a:r>
              <a:rPr lang="fr-FR" sz="1400" dirty="0">
                <a:solidFill>
                  <a:srgbClr val="000000"/>
                </a:solidFill>
                <a:latin typeface="Consolas" panose="020B0609020204030204" pitchFamily="49" charset="0"/>
              </a:rPr>
              <a:t>\</a:t>
            </a:r>
            <a:r>
              <a:rPr lang="fr-FR" sz="1400" dirty="0" err="1">
                <a:solidFill>
                  <a:srgbClr val="000000"/>
                </a:solidFill>
                <a:latin typeface="Consolas" panose="020B0609020204030204" pitchFamily="49" charset="0"/>
              </a:rPr>
              <a:t>Foundation</a:t>
            </a:r>
            <a:r>
              <a:rPr lang="fr-FR" sz="1400" dirty="0">
                <a:solidFill>
                  <a:srgbClr val="000000"/>
                </a:solidFill>
                <a:latin typeface="Consolas" panose="020B0609020204030204" pitchFamily="49" charset="0"/>
              </a:rPr>
              <a:t>\Configuration\</a:t>
            </a:r>
            <a:r>
              <a:rPr lang="fr-FR" sz="1400" dirty="0">
                <a:solidFill>
                  <a:srgbClr val="267F99"/>
                </a:solidFill>
                <a:latin typeface="Consolas" panose="020B0609020204030204" pitchFamily="49" charset="0"/>
              </a:rPr>
              <a:t>Middleware</a:t>
            </a:r>
            <a:r>
              <a:rPr lang="fr-FR" sz="1400" dirty="0">
                <a:solidFill>
                  <a:srgbClr val="000000"/>
                </a:solidFill>
                <a:latin typeface="Consolas" panose="020B0609020204030204" pitchFamily="49" charset="0"/>
              </a:rPr>
              <a:t>;</a:t>
            </a:r>
          </a:p>
          <a:p>
            <a:br>
              <a:rPr lang="fr-FR" sz="1400" dirty="0">
                <a:solidFill>
                  <a:srgbClr val="000000"/>
                </a:solidFill>
                <a:latin typeface="Consolas" panose="020B0609020204030204" pitchFamily="49" charset="0"/>
              </a:rPr>
            </a:br>
            <a:r>
              <a:rPr lang="fr-FR" sz="1400" dirty="0">
                <a:solidFill>
                  <a:srgbClr val="AF00DB"/>
                </a:solidFill>
                <a:latin typeface="Consolas" panose="020B0609020204030204" pitchFamily="49" charset="0"/>
              </a:rPr>
              <a:t>return</a:t>
            </a:r>
            <a:r>
              <a:rPr lang="fr-FR" sz="1400" dirty="0">
                <a:solidFill>
                  <a:srgbClr val="000000"/>
                </a:solidFill>
                <a:latin typeface="Consolas" panose="020B0609020204030204" pitchFamily="49" charset="0"/>
              </a:rPr>
              <a:t> </a:t>
            </a:r>
            <a:r>
              <a:rPr lang="fr-FR" sz="1400" dirty="0">
                <a:solidFill>
                  <a:srgbClr val="267F99"/>
                </a:solidFill>
                <a:latin typeface="Consolas" panose="020B0609020204030204" pitchFamily="49" charset="0"/>
              </a:rPr>
              <a:t>Application</a:t>
            </a:r>
            <a:r>
              <a:rPr lang="fr-FR" sz="1400" dirty="0">
                <a:solidFill>
                  <a:srgbClr val="000000"/>
                </a:solidFill>
                <a:latin typeface="Consolas" panose="020B0609020204030204" pitchFamily="49" charset="0"/>
              </a:rPr>
              <a:t>::</a:t>
            </a:r>
            <a:r>
              <a:rPr lang="fr-FR" sz="1400" dirty="0">
                <a:solidFill>
                  <a:srgbClr val="795E26"/>
                </a:solidFill>
                <a:latin typeface="Consolas" panose="020B0609020204030204" pitchFamily="49" charset="0"/>
              </a:rPr>
              <a:t>configure</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basePath</a:t>
            </a:r>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dirname</a:t>
            </a:r>
            <a:r>
              <a:rPr lang="fr-FR" sz="1400" dirty="0">
                <a:solidFill>
                  <a:srgbClr val="000000"/>
                </a:solidFill>
                <a:latin typeface="Consolas" panose="020B0609020204030204" pitchFamily="49" charset="0"/>
              </a:rPr>
              <a:t>(</a:t>
            </a:r>
            <a:r>
              <a:rPr lang="fr-FR" sz="1400" dirty="0">
                <a:solidFill>
                  <a:srgbClr val="0000FF"/>
                </a:solidFill>
                <a:latin typeface="Consolas" panose="020B0609020204030204" pitchFamily="49" charset="0"/>
              </a:rPr>
              <a:t>__DIR__</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-&gt;</a:t>
            </a:r>
            <a:r>
              <a:rPr lang="fr-FR" sz="1400" dirty="0" err="1">
                <a:solidFill>
                  <a:srgbClr val="795E26"/>
                </a:solidFill>
                <a:latin typeface="Consolas" panose="020B0609020204030204" pitchFamily="49" charset="0"/>
              </a:rPr>
              <a:t>withRouting</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web</a:t>
            </a:r>
            <a:r>
              <a:rPr lang="fr-FR" sz="1400" dirty="0">
                <a:solidFill>
                  <a:srgbClr val="000000"/>
                </a:solidFill>
                <a:latin typeface="Consolas" panose="020B0609020204030204" pitchFamily="49" charset="0"/>
              </a:rPr>
              <a:t>: </a:t>
            </a:r>
            <a:r>
              <a:rPr lang="fr-FR" sz="1400" dirty="0">
                <a:solidFill>
                  <a:srgbClr val="0000FF"/>
                </a:solidFill>
                <a:latin typeface="Consolas" panose="020B0609020204030204" pitchFamily="49" charset="0"/>
              </a:rPr>
              <a:t>__DIR__</a:t>
            </a:r>
            <a:r>
              <a:rPr lang="fr-FR" sz="1400" dirty="0">
                <a:solidFill>
                  <a:srgbClr val="000000"/>
                </a:solidFill>
                <a:latin typeface="Consolas" panose="020B0609020204030204" pitchFamily="49" charset="0"/>
              </a:rPr>
              <a:t>.</a:t>
            </a:r>
            <a:r>
              <a:rPr lang="fr-FR" sz="1400" dirty="0">
                <a:solidFill>
                  <a:srgbClr val="A31515"/>
                </a:solidFill>
                <a:latin typeface="Consolas" panose="020B0609020204030204" pitchFamily="49" charset="0"/>
              </a:rPr>
              <a:t>'/../routes/</a:t>
            </a:r>
            <a:r>
              <a:rPr lang="fr-FR" sz="1400" dirty="0" err="1">
                <a:solidFill>
                  <a:srgbClr val="A31515"/>
                </a:solidFill>
                <a:latin typeface="Consolas" panose="020B0609020204030204" pitchFamily="49" charset="0"/>
              </a:rPr>
              <a:t>web.php</a:t>
            </a:r>
            <a:r>
              <a:rPr lang="fr-FR" sz="1400" dirty="0">
                <a:solidFill>
                  <a:srgbClr val="A31515"/>
                </a:solidFill>
                <a:latin typeface="Consolas" panose="020B0609020204030204" pitchFamily="49" charset="0"/>
              </a:rPr>
              <a:t>'</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commands</a:t>
            </a:r>
            <a:r>
              <a:rPr lang="fr-FR" sz="1400" dirty="0">
                <a:solidFill>
                  <a:srgbClr val="000000"/>
                </a:solidFill>
                <a:latin typeface="Consolas" panose="020B0609020204030204" pitchFamily="49" charset="0"/>
              </a:rPr>
              <a:t>: </a:t>
            </a:r>
            <a:r>
              <a:rPr lang="fr-FR" sz="1400" dirty="0">
                <a:solidFill>
                  <a:srgbClr val="0000FF"/>
                </a:solidFill>
                <a:latin typeface="Consolas" panose="020B0609020204030204" pitchFamily="49" charset="0"/>
              </a:rPr>
              <a:t>__DIR__</a:t>
            </a:r>
            <a:r>
              <a:rPr lang="fr-FR" sz="1400" dirty="0">
                <a:solidFill>
                  <a:srgbClr val="000000"/>
                </a:solidFill>
                <a:latin typeface="Consolas" panose="020B0609020204030204" pitchFamily="49" charset="0"/>
              </a:rPr>
              <a:t>.</a:t>
            </a:r>
            <a:r>
              <a:rPr lang="fr-FR" sz="1400" dirty="0">
                <a:solidFill>
                  <a:srgbClr val="A31515"/>
                </a:solidFill>
                <a:latin typeface="Consolas" panose="020B0609020204030204" pitchFamily="49" charset="0"/>
              </a:rPr>
              <a:t>'/../routes/</a:t>
            </a:r>
            <a:r>
              <a:rPr lang="fr-FR" sz="1400" dirty="0" err="1">
                <a:solidFill>
                  <a:srgbClr val="A31515"/>
                </a:solidFill>
                <a:latin typeface="Consolas" panose="020B0609020204030204" pitchFamily="49" charset="0"/>
              </a:rPr>
              <a:t>console.php</a:t>
            </a:r>
            <a:r>
              <a:rPr lang="fr-FR" sz="1400" dirty="0">
                <a:solidFill>
                  <a:srgbClr val="A31515"/>
                </a:solidFill>
                <a:latin typeface="Consolas" panose="020B0609020204030204" pitchFamily="49" charset="0"/>
              </a:rPr>
              <a:t>'</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health</a:t>
            </a:r>
            <a:r>
              <a:rPr lang="fr-FR" sz="1400" dirty="0">
                <a:solidFill>
                  <a:srgbClr val="000000"/>
                </a:solidFill>
                <a:latin typeface="Consolas" panose="020B0609020204030204" pitchFamily="49" charset="0"/>
              </a:rPr>
              <a:t>: </a:t>
            </a:r>
            <a:r>
              <a:rPr lang="fr-FR" sz="1400" dirty="0">
                <a:solidFill>
                  <a:srgbClr val="A31515"/>
                </a:solidFill>
                <a:latin typeface="Consolas" panose="020B0609020204030204" pitchFamily="49" charset="0"/>
              </a:rPr>
              <a:t>'/up'</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p>
          <a:p>
            <a:r>
              <a:rPr lang="fr-FR" sz="1400" dirty="0">
                <a:solidFill>
                  <a:srgbClr val="000000"/>
                </a:solidFill>
                <a:latin typeface="Consolas" panose="020B0609020204030204" pitchFamily="49" charset="0"/>
              </a:rPr>
              <a:t>    -&gt;</a:t>
            </a:r>
            <a:r>
              <a:rPr lang="fr-FR" sz="1400" dirty="0" err="1">
                <a:solidFill>
                  <a:srgbClr val="795E26"/>
                </a:solidFill>
                <a:latin typeface="Consolas" panose="020B0609020204030204" pitchFamily="49" charset="0"/>
              </a:rPr>
              <a:t>withMiddleware</a:t>
            </a:r>
            <a:r>
              <a:rPr lang="fr-FR" sz="1400" dirty="0">
                <a:solidFill>
                  <a:srgbClr val="000000"/>
                </a:solidFill>
                <a:latin typeface="Consolas" panose="020B0609020204030204" pitchFamily="49" charset="0"/>
              </a:rPr>
              <a:t>(</a:t>
            </a:r>
            <a:r>
              <a:rPr lang="fr-FR" sz="1400" dirty="0" err="1">
                <a:solidFill>
                  <a:srgbClr val="0000FF"/>
                </a:solidFill>
                <a:latin typeface="Consolas" panose="020B0609020204030204" pitchFamily="49" charset="0"/>
              </a:rPr>
              <a:t>function</a:t>
            </a:r>
            <a:r>
              <a:rPr lang="fr-FR" sz="1400" dirty="0">
                <a:solidFill>
                  <a:srgbClr val="000000"/>
                </a:solidFill>
                <a:latin typeface="Consolas" panose="020B0609020204030204" pitchFamily="49" charset="0"/>
              </a:rPr>
              <a:t> (</a:t>
            </a:r>
            <a:r>
              <a:rPr lang="fr-FR" sz="1400" dirty="0">
                <a:solidFill>
                  <a:srgbClr val="267F99"/>
                </a:solidFill>
                <a:latin typeface="Consolas" panose="020B0609020204030204" pitchFamily="49" charset="0"/>
              </a:rPr>
              <a:t>Middleware</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$middleware</a:t>
            </a:r>
            <a:r>
              <a:rPr lang="fr-FR" sz="1400" dirty="0">
                <a:solidFill>
                  <a:srgbClr val="000000"/>
                </a:solidFill>
                <a:latin typeface="Consolas" panose="020B0609020204030204" pitchFamily="49" charset="0"/>
              </a:rPr>
              <a:t>) {</a:t>
            </a:r>
          </a:p>
          <a:p>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p>
          <a:p>
            <a:r>
              <a:rPr lang="fr-FR" sz="1400" dirty="0">
                <a:solidFill>
                  <a:srgbClr val="000000"/>
                </a:solidFill>
                <a:latin typeface="Consolas" panose="020B0609020204030204" pitchFamily="49" charset="0"/>
              </a:rPr>
              <a:t>    -&gt;</a:t>
            </a:r>
            <a:r>
              <a:rPr lang="fr-FR" sz="1400" dirty="0" err="1">
                <a:solidFill>
                  <a:srgbClr val="795E26"/>
                </a:solidFill>
                <a:latin typeface="Consolas" panose="020B0609020204030204" pitchFamily="49" charset="0"/>
              </a:rPr>
              <a:t>withExceptions</a:t>
            </a:r>
            <a:r>
              <a:rPr lang="fr-FR" sz="1400" dirty="0">
                <a:solidFill>
                  <a:srgbClr val="000000"/>
                </a:solidFill>
                <a:latin typeface="Consolas" panose="020B0609020204030204" pitchFamily="49" charset="0"/>
              </a:rPr>
              <a:t>(</a:t>
            </a:r>
            <a:r>
              <a:rPr lang="fr-FR" sz="1400" dirty="0" err="1">
                <a:solidFill>
                  <a:srgbClr val="0000FF"/>
                </a:solidFill>
                <a:latin typeface="Consolas" panose="020B0609020204030204" pitchFamily="49" charset="0"/>
              </a:rPr>
              <a:t>function</a:t>
            </a:r>
            <a:r>
              <a:rPr lang="fr-FR" sz="1400" dirty="0">
                <a:solidFill>
                  <a:srgbClr val="000000"/>
                </a:solidFill>
                <a:latin typeface="Consolas" panose="020B0609020204030204" pitchFamily="49" charset="0"/>
              </a:rPr>
              <a:t> (</a:t>
            </a:r>
            <a:r>
              <a:rPr lang="fr-FR" sz="1400" dirty="0">
                <a:solidFill>
                  <a:srgbClr val="267F99"/>
                </a:solidFill>
                <a:latin typeface="Consolas" panose="020B0609020204030204" pitchFamily="49" charset="0"/>
              </a:rPr>
              <a:t>Exceptions</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$exceptions</a:t>
            </a:r>
            <a:r>
              <a:rPr lang="fr-FR" sz="1400" dirty="0">
                <a:solidFill>
                  <a:srgbClr val="000000"/>
                </a:solidFill>
                <a:latin typeface="Consolas" panose="020B0609020204030204" pitchFamily="49" charset="0"/>
              </a:rPr>
              <a:t>) {</a:t>
            </a:r>
          </a:p>
          <a:p>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})-&gt;</a:t>
            </a:r>
            <a:r>
              <a:rPr lang="fr-FR" sz="1400" dirty="0" err="1">
                <a:solidFill>
                  <a:srgbClr val="795E26"/>
                </a:solidFill>
                <a:latin typeface="Consolas" panose="020B0609020204030204" pitchFamily="49" charset="0"/>
              </a:rPr>
              <a:t>create</a:t>
            </a:r>
            <a:r>
              <a:rPr lang="fr-FR" sz="14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481194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00600"/>
          </a:xfrm>
        </p:spPr>
        <p:style>
          <a:lnRef idx="2">
            <a:schemeClr val="accent1"/>
          </a:lnRef>
          <a:fillRef idx="1">
            <a:schemeClr val="lt1"/>
          </a:fillRef>
          <a:effectRef idx="0">
            <a:schemeClr val="accent1"/>
          </a:effectRef>
          <a:fontRef idx="minor">
            <a:schemeClr val="dk1"/>
          </a:fontRef>
        </p:style>
        <p:txBody>
          <a:bodyPr>
            <a:normAutofit fontScale="25000" lnSpcReduction="20000"/>
          </a:bodyPr>
          <a:lstStyle/>
          <a:p>
            <a:pPr marL="514350" indent="-514350">
              <a:buFont typeface="+mj-lt"/>
              <a:buAutoNum type="alphaUcPeriod" startAt="2"/>
            </a:pPr>
            <a:r>
              <a:rPr lang="fr-FR" sz="6400" b="1" dirty="0">
                <a:solidFill>
                  <a:srgbClr val="002060"/>
                </a:solidFill>
                <a:latin typeface="Times New Roman" panose="02020603050405020304" pitchFamily="18" charset="0"/>
                <a:cs typeface="Times New Roman" panose="02020603050405020304" pitchFamily="18" charset="0"/>
              </a:rPr>
              <a:t>Programmer avec Laravel</a:t>
            </a:r>
            <a:endParaRPr lang="fr-FR" sz="6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6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6400" dirty="0"/>
              <a:t> </a:t>
            </a:r>
            <a:r>
              <a:rPr lang="fr-FR" sz="6400" dirty="0">
                <a:solidFill>
                  <a:srgbClr val="C00000"/>
                </a:solidFill>
                <a:latin typeface="Times New Roman" panose="02020603050405020304" pitchFamily="18" charset="0"/>
                <a:cs typeface="Times New Roman" panose="02020603050405020304" pitchFamily="18" charset="0"/>
              </a:rPr>
              <a:t>Laravel</a:t>
            </a:r>
            <a:endParaRPr lang="fr-FR" sz="6400" dirty="0">
              <a:latin typeface="Times New Roman" panose="02020603050405020304" pitchFamily="18" charset="0"/>
              <a:cs typeface="Times New Roman" panose="02020603050405020304" pitchFamily="18" charset="0"/>
            </a:endParaRPr>
          </a:p>
          <a:p>
            <a:pPr marL="400050" lvl="1" indent="0" algn="ctr">
              <a:buNone/>
            </a:pPr>
            <a:r>
              <a:rPr lang="fr-FR" sz="6400" dirty="0">
                <a:solidFill>
                  <a:srgbClr val="00B0F0"/>
                </a:solidFill>
              </a:rPr>
              <a:t>Utilisation des Middleware </a:t>
            </a:r>
          </a:p>
          <a:p>
            <a:pPr marL="400050" lvl="1" indent="0">
              <a:buNone/>
            </a:pPr>
            <a:r>
              <a:rPr lang="fr-FR" sz="6400" dirty="0">
                <a:solidFill>
                  <a:schemeClr val="tx1"/>
                </a:solidFill>
              </a:rPr>
              <a:t>les middlewares chargés par défaut sont dans le </a:t>
            </a:r>
            <a:r>
              <a:rPr lang="fr-FR" sz="6400" dirty="0" err="1">
                <a:solidFill>
                  <a:schemeClr val="tx1"/>
                </a:solidFill>
              </a:rPr>
              <a:t>framework</a:t>
            </a:r>
            <a:r>
              <a:rPr lang="fr-FR" sz="6400" dirty="0">
                <a:solidFill>
                  <a:schemeClr val="tx1"/>
                </a:solidFill>
              </a:rPr>
              <a:t>, dans </a:t>
            </a:r>
            <a:r>
              <a:rPr lang="fr-FR" sz="6400" b="1" dirty="0" err="1">
                <a:solidFill>
                  <a:schemeClr val="tx1"/>
                </a:solidFill>
              </a:rPr>
              <a:t>Illuminate</a:t>
            </a:r>
            <a:r>
              <a:rPr lang="fr-FR" sz="6400" b="1" dirty="0">
                <a:solidFill>
                  <a:schemeClr val="tx1"/>
                </a:solidFill>
              </a:rPr>
              <a:t>/</a:t>
            </a:r>
            <a:r>
              <a:rPr lang="fr-FR" sz="6400" b="1" dirty="0" err="1">
                <a:solidFill>
                  <a:schemeClr val="tx1"/>
                </a:solidFill>
              </a:rPr>
              <a:t>Foundation</a:t>
            </a:r>
            <a:r>
              <a:rPr lang="fr-FR" sz="6400" b="1" dirty="0">
                <a:solidFill>
                  <a:schemeClr val="tx1"/>
                </a:solidFill>
              </a:rPr>
              <a:t>/Configuration/</a:t>
            </a:r>
            <a:r>
              <a:rPr lang="fr-FR" sz="6400" b="1" dirty="0" err="1">
                <a:solidFill>
                  <a:schemeClr val="tx1"/>
                </a:solidFill>
              </a:rPr>
              <a:t>Middleware.php</a:t>
            </a:r>
            <a:r>
              <a:rPr lang="fr-FR" sz="6400" dirty="0">
                <a:solidFill>
                  <a:schemeClr val="tx1"/>
                </a:solidFill>
              </a:rPr>
              <a:t> :</a:t>
            </a:r>
          </a:p>
          <a:p>
            <a:pPr marL="400050" lvl="1" indent="0" algn="ctr">
              <a:buNone/>
            </a:pPr>
            <a:endParaRPr lang="fr-FR" sz="1800" dirty="0">
              <a:solidFill>
                <a:schemeClr val="tx1"/>
              </a:solidFill>
            </a:endParaRPr>
          </a:p>
          <a:p>
            <a:pPr marL="0" indent="0">
              <a:buNone/>
            </a:pPr>
            <a:r>
              <a:rPr lang="fr-FR" sz="3500" dirty="0">
                <a:solidFill>
                  <a:srgbClr val="0000FF"/>
                </a:solidFill>
                <a:latin typeface="Consolas" panose="020B0609020204030204" pitchFamily="49" charset="0"/>
              </a:rPr>
              <a:t> </a:t>
            </a:r>
          </a:p>
          <a:p>
            <a:pPr marL="0" indent="0">
              <a:buNone/>
            </a:pPr>
            <a:r>
              <a:rPr lang="fr-FR" sz="5200" dirty="0">
                <a:solidFill>
                  <a:srgbClr val="0000FF"/>
                </a:solidFill>
                <a:latin typeface="Consolas" panose="020B0609020204030204" pitchFamily="49" charset="0"/>
              </a:rPr>
              <a:t>   public</a:t>
            </a:r>
            <a:r>
              <a:rPr lang="fr-FR" sz="5200" dirty="0">
                <a:solidFill>
                  <a:srgbClr val="000000"/>
                </a:solidFill>
                <a:latin typeface="Consolas" panose="020B0609020204030204" pitchFamily="49" charset="0"/>
              </a:rPr>
              <a:t> </a:t>
            </a:r>
            <a:r>
              <a:rPr lang="fr-FR" sz="5200" dirty="0" err="1">
                <a:solidFill>
                  <a:srgbClr val="0000FF"/>
                </a:solidFill>
                <a:latin typeface="Consolas" panose="020B0609020204030204" pitchFamily="49" charset="0"/>
              </a:rPr>
              <a:t>function</a:t>
            </a:r>
            <a:r>
              <a:rPr lang="fr-FR" sz="5200" dirty="0">
                <a:solidFill>
                  <a:srgbClr val="000000"/>
                </a:solidFill>
                <a:latin typeface="Consolas" panose="020B0609020204030204" pitchFamily="49" charset="0"/>
              </a:rPr>
              <a:t> </a:t>
            </a:r>
            <a:r>
              <a:rPr lang="fr-FR" sz="5200" dirty="0" err="1">
                <a:solidFill>
                  <a:srgbClr val="795E26"/>
                </a:solidFill>
                <a:latin typeface="Consolas" panose="020B0609020204030204" pitchFamily="49" charset="0"/>
              </a:rPr>
              <a:t>getMiddlewareGroups</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p>
          <a:p>
            <a:pPr marL="0" indent="0">
              <a:buNone/>
            </a:pPr>
            <a:r>
              <a:rPr lang="fr-FR" sz="5200" dirty="0">
                <a:solidFill>
                  <a:srgbClr val="000000"/>
                </a:solidFill>
                <a:latin typeface="Consolas" panose="020B0609020204030204" pitchFamily="49" charset="0"/>
              </a:rPr>
              <a:t>        </a:t>
            </a:r>
            <a:r>
              <a:rPr lang="fr-FR" sz="5200" dirty="0">
                <a:solidFill>
                  <a:srgbClr val="001080"/>
                </a:solidFill>
                <a:latin typeface="Consolas" panose="020B0609020204030204" pitchFamily="49" charset="0"/>
              </a:rPr>
              <a:t>$middleware</a:t>
            </a:r>
            <a:r>
              <a:rPr lang="fr-FR" sz="5200" dirty="0">
                <a:solidFill>
                  <a:srgbClr val="000000"/>
                </a:solidFill>
                <a:latin typeface="Consolas" panose="020B0609020204030204" pitchFamily="49" charset="0"/>
              </a:rPr>
              <a:t> = [</a:t>
            </a:r>
          </a:p>
          <a:p>
            <a:pPr marL="0" indent="0">
              <a:buNone/>
            </a:pPr>
            <a:r>
              <a:rPr lang="fr-FR" sz="5200" dirty="0">
                <a:solidFill>
                  <a:srgbClr val="000000"/>
                </a:solidFill>
                <a:latin typeface="Consolas" panose="020B0609020204030204" pitchFamily="49" charset="0"/>
              </a:rPr>
              <a:t>            </a:t>
            </a:r>
            <a:r>
              <a:rPr lang="fr-FR" sz="5200" dirty="0">
                <a:solidFill>
                  <a:srgbClr val="A31515"/>
                </a:solidFill>
                <a:latin typeface="Consolas" panose="020B0609020204030204" pitchFamily="49" charset="0"/>
              </a:rPr>
              <a:t>'web'</a:t>
            </a:r>
            <a:r>
              <a:rPr lang="fr-FR" sz="5200" dirty="0">
                <a:solidFill>
                  <a:srgbClr val="000000"/>
                </a:solidFill>
                <a:latin typeface="Consolas" panose="020B0609020204030204" pitchFamily="49" charset="0"/>
              </a:rPr>
              <a:t> =&gt; </a:t>
            </a:r>
            <a:r>
              <a:rPr lang="fr-FR" sz="5200" dirty="0" err="1">
                <a:solidFill>
                  <a:srgbClr val="795E26"/>
                </a:solidFill>
                <a:latin typeface="Consolas" panose="020B0609020204030204" pitchFamily="49" charset="0"/>
              </a:rPr>
              <a:t>array_values</a:t>
            </a:r>
            <a:r>
              <a:rPr lang="fr-FR" sz="5200" dirty="0">
                <a:solidFill>
                  <a:srgbClr val="000000"/>
                </a:solidFill>
                <a:latin typeface="Consolas" panose="020B0609020204030204" pitchFamily="49" charset="0"/>
              </a:rPr>
              <a:t>(</a:t>
            </a:r>
            <a:r>
              <a:rPr lang="fr-FR" sz="5200" dirty="0" err="1">
                <a:solidFill>
                  <a:srgbClr val="795E26"/>
                </a:solidFill>
                <a:latin typeface="Consolas" panose="020B0609020204030204" pitchFamily="49" charset="0"/>
              </a:rPr>
              <a:t>array_filter</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r>
              <a:rPr lang="fr-FR" sz="5200" dirty="0" err="1">
                <a:solidFill>
                  <a:srgbClr val="000000"/>
                </a:solidFill>
                <a:latin typeface="Consolas" panose="020B0609020204030204" pitchFamily="49" charset="0"/>
              </a:rPr>
              <a:t>Illuminate</a:t>
            </a:r>
            <a:r>
              <a:rPr lang="fr-FR" sz="5200" dirty="0">
                <a:solidFill>
                  <a:srgbClr val="000000"/>
                </a:solidFill>
                <a:latin typeface="Consolas" panose="020B0609020204030204" pitchFamily="49" charset="0"/>
              </a:rPr>
              <a:t>\Cookie\Middleware\</a:t>
            </a:r>
            <a:r>
              <a:rPr lang="fr-FR" sz="5200" dirty="0" err="1">
                <a:solidFill>
                  <a:srgbClr val="267F99"/>
                </a:solidFill>
                <a:latin typeface="Consolas" panose="020B0609020204030204" pitchFamily="49" charset="0"/>
              </a:rPr>
              <a:t>EncryptCookies</a:t>
            </a:r>
            <a:r>
              <a:rPr lang="fr-FR" sz="5200" dirty="0">
                <a:solidFill>
                  <a:srgbClr val="000000"/>
                </a:solidFill>
                <a:latin typeface="Consolas" panose="020B0609020204030204" pitchFamily="49" charset="0"/>
              </a:rPr>
              <a:t>::</a:t>
            </a:r>
            <a:r>
              <a:rPr lang="fr-FR" sz="5200" dirty="0">
                <a:solidFill>
                  <a:srgbClr val="0000FF"/>
                </a:solidFill>
                <a:latin typeface="Consolas" panose="020B0609020204030204" pitchFamily="49" charset="0"/>
              </a:rPr>
              <a:t>class</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r>
              <a:rPr lang="fr-FR" sz="5200" dirty="0" err="1">
                <a:solidFill>
                  <a:srgbClr val="000000"/>
                </a:solidFill>
                <a:latin typeface="Consolas" panose="020B0609020204030204" pitchFamily="49" charset="0"/>
              </a:rPr>
              <a:t>Illuminate</a:t>
            </a:r>
            <a:r>
              <a:rPr lang="fr-FR" sz="5200" dirty="0">
                <a:solidFill>
                  <a:srgbClr val="000000"/>
                </a:solidFill>
                <a:latin typeface="Consolas" panose="020B0609020204030204" pitchFamily="49" charset="0"/>
              </a:rPr>
              <a:t>\Cookie\Middleware\</a:t>
            </a:r>
            <a:r>
              <a:rPr lang="fr-FR" sz="5200" dirty="0" err="1">
                <a:solidFill>
                  <a:srgbClr val="267F99"/>
                </a:solidFill>
                <a:latin typeface="Consolas" panose="020B0609020204030204" pitchFamily="49" charset="0"/>
              </a:rPr>
              <a:t>AddQueuedCookiesToResponse</a:t>
            </a:r>
            <a:r>
              <a:rPr lang="fr-FR" sz="5200" dirty="0">
                <a:solidFill>
                  <a:srgbClr val="000000"/>
                </a:solidFill>
                <a:latin typeface="Consolas" panose="020B0609020204030204" pitchFamily="49" charset="0"/>
              </a:rPr>
              <a:t>::</a:t>
            </a:r>
            <a:r>
              <a:rPr lang="fr-FR" sz="5200" dirty="0">
                <a:solidFill>
                  <a:srgbClr val="0000FF"/>
                </a:solidFill>
                <a:latin typeface="Consolas" panose="020B0609020204030204" pitchFamily="49" charset="0"/>
              </a:rPr>
              <a:t>class</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r>
              <a:rPr lang="fr-FR" sz="5200" dirty="0" err="1">
                <a:solidFill>
                  <a:srgbClr val="000000"/>
                </a:solidFill>
                <a:latin typeface="Consolas" panose="020B0609020204030204" pitchFamily="49" charset="0"/>
              </a:rPr>
              <a:t>Illuminate</a:t>
            </a:r>
            <a:r>
              <a:rPr lang="fr-FR" sz="5200" dirty="0">
                <a:solidFill>
                  <a:srgbClr val="000000"/>
                </a:solidFill>
                <a:latin typeface="Consolas" panose="020B0609020204030204" pitchFamily="49" charset="0"/>
              </a:rPr>
              <a:t>\Session\Middleware\</a:t>
            </a:r>
            <a:r>
              <a:rPr lang="fr-FR" sz="5200" dirty="0" err="1">
                <a:solidFill>
                  <a:srgbClr val="267F99"/>
                </a:solidFill>
                <a:latin typeface="Consolas" panose="020B0609020204030204" pitchFamily="49" charset="0"/>
              </a:rPr>
              <a:t>StartSession</a:t>
            </a:r>
            <a:r>
              <a:rPr lang="fr-FR" sz="5200" dirty="0">
                <a:solidFill>
                  <a:srgbClr val="000000"/>
                </a:solidFill>
                <a:latin typeface="Consolas" panose="020B0609020204030204" pitchFamily="49" charset="0"/>
              </a:rPr>
              <a:t>::</a:t>
            </a:r>
            <a:r>
              <a:rPr lang="fr-FR" sz="5200" dirty="0">
                <a:solidFill>
                  <a:srgbClr val="0000FF"/>
                </a:solidFill>
                <a:latin typeface="Consolas" panose="020B0609020204030204" pitchFamily="49" charset="0"/>
              </a:rPr>
              <a:t>class</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r>
              <a:rPr lang="fr-FR" sz="5200" dirty="0" err="1">
                <a:solidFill>
                  <a:srgbClr val="000000"/>
                </a:solidFill>
                <a:latin typeface="Consolas" panose="020B0609020204030204" pitchFamily="49" charset="0"/>
              </a:rPr>
              <a:t>Illuminate</a:t>
            </a:r>
            <a:r>
              <a:rPr lang="fr-FR" sz="5200" dirty="0">
                <a:solidFill>
                  <a:srgbClr val="000000"/>
                </a:solidFill>
                <a:latin typeface="Consolas" panose="020B0609020204030204" pitchFamily="49" charset="0"/>
              </a:rPr>
              <a:t>\</a:t>
            </a:r>
            <a:r>
              <a:rPr lang="fr-FR" sz="5200" dirty="0" err="1">
                <a:solidFill>
                  <a:srgbClr val="000000"/>
                </a:solidFill>
                <a:latin typeface="Consolas" panose="020B0609020204030204" pitchFamily="49" charset="0"/>
              </a:rPr>
              <a:t>View</a:t>
            </a:r>
            <a:r>
              <a:rPr lang="fr-FR" sz="5200" dirty="0">
                <a:solidFill>
                  <a:srgbClr val="000000"/>
                </a:solidFill>
                <a:latin typeface="Consolas" panose="020B0609020204030204" pitchFamily="49" charset="0"/>
              </a:rPr>
              <a:t>\Middleware\</a:t>
            </a:r>
            <a:r>
              <a:rPr lang="fr-FR" sz="5200" dirty="0" err="1">
                <a:solidFill>
                  <a:srgbClr val="267F99"/>
                </a:solidFill>
                <a:latin typeface="Consolas" panose="020B0609020204030204" pitchFamily="49" charset="0"/>
              </a:rPr>
              <a:t>ShareErrorsFromSession</a:t>
            </a:r>
            <a:r>
              <a:rPr lang="fr-FR" sz="5200" dirty="0">
                <a:solidFill>
                  <a:srgbClr val="000000"/>
                </a:solidFill>
                <a:latin typeface="Consolas" panose="020B0609020204030204" pitchFamily="49" charset="0"/>
              </a:rPr>
              <a:t>::</a:t>
            </a:r>
            <a:r>
              <a:rPr lang="fr-FR" sz="5200" dirty="0">
                <a:solidFill>
                  <a:srgbClr val="0000FF"/>
                </a:solidFill>
                <a:latin typeface="Consolas" panose="020B0609020204030204" pitchFamily="49" charset="0"/>
              </a:rPr>
              <a:t>class</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r>
              <a:rPr lang="fr-FR" sz="5200" dirty="0" err="1">
                <a:solidFill>
                  <a:srgbClr val="000000"/>
                </a:solidFill>
                <a:latin typeface="Consolas" panose="020B0609020204030204" pitchFamily="49" charset="0"/>
              </a:rPr>
              <a:t>Illuminate</a:t>
            </a:r>
            <a:r>
              <a:rPr lang="fr-FR" sz="5200" dirty="0">
                <a:solidFill>
                  <a:srgbClr val="000000"/>
                </a:solidFill>
                <a:latin typeface="Consolas" panose="020B0609020204030204" pitchFamily="49" charset="0"/>
              </a:rPr>
              <a:t>\</a:t>
            </a:r>
            <a:r>
              <a:rPr lang="fr-FR" sz="5200" dirty="0" err="1">
                <a:solidFill>
                  <a:srgbClr val="000000"/>
                </a:solidFill>
                <a:latin typeface="Consolas" panose="020B0609020204030204" pitchFamily="49" charset="0"/>
              </a:rPr>
              <a:t>Foundation</a:t>
            </a:r>
            <a:r>
              <a:rPr lang="fr-FR" sz="5200" dirty="0">
                <a:solidFill>
                  <a:srgbClr val="000000"/>
                </a:solidFill>
                <a:latin typeface="Consolas" panose="020B0609020204030204" pitchFamily="49" charset="0"/>
              </a:rPr>
              <a:t>\Http\Middleware\</a:t>
            </a:r>
            <a:r>
              <a:rPr lang="fr-FR" sz="5200" dirty="0" err="1">
                <a:solidFill>
                  <a:srgbClr val="267F99"/>
                </a:solidFill>
                <a:latin typeface="Consolas" panose="020B0609020204030204" pitchFamily="49" charset="0"/>
              </a:rPr>
              <a:t>ValidateCsrfToken</a:t>
            </a:r>
            <a:r>
              <a:rPr lang="fr-FR" sz="5200" dirty="0">
                <a:solidFill>
                  <a:srgbClr val="000000"/>
                </a:solidFill>
                <a:latin typeface="Consolas" panose="020B0609020204030204" pitchFamily="49" charset="0"/>
              </a:rPr>
              <a:t>::</a:t>
            </a:r>
            <a:r>
              <a:rPr lang="fr-FR" sz="5200" dirty="0">
                <a:solidFill>
                  <a:srgbClr val="0000FF"/>
                </a:solidFill>
                <a:latin typeface="Consolas" panose="020B0609020204030204" pitchFamily="49" charset="0"/>
              </a:rPr>
              <a:t>class</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r>
              <a:rPr lang="fr-FR" sz="5200" dirty="0" err="1">
                <a:solidFill>
                  <a:srgbClr val="000000"/>
                </a:solidFill>
                <a:latin typeface="Consolas" panose="020B0609020204030204" pitchFamily="49" charset="0"/>
              </a:rPr>
              <a:t>Illuminate</a:t>
            </a:r>
            <a:r>
              <a:rPr lang="fr-FR" sz="5200" dirty="0">
                <a:solidFill>
                  <a:srgbClr val="000000"/>
                </a:solidFill>
                <a:latin typeface="Consolas" panose="020B0609020204030204" pitchFamily="49" charset="0"/>
              </a:rPr>
              <a:t>\</a:t>
            </a:r>
            <a:r>
              <a:rPr lang="fr-FR" sz="5200" dirty="0" err="1">
                <a:solidFill>
                  <a:srgbClr val="000000"/>
                </a:solidFill>
                <a:latin typeface="Consolas" panose="020B0609020204030204" pitchFamily="49" charset="0"/>
              </a:rPr>
              <a:t>Routing</a:t>
            </a:r>
            <a:r>
              <a:rPr lang="fr-FR" sz="5200" dirty="0">
                <a:solidFill>
                  <a:srgbClr val="000000"/>
                </a:solidFill>
                <a:latin typeface="Consolas" panose="020B0609020204030204" pitchFamily="49" charset="0"/>
              </a:rPr>
              <a:t>\Middleware\</a:t>
            </a:r>
            <a:r>
              <a:rPr lang="fr-FR" sz="5200" dirty="0" err="1">
                <a:solidFill>
                  <a:srgbClr val="267F99"/>
                </a:solidFill>
                <a:latin typeface="Consolas" panose="020B0609020204030204" pitchFamily="49" charset="0"/>
              </a:rPr>
              <a:t>SubstituteBindings</a:t>
            </a:r>
            <a:r>
              <a:rPr lang="fr-FR" sz="5200" dirty="0">
                <a:solidFill>
                  <a:srgbClr val="000000"/>
                </a:solidFill>
                <a:latin typeface="Consolas" panose="020B0609020204030204" pitchFamily="49" charset="0"/>
              </a:rPr>
              <a:t>::</a:t>
            </a:r>
            <a:r>
              <a:rPr lang="fr-FR" sz="5200" dirty="0">
                <a:solidFill>
                  <a:srgbClr val="0000FF"/>
                </a:solidFill>
                <a:latin typeface="Consolas" panose="020B0609020204030204" pitchFamily="49" charset="0"/>
              </a:rPr>
              <a:t>class</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r>
              <a:rPr lang="fr-FR" sz="5200" dirty="0">
                <a:solidFill>
                  <a:srgbClr val="0000FF"/>
                </a:solidFill>
                <a:latin typeface="Consolas" panose="020B0609020204030204" pitchFamily="49" charset="0"/>
              </a:rPr>
              <a:t>$</a:t>
            </a:r>
            <a:r>
              <a:rPr lang="fr-FR" sz="5200" dirty="0" err="1">
                <a:solidFill>
                  <a:srgbClr val="0000FF"/>
                </a:solidFill>
                <a:latin typeface="Consolas" panose="020B0609020204030204" pitchFamily="49" charset="0"/>
              </a:rPr>
              <a:t>this</a:t>
            </a:r>
            <a:r>
              <a:rPr lang="fr-FR" sz="5200" dirty="0">
                <a:solidFill>
                  <a:srgbClr val="000000"/>
                </a:solidFill>
                <a:latin typeface="Consolas" panose="020B0609020204030204" pitchFamily="49" charset="0"/>
              </a:rPr>
              <a:t>-&gt;</a:t>
            </a:r>
            <a:r>
              <a:rPr lang="fr-FR" sz="5200" dirty="0" err="1">
                <a:solidFill>
                  <a:srgbClr val="001080"/>
                </a:solidFill>
                <a:latin typeface="Consolas" panose="020B0609020204030204" pitchFamily="49" charset="0"/>
              </a:rPr>
              <a:t>authenticatedSessions</a:t>
            </a:r>
            <a:r>
              <a:rPr lang="fr-FR" sz="5200" dirty="0">
                <a:solidFill>
                  <a:srgbClr val="000000"/>
                </a:solidFill>
                <a:latin typeface="Consolas" panose="020B0609020204030204" pitchFamily="49" charset="0"/>
              </a:rPr>
              <a:t> ? </a:t>
            </a:r>
            <a:r>
              <a:rPr lang="fr-FR" sz="5200" dirty="0">
                <a:solidFill>
                  <a:srgbClr val="A31515"/>
                </a:solidFill>
                <a:latin typeface="Consolas" panose="020B0609020204030204" pitchFamily="49" charset="0"/>
              </a:rPr>
              <a:t>'</a:t>
            </a:r>
            <a:r>
              <a:rPr lang="fr-FR" sz="5200" dirty="0" err="1">
                <a:solidFill>
                  <a:srgbClr val="A31515"/>
                </a:solidFill>
                <a:latin typeface="Consolas" panose="020B0609020204030204" pitchFamily="49" charset="0"/>
              </a:rPr>
              <a:t>auth.session</a:t>
            </a:r>
            <a:r>
              <a:rPr lang="fr-FR" sz="5200" dirty="0">
                <a:solidFill>
                  <a:srgbClr val="A31515"/>
                </a:solidFill>
                <a:latin typeface="Consolas" panose="020B0609020204030204" pitchFamily="49" charset="0"/>
              </a:rPr>
              <a:t>'</a:t>
            </a:r>
            <a:r>
              <a:rPr lang="fr-FR" sz="5200" dirty="0">
                <a:solidFill>
                  <a:srgbClr val="000000"/>
                </a:solidFill>
                <a:latin typeface="Consolas" panose="020B0609020204030204" pitchFamily="49" charset="0"/>
              </a:rPr>
              <a:t> : </a:t>
            </a:r>
            <a:r>
              <a:rPr lang="fr-FR" sz="5200" dirty="0" err="1">
                <a:solidFill>
                  <a:srgbClr val="0000FF"/>
                </a:solidFill>
                <a:latin typeface="Consolas" panose="020B0609020204030204" pitchFamily="49" charset="0"/>
              </a:rPr>
              <a:t>null</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p>
          <a:p>
            <a:pPr marL="0" indent="0">
              <a:buNone/>
            </a:pPr>
            <a:br>
              <a:rPr lang="fr-FR" sz="5200" dirty="0">
                <a:solidFill>
                  <a:srgbClr val="000000"/>
                </a:solidFill>
                <a:latin typeface="Consolas" panose="020B0609020204030204" pitchFamily="49" charset="0"/>
              </a:rPr>
            </a:br>
            <a:r>
              <a:rPr lang="fr-FR" sz="5200" dirty="0">
                <a:solidFill>
                  <a:srgbClr val="000000"/>
                </a:solidFill>
                <a:latin typeface="Consolas" panose="020B0609020204030204" pitchFamily="49" charset="0"/>
              </a:rPr>
              <a:t>            </a:t>
            </a:r>
            <a:r>
              <a:rPr lang="fr-FR" sz="5200" dirty="0">
                <a:solidFill>
                  <a:srgbClr val="A31515"/>
                </a:solidFill>
                <a:latin typeface="Consolas" panose="020B0609020204030204" pitchFamily="49" charset="0"/>
              </a:rPr>
              <a:t>'api'</a:t>
            </a:r>
            <a:r>
              <a:rPr lang="fr-FR" sz="5200" dirty="0">
                <a:solidFill>
                  <a:srgbClr val="000000"/>
                </a:solidFill>
                <a:latin typeface="Consolas" panose="020B0609020204030204" pitchFamily="49" charset="0"/>
              </a:rPr>
              <a:t> =&gt; </a:t>
            </a:r>
            <a:r>
              <a:rPr lang="fr-FR" sz="5200" dirty="0" err="1">
                <a:solidFill>
                  <a:srgbClr val="795E26"/>
                </a:solidFill>
                <a:latin typeface="Consolas" panose="020B0609020204030204" pitchFamily="49" charset="0"/>
              </a:rPr>
              <a:t>array_values</a:t>
            </a:r>
            <a:r>
              <a:rPr lang="fr-FR" sz="5200" dirty="0">
                <a:solidFill>
                  <a:srgbClr val="000000"/>
                </a:solidFill>
                <a:latin typeface="Consolas" panose="020B0609020204030204" pitchFamily="49" charset="0"/>
              </a:rPr>
              <a:t>(</a:t>
            </a:r>
            <a:r>
              <a:rPr lang="fr-FR" sz="5200" dirty="0" err="1">
                <a:solidFill>
                  <a:srgbClr val="795E26"/>
                </a:solidFill>
                <a:latin typeface="Consolas" panose="020B0609020204030204" pitchFamily="49" charset="0"/>
              </a:rPr>
              <a:t>array_filter</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r>
              <a:rPr lang="fr-FR" sz="5200" dirty="0">
                <a:solidFill>
                  <a:srgbClr val="0000FF"/>
                </a:solidFill>
                <a:latin typeface="Consolas" panose="020B0609020204030204" pitchFamily="49" charset="0"/>
              </a:rPr>
              <a:t>$</a:t>
            </a:r>
            <a:r>
              <a:rPr lang="fr-FR" sz="5200" dirty="0" err="1">
                <a:solidFill>
                  <a:srgbClr val="0000FF"/>
                </a:solidFill>
                <a:latin typeface="Consolas" panose="020B0609020204030204" pitchFamily="49" charset="0"/>
              </a:rPr>
              <a:t>this</a:t>
            </a:r>
            <a:r>
              <a:rPr lang="fr-FR" sz="5200" dirty="0">
                <a:solidFill>
                  <a:srgbClr val="000000"/>
                </a:solidFill>
                <a:latin typeface="Consolas" panose="020B0609020204030204" pitchFamily="49" charset="0"/>
              </a:rPr>
              <a:t>-&gt;</a:t>
            </a:r>
            <a:r>
              <a:rPr lang="fr-FR" sz="5200" dirty="0" err="1">
                <a:solidFill>
                  <a:srgbClr val="001080"/>
                </a:solidFill>
                <a:latin typeface="Consolas" panose="020B0609020204030204" pitchFamily="49" charset="0"/>
              </a:rPr>
              <a:t>statefulApi</a:t>
            </a:r>
            <a:r>
              <a:rPr lang="fr-FR" sz="5200" dirty="0">
                <a:solidFill>
                  <a:srgbClr val="000000"/>
                </a:solidFill>
                <a:latin typeface="Consolas" panose="020B0609020204030204" pitchFamily="49" charset="0"/>
              </a:rPr>
              <a:t> ? \</a:t>
            </a:r>
            <a:r>
              <a:rPr lang="fr-FR" sz="5200" dirty="0" err="1">
                <a:solidFill>
                  <a:srgbClr val="000000"/>
                </a:solidFill>
                <a:latin typeface="Consolas" panose="020B0609020204030204" pitchFamily="49" charset="0"/>
              </a:rPr>
              <a:t>Laravel</a:t>
            </a:r>
            <a:r>
              <a:rPr lang="fr-FR" sz="5200" dirty="0">
                <a:solidFill>
                  <a:srgbClr val="000000"/>
                </a:solidFill>
                <a:latin typeface="Consolas" panose="020B0609020204030204" pitchFamily="49" charset="0"/>
              </a:rPr>
              <a:t>\</a:t>
            </a:r>
            <a:r>
              <a:rPr lang="fr-FR" sz="5200" dirty="0" err="1">
                <a:solidFill>
                  <a:srgbClr val="000000"/>
                </a:solidFill>
                <a:latin typeface="Consolas" panose="020B0609020204030204" pitchFamily="49" charset="0"/>
              </a:rPr>
              <a:t>Sanctum</a:t>
            </a:r>
            <a:r>
              <a:rPr lang="fr-FR" sz="5200" dirty="0">
                <a:solidFill>
                  <a:srgbClr val="000000"/>
                </a:solidFill>
                <a:latin typeface="Consolas" panose="020B0609020204030204" pitchFamily="49" charset="0"/>
              </a:rPr>
              <a:t>\Http\Middleware\</a:t>
            </a:r>
            <a:r>
              <a:rPr lang="fr-FR" sz="5200" dirty="0" err="1">
                <a:solidFill>
                  <a:srgbClr val="267F99"/>
                </a:solidFill>
                <a:latin typeface="Consolas" panose="020B0609020204030204" pitchFamily="49" charset="0"/>
              </a:rPr>
              <a:t>EnsureFrontendRequestsAreStateful</a:t>
            </a:r>
            <a:r>
              <a:rPr lang="fr-FR" sz="5200" dirty="0">
                <a:solidFill>
                  <a:srgbClr val="000000"/>
                </a:solidFill>
                <a:latin typeface="Consolas" panose="020B0609020204030204" pitchFamily="49" charset="0"/>
              </a:rPr>
              <a:t>::</a:t>
            </a:r>
            <a:r>
              <a:rPr lang="fr-FR" sz="5200" dirty="0">
                <a:solidFill>
                  <a:srgbClr val="0000FF"/>
                </a:solidFill>
                <a:latin typeface="Consolas" panose="020B0609020204030204" pitchFamily="49" charset="0"/>
              </a:rPr>
              <a:t>class</a:t>
            </a:r>
            <a:r>
              <a:rPr lang="fr-FR" sz="5200" dirty="0">
                <a:solidFill>
                  <a:srgbClr val="000000"/>
                </a:solidFill>
                <a:latin typeface="Consolas" panose="020B0609020204030204" pitchFamily="49" charset="0"/>
              </a:rPr>
              <a:t> : </a:t>
            </a:r>
            <a:r>
              <a:rPr lang="fr-FR" sz="5200" dirty="0" err="1">
                <a:solidFill>
                  <a:srgbClr val="0000FF"/>
                </a:solidFill>
                <a:latin typeface="Consolas" panose="020B0609020204030204" pitchFamily="49" charset="0"/>
              </a:rPr>
              <a:t>null</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r>
              <a:rPr lang="fr-FR" sz="5200" dirty="0">
                <a:solidFill>
                  <a:srgbClr val="0000FF"/>
                </a:solidFill>
                <a:latin typeface="Consolas" panose="020B0609020204030204" pitchFamily="49" charset="0"/>
              </a:rPr>
              <a:t>$</a:t>
            </a:r>
            <a:r>
              <a:rPr lang="fr-FR" sz="5200" dirty="0" err="1">
                <a:solidFill>
                  <a:srgbClr val="0000FF"/>
                </a:solidFill>
                <a:latin typeface="Consolas" panose="020B0609020204030204" pitchFamily="49" charset="0"/>
              </a:rPr>
              <a:t>this</a:t>
            </a:r>
            <a:r>
              <a:rPr lang="fr-FR" sz="5200" dirty="0">
                <a:solidFill>
                  <a:srgbClr val="000000"/>
                </a:solidFill>
                <a:latin typeface="Consolas" panose="020B0609020204030204" pitchFamily="49" charset="0"/>
              </a:rPr>
              <a:t>-&gt;</a:t>
            </a:r>
            <a:r>
              <a:rPr lang="fr-FR" sz="5200" dirty="0" err="1">
                <a:solidFill>
                  <a:srgbClr val="001080"/>
                </a:solidFill>
                <a:latin typeface="Consolas" panose="020B0609020204030204" pitchFamily="49" charset="0"/>
              </a:rPr>
              <a:t>apiLimiter</a:t>
            </a:r>
            <a:r>
              <a:rPr lang="fr-FR" sz="5200" dirty="0">
                <a:solidFill>
                  <a:srgbClr val="000000"/>
                </a:solidFill>
                <a:latin typeface="Consolas" panose="020B0609020204030204" pitchFamily="49" charset="0"/>
              </a:rPr>
              <a:t> ? </a:t>
            </a:r>
            <a:r>
              <a:rPr lang="fr-FR" sz="5200" dirty="0">
                <a:solidFill>
                  <a:srgbClr val="A31515"/>
                </a:solidFill>
                <a:latin typeface="Consolas" panose="020B0609020204030204" pitchFamily="49" charset="0"/>
              </a:rPr>
              <a:t>'</a:t>
            </a:r>
            <a:r>
              <a:rPr lang="fr-FR" sz="5200" dirty="0" err="1">
                <a:solidFill>
                  <a:srgbClr val="A31515"/>
                </a:solidFill>
                <a:latin typeface="Consolas" panose="020B0609020204030204" pitchFamily="49" charset="0"/>
              </a:rPr>
              <a:t>throttle</a:t>
            </a:r>
            <a:r>
              <a:rPr lang="fr-FR" sz="5200" dirty="0">
                <a:solidFill>
                  <a:srgbClr val="A31515"/>
                </a:solidFill>
                <a:latin typeface="Consolas" panose="020B0609020204030204" pitchFamily="49" charset="0"/>
              </a:rPr>
              <a:t>:'</a:t>
            </a:r>
            <a:r>
              <a:rPr lang="fr-FR" sz="5200" dirty="0">
                <a:solidFill>
                  <a:srgbClr val="000000"/>
                </a:solidFill>
                <a:latin typeface="Consolas" panose="020B0609020204030204" pitchFamily="49" charset="0"/>
              </a:rPr>
              <a:t>.</a:t>
            </a:r>
            <a:r>
              <a:rPr lang="fr-FR" sz="5200" dirty="0">
                <a:solidFill>
                  <a:srgbClr val="0000FF"/>
                </a:solidFill>
                <a:latin typeface="Consolas" panose="020B0609020204030204" pitchFamily="49" charset="0"/>
              </a:rPr>
              <a:t>$</a:t>
            </a:r>
            <a:r>
              <a:rPr lang="fr-FR" sz="5200" dirty="0" err="1">
                <a:solidFill>
                  <a:srgbClr val="0000FF"/>
                </a:solidFill>
                <a:latin typeface="Consolas" panose="020B0609020204030204" pitchFamily="49" charset="0"/>
              </a:rPr>
              <a:t>this</a:t>
            </a:r>
            <a:r>
              <a:rPr lang="fr-FR" sz="5200" dirty="0">
                <a:solidFill>
                  <a:srgbClr val="000000"/>
                </a:solidFill>
                <a:latin typeface="Consolas" panose="020B0609020204030204" pitchFamily="49" charset="0"/>
              </a:rPr>
              <a:t>-&gt;</a:t>
            </a:r>
            <a:r>
              <a:rPr lang="fr-FR" sz="5200" dirty="0" err="1">
                <a:solidFill>
                  <a:srgbClr val="001080"/>
                </a:solidFill>
                <a:latin typeface="Consolas" panose="020B0609020204030204" pitchFamily="49" charset="0"/>
              </a:rPr>
              <a:t>apiLimiter</a:t>
            </a:r>
            <a:r>
              <a:rPr lang="fr-FR" sz="5200" dirty="0">
                <a:solidFill>
                  <a:srgbClr val="000000"/>
                </a:solidFill>
                <a:latin typeface="Consolas" panose="020B0609020204030204" pitchFamily="49" charset="0"/>
              </a:rPr>
              <a:t> : </a:t>
            </a:r>
            <a:r>
              <a:rPr lang="fr-FR" sz="5200" dirty="0" err="1">
                <a:solidFill>
                  <a:srgbClr val="0000FF"/>
                </a:solidFill>
                <a:latin typeface="Consolas" panose="020B0609020204030204" pitchFamily="49" charset="0"/>
              </a:rPr>
              <a:t>null</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r>
              <a:rPr lang="fr-FR" sz="5200" dirty="0" err="1">
                <a:solidFill>
                  <a:srgbClr val="000000"/>
                </a:solidFill>
                <a:latin typeface="Consolas" panose="020B0609020204030204" pitchFamily="49" charset="0"/>
              </a:rPr>
              <a:t>Illuminate</a:t>
            </a:r>
            <a:r>
              <a:rPr lang="fr-FR" sz="5200" dirty="0">
                <a:solidFill>
                  <a:srgbClr val="000000"/>
                </a:solidFill>
                <a:latin typeface="Consolas" panose="020B0609020204030204" pitchFamily="49" charset="0"/>
              </a:rPr>
              <a:t>\</a:t>
            </a:r>
            <a:r>
              <a:rPr lang="fr-FR" sz="5200" dirty="0" err="1">
                <a:solidFill>
                  <a:srgbClr val="000000"/>
                </a:solidFill>
                <a:latin typeface="Consolas" panose="020B0609020204030204" pitchFamily="49" charset="0"/>
              </a:rPr>
              <a:t>Routing</a:t>
            </a:r>
            <a:r>
              <a:rPr lang="fr-FR" sz="5200" dirty="0">
                <a:solidFill>
                  <a:srgbClr val="000000"/>
                </a:solidFill>
                <a:latin typeface="Consolas" panose="020B0609020204030204" pitchFamily="49" charset="0"/>
              </a:rPr>
              <a:t>\Middleware\</a:t>
            </a:r>
            <a:r>
              <a:rPr lang="fr-FR" sz="5200" dirty="0" err="1">
                <a:solidFill>
                  <a:srgbClr val="267F99"/>
                </a:solidFill>
                <a:latin typeface="Consolas" panose="020B0609020204030204" pitchFamily="49" charset="0"/>
              </a:rPr>
              <a:t>SubstituteBindings</a:t>
            </a:r>
            <a:r>
              <a:rPr lang="fr-FR" sz="5200" dirty="0">
                <a:solidFill>
                  <a:srgbClr val="000000"/>
                </a:solidFill>
                <a:latin typeface="Consolas" panose="020B0609020204030204" pitchFamily="49" charset="0"/>
              </a:rPr>
              <a:t>::</a:t>
            </a:r>
            <a:r>
              <a:rPr lang="fr-FR" sz="5200" dirty="0">
                <a:solidFill>
                  <a:srgbClr val="0000FF"/>
                </a:solidFill>
                <a:latin typeface="Consolas" panose="020B0609020204030204" pitchFamily="49" charset="0"/>
              </a:rPr>
              <a:t>class</a:t>
            </a:r>
            <a:r>
              <a:rPr lang="fr-FR" sz="5200" dirty="0">
                <a:solidFill>
                  <a:srgbClr val="000000"/>
                </a:solidFill>
                <a:latin typeface="Consolas" panose="020B0609020204030204" pitchFamily="49" charset="0"/>
              </a:rPr>
              <a:t>,</a:t>
            </a:r>
          </a:p>
          <a:p>
            <a:pPr marL="0" indent="0">
              <a:buNone/>
            </a:pPr>
            <a:r>
              <a:rPr lang="fr-FR" sz="5200" dirty="0">
                <a:solidFill>
                  <a:srgbClr val="000000"/>
                </a:solidFill>
                <a:latin typeface="Consolas" panose="020B0609020204030204" pitchFamily="49" charset="0"/>
              </a:rPr>
              <a:t>            ])),</a:t>
            </a:r>
          </a:p>
          <a:p>
            <a:pPr marL="0" indent="0">
              <a:buNone/>
            </a:pPr>
            <a:r>
              <a:rPr lang="fr-FR" sz="5200" dirty="0">
                <a:solidFill>
                  <a:srgbClr val="000000"/>
                </a:solidFill>
                <a:latin typeface="Consolas" panose="020B0609020204030204" pitchFamily="49" charset="0"/>
              </a:rPr>
              <a:t>        ];</a:t>
            </a:r>
          </a:p>
          <a:p>
            <a:pPr marL="400050" lvl="1" indent="0">
              <a:buNone/>
            </a:pPr>
            <a:endParaRPr lang="fr-FR" sz="20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6" name="Rectangle 5">
            <a:extLst>
              <a:ext uri="{FF2B5EF4-FFF2-40B4-BE49-F238E27FC236}">
                <a16:creationId xmlns:a16="http://schemas.microsoft.com/office/drawing/2014/main" id="{53569881-323A-47E8-A98D-89961CA9F1CD}"/>
              </a:ext>
            </a:extLst>
          </p:cNvPr>
          <p:cNvSpPr/>
          <p:nvPr/>
        </p:nvSpPr>
        <p:spPr>
          <a:xfrm>
            <a:off x="598181" y="2564903"/>
            <a:ext cx="7934259" cy="3960441"/>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0457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Utilisation des Middleware </a:t>
            </a:r>
          </a:p>
          <a:p>
            <a:pPr marL="400050" lvl="1" indent="0" algn="ctr">
              <a:buNone/>
            </a:pPr>
            <a:r>
              <a:rPr lang="fr-FR" sz="1900" b="1" dirty="0">
                <a:solidFill>
                  <a:schemeClr val="tx1"/>
                </a:solidFill>
              </a:rPr>
              <a:t>(définition, enregistrement, paramétrage, terminate)</a:t>
            </a:r>
          </a:p>
          <a:p>
            <a:pPr lvl="2">
              <a:buFont typeface="Wingdings" panose="05000000000000000000" pitchFamily="2" charset="2"/>
              <a:buChar char="ü"/>
            </a:pPr>
            <a:r>
              <a:rPr lang="fr-FR" sz="2200" dirty="0">
                <a:solidFill>
                  <a:srgbClr val="00B0F0"/>
                </a:solidFill>
              </a:rPr>
              <a:t>Créer middleware</a:t>
            </a:r>
            <a:endParaRPr lang="fr-FR" sz="2200" dirty="0">
              <a:solidFill>
                <a:srgbClr val="C00000"/>
              </a:solidFill>
              <a:latin typeface="Times New Roman" panose="02020603050405020304" pitchFamily="18" charset="0"/>
              <a:cs typeface="Times New Roman" panose="02020603050405020304" pitchFamily="18" charset="0"/>
            </a:endParaRPr>
          </a:p>
          <a:p>
            <a:pPr marL="0" lvl="0" indent="0">
              <a:buNone/>
            </a:pPr>
            <a:r>
              <a:rPr lang="fr-FR" sz="1700"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La façon la plus simple de créer un middleware est d’utiliser Artisan. Appeler la commande </a:t>
            </a:r>
            <a:r>
              <a:rPr lang="fr-FR" sz="2000" b="1" dirty="0">
                <a:latin typeface="Times New Roman" panose="02020603050405020304" pitchFamily="18" charset="0"/>
                <a:cs typeface="Times New Roman" panose="02020603050405020304" pitchFamily="18" charset="0"/>
              </a:rPr>
              <a:t>make:middleware </a:t>
            </a:r>
            <a:r>
              <a:rPr lang="fr-FR" sz="2000" dirty="0">
                <a:latin typeface="Times New Roman" panose="02020603050405020304" pitchFamily="18" charset="0"/>
                <a:cs typeface="Times New Roman" panose="02020603050405020304" pitchFamily="18" charset="0"/>
              </a:rPr>
              <a:t>a pour effet de créer une structure de base de middleware </a:t>
            </a:r>
            <a:r>
              <a:rPr lang="fr-FR" sz="2100" dirty="0">
                <a:latin typeface="Times New Roman" panose="02020603050405020304" pitchFamily="18" charset="0"/>
                <a:cs typeface="Times New Roman" panose="02020603050405020304" pitchFamily="18" charset="0"/>
              </a:rPr>
              <a:t>dans le dossier réservé </a:t>
            </a:r>
            <a:r>
              <a:rPr lang="fr-FR" sz="2000" dirty="0">
                <a:latin typeface="Times New Roman" panose="02020603050405020304" pitchFamily="18" charset="0"/>
                <a:cs typeface="Times New Roman" panose="02020603050405020304" pitchFamily="18" charset="0"/>
              </a:rPr>
              <a:t>à cet usage : </a:t>
            </a:r>
            <a:r>
              <a:rPr lang="fr-FR" sz="2000" b="1" dirty="0">
                <a:latin typeface="Times New Roman" panose="02020603050405020304" pitchFamily="18" charset="0"/>
                <a:cs typeface="Times New Roman" panose="02020603050405020304" pitchFamily="18" charset="0"/>
              </a:rPr>
              <a:t>app/Http/Middleware</a:t>
            </a:r>
            <a:r>
              <a:rPr lang="fr-FR" sz="2000" dirty="0">
                <a:latin typeface="Times New Roman" panose="02020603050405020304" pitchFamily="18" charset="0"/>
                <a:cs typeface="Times New Roman" panose="02020603050405020304" pitchFamily="18" charset="0"/>
              </a:rPr>
              <a:t>.</a:t>
            </a: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r>
              <a:rPr lang="fr-FR" sz="2100" dirty="0">
                <a:latin typeface="Times New Roman" panose="02020603050405020304" pitchFamily="18" charset="0"/>
                <a:cs typeface="Times New Roman" panose="02020603050405020304" pitchFamily="18" charset="0"/>
              </a:rPr>
              <a:t>Cette commande placera une nouvelle classe </a:t>
            </a:r>
            <a:r>
              <a:rPr lang="fr-FR" sz="2100" b="1" dirty="0" err="1">
                <a:latin typeface="Times New Roman" panose="02020603050405020304" pitchFamily="18" charset="0"/>
                <a:cs typeface="Times New Roman" panose="02020603050405020304" pitchFamily="18" charset="0"/>
              </a:rPr>
              <a:t>NomMiddleware</a:t>
            </a:r>
            <a:r>
              <a:rPr lang="fr-FR" sz="2100" dirty="0">
                <a:latin typeface="Times New Roman" panose="02020603050405020304" pitchFamily="18" charset="0"/>
                <a:cs typeface="Times New Roman" panose="02020603050405020304" pitchFamily="18" charset="0"/>
              </a:rPr>
              <a:t> dans le répertoire </a:t>
            </a:r>
            <a:r>
              <a:rPr lang="fr-FR" sz="2100" b="1" dirty="0">
                <a:latin typeface="Times New Roman" panose="02020603050405020304" pitchFamily="18" charset="0"/>
                <a:cs typeface="Times New Roman" panose="02020603050405020304" pitchFamily="18" charset="0"/>
              </a:rPr>
              <a:t>app/Http/Middleware</a:t>
            </a:r>
            <a:r>
              <a:rPr lang="fr-FR" sz="2100" dirty="0">
                <a:latin typeface="Times New Roman" panose="02020603050405020304" pitchFamily="18" charset="0"/>
                <a:cs typeface="Times New Roman" panose="02020603050405020304" pitchFamily="18" charset="0"/>
              </a:rPr>
              <a:t>.</a:t>
            </a:r>
          </a:p>
        </p:txBody>
      </p:sp>
      <p:sp>
        <p:nvSpPr>
          <p:cNvPr id="8" name="Rectangle : coins arrondis 7">
            <a:extLst>
              <a:ext uri="{FF2B5EF4-FFF2-40B4-BE49-F238E27FC236}">
                <a16:creationId xmlns:a16="http://schemas.microsoft.com/office/drawing/2014/main" id="{461DA2F9-3ED6-4D80-8899-930CF37C2EF2}"/>
              </a:ext>
            </a:extLst>
          </p:cNvPr>
          <p:cNvSpPr/>
          <p:nvPr/>
        </p:nvSpPr>
        <p:spPr>
          <a:xfrm>
            <a:off x="1367644" y="4653136"/>
            <a:ext cx="6408712" cy="57606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400050" lvl="1" indent="0">
              <a:buNone/>
            </a:pPr>
            <a:r>
              <a:rPr lang="fr-FR" sz="2000" b="1" dirty="0">
                <a:solidFill>
                  <a:srgbClr val="C00000"/>
                </a:solidFill>
                <a:latin typeface="Times New Roman" panose="02020603050405020304" pitchFamily="18" charset="0"/>
                <a:cs typeface="Times New Roman" panose="02020603050405020304" pitchFamily="18" charset="0"/>
              </a:rPr>
              <a:t>php artisan </a:t>
            </a:r>
            <a:r>
              <a:rPr lang="fr-FR" sz="2000" b="1" dirty="0" err="1">
                <a:solidFill>
                  <a:srgbClr val="C00000"/>
                </a:solidFill>
                <a:latin typeface="Times New Roman" panose="02020603050405020304" pitchFamily="18" charset="0"/>
                <a:cs typeface="Times New Roman" panose="02020603050405020304" pitchFamily="18" charset="0"/>
              </a:rPr>
              <a:t>make:middleware</a:t>
            </a:r>
            <a:r>
              <a:rPr lang="fr-FR" sz="2000" b="1" dirty="0">
                <a:solidFill>
                  <a:srgbClr val="C00000"/>
                </a:solidFill>
                <a:latin typeface="Times New Roman" panose="02020603050405020304" pitchFamily="18" charset="0"/>
                <a:cs typeface="Times New Roman" panose="02020603050405020304" pitchFamily="18" charset="0"/>
              </a:rPr>
              <a:t> </a:t>
            </a:r>
            <a:r>
              <a:rPr lang="fr-FR" sz="2000" b="1" dirty="0" err="1">
                <a:solidFill>
                  <a:srgbClr val="00B050"/>
                </a:solidFill>
                <a:latin typeface="Times New Roman" panose="02020603050405020304" pitchFamily="18" charset="0"/>
                <a:cs typeface="Times New Roman" panose="02020603050405020304" pitchFamily="18" charset="0"/>
              </a:rPr>
              <a:t>NomMiddleware</a:t>
            </a:r>
            <a:endParaRPr lang="en-US"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581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Utilisation des Middleware </a:t>
            </a:r>
          </a:p>
          <a:p>
            <a:pPr marL="400050" lvl="1" indent="0" algn="ctr">
              <a:buNone/>
            </a:pPr>
            <a:r>
              <a:rPr lang="fr-FR" sz="1900" b="1" dirty="0">
                <a:solidFill>
                  <a:schemeClr val="tx1"/>
                </a:solidFill>
              </a:rPr>
              <a:t>(définition, enregistrement, paramétrage, terminate)</a:t>
            </a:r>
          </a:p>
          <a:p>
            <a:pPr marL="400050" lvl="1" indent="0" algn="ctr">
              <a:buNone/>
            </a:pPr>
            <a:endParaRPr lang="fr-FR" dirty="0">
              <a:latin typeface="Times New Roman" panose="02020603050405020304" pitchFamily="18" charset="0"/>
              <a:cs typeface="Times New Roman" panose="02020603050405020304" pitchFamily="18" charset="0"/>
            </a:endParaRPr>
          </a:p>
          <a:p>
            <a:pPr marL="914400" lvl="2" indent="0">
              <a:buNone/>
            </a:pPr>
            <a:r>
              <a:rPr lang="fr-FR" dirty="0">
                <a:latin typeface="Times New Roman" panose="02020603050405020304" pitchFamily="18" charset="0"/>
                <a:cs typeface="Times New Roman" panose="02020603050405020304" pitchFamily="18" charset="0"/>
              </a:rPr>
              <a:t>Le middleware c’est une classe qui contient deux méthodes </a:t>
            </a:r>
            <a:r>
              <a:rPr lang="fr-FR" b="1" dirty="0">
                <a:latin typeface="Times New Roman" panose="02020603050405020304" pitchFamily="18" charset="0"/>
                <a:cs typeface="Times New Roman" panose="02020603050405020304" pitchFamily="18" charset="0"/>
              </a:rPr>
              <a:t>handle</a:t>
            </a:r>
            <a:r>
              <a:rPr lang="fr-FR" dirty="0">
                <a:latin typeface="Times New Roman" panose="02020603050405020304" pitchFamily="18" charset="0"/>
                <a:cs typeface="Times New Roman" panose="02020603050405020304" pitchFamily="18" charset="0"/>
              </a:rPr>
              <a:t> et </a:t>
            </a:r>
            <a:r>
              <a:rPr lang="fr-FR" b="1" dirty="0">
                <a:latin typeface="Times New Roman" panose="02020603050405020304" pitchFamily="18" charset="0"/>
                <a:cs typeface="Times New Roman" panose="02020603050405020304" pitchFamily="18" charset="0"/>
              </a:rPr>
              <a:t>terminate</a:t>
            </a:r>
            <a:r>
              <a:rPr lang="fr-FR" dirty="0">
                <a:latin typeface="Times New Roman" panose="02020603050405020304" pitchFamily="18" charset="0"/>
                <a:cs typeface="Times New Roman" panose="02020603050405020304" pitchFamily="18" charset="0"/>
              </a:rPr>
              <a:t>. Sauf que terminate elle n’est pas généré automatiquement il faut l’ajouter manuellement .</a:t>
            </a:r>
          </a:p>
          <a:p>
            <a:pPr marL="914400" lvl="2" indent="0">
              <a:buNone/>
            </a:pPr>
            <a:endParaRPr lang="fr-FR"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ü"/>
            </a:pPr>
            <a:endParaRPr lang="fr-FR" sz="2200" dirty="0">
              <a:solidFill>
                <a:srgbClr val="C00000"/>
              </a:solidFill>
              <a:latin typeface="Times New Roman" panose="02020603050405020304" pitchFamily="18" charset="0"/>
              <a:cs typeface="Times New Roman" panose="02020603050405020304" pitchFamily="18" charset="0"/>
            </a:endParaRPr>
          </a:p>
        </p:txBody>
      </p:sp>
      <p:sp>
        <p:nvSpPr>
          <p:cNvPr id="8" name="Rectangle : coins arrondis 7">
            <a:extLst>
              <a:ext uri="{FF2B5EF4-FFF2-40B4-BE49-F238E27FC236}">
                <a16:creationId xmlns:a16="http://schemas.microsoft.com/office/drawing/2014/main" id="{461DA2F9-3ED6-4D80-8899-930CF37C2EF2}"/>
              </a:ext>
            </a:extLst>
          </p:cNvPr>
          <p:cNvSpPr/>
          <p:nvPr/>
        </p:nvSpPr>
        <p:spPr>
          <a:xfrm>
            <a:off x="719572" y="5373216"/>
            <a:ext cx="7704856" cy="9361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400050" lvl="1" indent="0">
              <a:buNone/>
            </a:pPr>
            <a:r>
              <a:rPr lang="en-US" sz="2000" dirty="0">
                <a:solidFill>
                  <a:schemeClr val="accent1"/>
                </a:solidFill>
                <a:latin typeface="Times New Roman" panose="02020603050405020304" pitchFamily="18" charset="0"/>
                <a:cs typeface="Times New Roman" panose="02020603050405020304" pitchFamily="18" charset="0"/>
              </a:rPr>
              <a:t>public function </a:t>
            </a:r>
            <a:r>
              <a:rPr lang="en-US" sz="2000" dirty="0">
                <a:solidFill>
                  <a:srgbClr val="002060"/>
                </a:solidFill>
                <a:latin typeface="Times New Roman" panose="02020603050405020304" pitchFamily="18" charset="0"/>
                <a:cs typeface="Times New Roman" panose="02020603050405020304" pitchFamily="18" charset="0"/>
              </a:rPr>
              <a:t>handle</a:t>
            </a:r>
            <a:r>
              <a:rPr lang="en-US" sz="2000" dirty="0">
                <a:solidFill>
                  <a:schemeClr val="tx1"/>
                </a:solidFill>
                <a:latin typeface="Times New Roman" panose="02020603050405020304" pitchFamily="18" charset="0"/>
                <a:cs typeface="Times New Roman" panose="02020603050405020304" pitchFamily="18" charset="0"/>
              </a:rPr>
              <a:t>(Request</a:t>
            </a:r>
            <a:r>
              <a:rPr lang="en-US" sz="2000" dirty="0">
                <a:solidFill>
                  <a:srgbClr val="00B05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$request</a:t>
            </a:r>
            <a:r>
              <a:rPr lang="en-US" sz="2000" dirty="0">
                <a:solidFill>
                  <a:srgbClr val="00B050"/>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Closure</a:t>
            </a:r>
            <a:r>
              <a:rPr lang="en-US" sz="2000" dirty="0">
                <a:solidFill>
                  <a:srgbClr val="00B05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$next</a:t>
            </a:r>
            <a:r>
              <a:rPr lang="en-US" sz="2000" dirty="0">
                <a:solidFill>
                  <a:schemeClr val="tx1"/>
                </a:solidFill>
                <a:latin typeface="Times New Roman" panose="02020603050405020304" pitchFamily="18" charset="0"/>
                <a:cs typeface="Times New Roman" panose="02020603050405020304" pitchFamily="18" charset="0"/>
              </a:rPr>
              <a:t>){}</a:t>
            </a:r>
          </a:p>
          <a:p>
            <a:pPr marL="400050" lvl="1"/>
            <a:r>
              <a:rPr lang="en-US" sz="2000" dirty="0">
                <a:solidFill>
                  <a:srgbClr val="4F81BD"/>
                </a:solidFill>
                <a:latin typeface="Times New Roman" panose="02020603050405020304" pitchFamily="18" charset="0"/>
                <a:cs typeface="Times New Roman" panose="02020603050405020304" pitchFamily="18" charset="0"/>
              </a:rPr>
              <a:t>public function </a:t>
            </a:r>
            <a:r>
              <a:rPr lang="en-US" sz="2000" dirty="0">
                <a:solidFill>
                  <a:srgbClr val="002060"/>
                </a:solidFill>
                <a:latin typeface="Times New Roman" panose="02020603050405020304" pitchFamily="18" charset="0"/>
                <a:cs typeface="Times New Roman" panose="02020603050405020304" pitchFamily="18" charset="0"/>
              </a:rPr>
              <a:t>terminate</a:t>
            </a:r>
            <a:r>
              <a:rPr lang="en-US" sz="2000" dirty="0">
                <a:solidFill>
                  <a:prstClr val="black"/>
                </a:solidFill>
                <a:latin typeface="Times New Roman" panose="02020603050405020304" pitchFamily="18" charset="0"/>
                <a:cs typeface="Times New Roman" panose="02020603050405020304" pitchFamily="18" charset="0"/>
              </a:rPr>
              <a:t>(Request</a:t>
            </a:r>
            <a:r>
              <a:rPr lang="en-US" sz="2000" dirty="0">
                <a:solidFill>
                  <a:srgbClr val="00B05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$request</a:t>
            </a:r>
            <a:r>
              <a:rPr lang="en-US" sz="2000" dirty="0">
                <a:solidFill>
                  <a:srgbClr val="00B050"/>
                </a:solidFill>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Response</a:t>
            </a:r>
            <a:r>
              <a:rPr lang="en-US" sz="2000" dirty="0">
                <a:solidFill>
                  <a:srgbClr val="00B05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$response</a:t>
            </a:r>
            <a:r>
              <a:rPr lang="en-US" sz="2000" dirty="0">
                <a:solidFill>
                  <a:prstClr val="black"/>
                </a:solidFill>
                <a:latin typeface="Times New Roman" panose="02020603050405020304" pitchFamily="18" charset="0"/>
                <a:cs typeface="Times New Roman" panose="02020603050405020304" pitchFamily="18" charset="0"/>
              </a:rPr>
              <a:t>){}</a:t>
            </a:r>
          </a:p>
          <a:p>
            <a:pPr marL="400050" lvl="1" indent="0">
              <a:buNone/>
            </a:pP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3063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Utilisation des Middleware </a:t>
            </a:r>
          </a:p>
          <a:p>
            <a:pPr marL="400050" lvl="1" indent="0" algn="ctr">
              <a:buNone/>
            </a:pPr>
            <a:endParaRPr lang="fr-FR" sz="1900" b="1" dirty="0">
              <a:solidFill>
                <a:schemeClr val="tx1"/>
              </a:solidFill>
            </a:endParaRPr>
          </a:p>
          <a:p>
            <a:pPr lvl="2">
              <a:buFont typeface="Wingdings" panose="05000000000000000000" pitchFamily="2" charset="2"/>
              <a:buChar char="ü"/>
            </a:pPr>
            <a:r>
              <a:rPr lang="fr-FR" dirty="0">
                <a:solidFill>
                  <a:srgbClr val="00B0F0"/>
                </a:solidFill>
                <a:latin typeface="Times New Roman" panose="02020603050405020304" pitchFamily="18" charset="0"/>
                <a:cs typeface="Times New Roman" panose="02020603050405020304" pitchFamily="18" charset="0"/>
              </a:rPr>
              <a:t>Type de Middlewares :</a:t>
            </a:r>
            <a:endParaRPr lang="fr-FR" dirty="0">
              <a:latin typeface="Times New Roman" panose="02020603050405020304" pitchFamily="18" charset="0"/>
              <a:cs typeface="Times New Roman" panose="02020603050405020304" pitchFamily="18" charset="0"/>
            </a:endParaRPr>
          </a:p>
          <a:p>
            <a:pPr lvl="3">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Route Middleware</a:t>
            </a:r>
          </a:p>
          <a:p>
            <a:pPr lvl="3">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Groupe Middleware</a:t>
            </a:r>
          </a:p>
          <a:p>
            <a:pPr lvl="3">
              <a:buFont typeface="Wingdings" panose="05000000000000000000" pitchFamily="2" charset="2"/>
              <a:buChar char="v"/>
            </a:pPr>
            <a:r>
              <a:rPr lang="fr-FR" sz="2400" dirty="0">
                <a:latin typeface="Times New Roman" panose="02020603050405020304" pitchFamily="18" charset="0"/>
                <a:cs typeface="Times New Roman" panose="02020603050405020304" pitchFamily="18" charset="0"/>
              </a:rPr>
              <a:t>Global Middleware</a:t>
            </a:r>
          </a:p>
          <a:p>
            <a:pPr marL="0" lvl="0" indent="0">
              <a:buNone/>
            </a:pPr>
            <a:endParaRPr lang="fr-FR" sz="2000" dirty="0">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7370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000" b="1" dirty="0">
                <a:solidFill>
                  <a:srgbClr val="002060"/>
                </a:solidFill>
                <a:latin typeface="Times New Roman" panose="02020603050405020304" pitchFamily="18" charset="0"/>
                <a:cs typeface="Times New Roman" panose="02020603050405020304" pitchFamily="18" charset="0"/>
              </a:rPr>
              <a:t>Programmer avec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Utilisation des Middleware </a:t>
            </a:r>
          </a:p>
          <a:p>
            <a:pPr marL="400050" lvl="1" indent="0" algn="ctr">
              <a:buNone/>
            </a:pPr>
            <a:endParaRPr lang="fr-FR" sz="1900" b="1" dirty="0">
              <a:solidFill>
                <a:schemeClr val="tx1"/>
              </a:solidFill>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3045A701-D3AA-4119-9D8D-2DAA54DBF0FA}"/>
              </a:ext>
            </a:extLst>
          </p:cNvPr>
          <p:cNvSpPr/>
          <p:nvPr/>
        </p:nvSpPr>
        <p:spPr>
          <a:xfrm>
            <a:off x="611560" y="2420888"/>
            <a:ext cx="7920880" cy="38884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1100" dirty="0">
                <a:solidFill>
                  <a:srgbClr val="0000FF"/>
                </a:solidFill>
                <a:latin typeface="Consolas" panose="020B0609020204030204" pitchFamily="49" charset="0"/>
              </a:rPr>
              <a:t>public</a:t>
            </a:r>
            <a:r>
              <a:rPr lang="fr-FR" sz="1100" dirty="0">
                <a:solidFill>
                  <a:srgbClr val="000000"/>
                </a:solidFill>
                <a:latin typeface="Consolas" panose="020B0609020204030204" pitchFamily="49" charset="0"/>
              </a:rPr>
              <a:t> </a:t>
            </a:r>
            <a:r>
              <a:rPr lang="fr-FR" sz="1100" dirty="0" err="1">
                <a:solidFill>
                  <a:srgbClr val="0000FF"/>
                </a:solidFill>
                <a:latin typeface="Consolas" panose="020B0609020204030204" pitchFamily="49" charset="0"/>
              </a:rPr>
              <a:t>function</a:t>
            </a:r>
            <a:r>
              <a:rPr lang="fr-FR" sz="1100" dirty="0">
                <a:solidFill>
                  <a:srgbClr val="000000"/>
                </a:solidFill>
                <a:latin typeface="Consolas" panose="020B0609020204030204" pitchFamily="49" charset="0"/>
              </a:rPr>
              <a:t> </a:t>
            </a:r>
            <a:r>
              <a:rPr lang="fr-FR" sz="1100" dirty="0" err="1">
                <a:solidFill>
                  <a:srgbClr val="795E26"/>
                </a:solidFill>
                <a:latin typeface="Consolas" panose="020B0609020204030204" pitchFamily="49" charset="0"/>
              </a:rPr>
              <a:t>withMiddleware</a:t>
            </a:r>
            <a:r>
              <a:rPr lang="fr-FR" sz="1100" dirty="0">
                <a:solidFill>
                  <a:srgbClr val="000000"/>
                </a:solidFill>
                <a:latin typeface="Consolas" panose="020B0609020204030204" pitchFamily="49" charset="0"/>
              </a:rPr>
              <a:t>(?</a:t>
            </a:r>
            <a:r>
              <a:rPr lang="fr-FR" sz="1100" dirty="0" err="1">
                <a:solidFill>
                  <a:srgbClr val="0000FF"/>
                </a:solidFill>
                <a:latin typeface="Consolas" panose="020B0609020204030204" pitchFamily="49" charset="0"/>
              </a:rPr>
              <a:t>callable</a:t>
            </a:r>
            <a:r>
              <a:rPr lang="fr-FR" sz="1100" dirty="0">
                <a:solidFill>
                  <a:srgbClr val="000000"/>
                </a:solidFill>
                <a:latin typeface="Consolas" panose="020B0609020204030204" pitchFamily="49" charset="0"/>
              </a:rPr>
              <a:t> </a:t>
            </a:r>
            <a:r>
              <a:rPr lang="fr-FR" sz="1100" dirty="0">
                <a:solidFill>
                  <a:srgbClr val="001080"/>
                </a:solidFill>
                <a:latin typeface="Consolas" panose="020B0609020204030204" pitchFamily="49" charset="0"/>
              </a:rPr>
              <a:t>$callback</a:t>
            </a:r>
            <a:r>
              <a:rPr lang="fr-FR" sz="1100" dirty="0">
                <a:solidFill>
                  <a:srgbClr val="000000"/>
                </a:solidFill>
                <a:latin typeface="Consolas" panose="020B0609020204030204" pitchFamily="49" charset="0"/>
              </a:rPr>
              <a:t> = </a:t>
            </a:r>
            <a:r>
              <a:rPr lang="fr-FR" sz="1100" dirty="0" err="1">
                <a:solidFill>
                  <a:srgbClr val="0000FF"/>
                </a:solidFill>
                <a:latin typeface="Consolas" panose="020B0609020204030204" pitchFamily="49" charset="0"/>
              </a:rPr>
              <a:t>null</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p>
          <a:p>
            <a:r>
              <a:rPr lang="fr-FR" sz="1100" dirty="0">
                <a:solidFill>
                  <a:srgbClr val="000000"/>
                </a:solidFill>
                <a:latin typeface="Consolas" panose="020B0609020204030204" pitchFamily="49" charset="0"/>
              </a:rPr>
              <a:t>        </a:t>
            </a:r>
            <a:r>
              <a:rPr lang="fr-FR" sz="1100" dirty="0">
                <a:solidFill>
                  <a:srgbClr val="0000FF"/>
                </a:solidFill>
                <a:latin typeface="Consolas" panose="020B0609020204030204" pitchFamily="49" charset="0"/>
              </a:rPr>
              <a:t>$</a:t>
            </a:r>
            <a:r>
              <a:rPr lang="fr-FR" sz="1100" dirty="0" err="1">
                <a:solidFill>
                  <a:srgbClr val="0000FF"/>
                </a:solidFill>
                <a:latin typeface="Consolas" panose="020B0609020204030204" pitchFamily="49" charset="0"/>
              </a:rPr>
              <a:t>this</a:t>
            </a:r>
            <a:r>
              <a:rPr lang="fr-FR" sz="1100" dirty="0">
                <a:solidFill>
                  <a:srgbClr val="000000"/>
                </a:solidFill>
                <a:latin typeface="Consolas" panose="020B0609020204030204" pitchFamily="49" charset="0"/>
              </a:rPr>
              <a:t>-&gt;</a:t>
            </a:r>
            <a:r>
              <a:rPr lang="fr-FR" sz="1100" dirty="0">
                <a:solidFill>
                  <a:srgbClr val="001080"/>
                </a:solidFill>
                <a:latin typeface="Consolas" panose="020B0609020204030204" pitchFamily="49" charset="0"/>
              </a:rPr>
              <a:t>app</a:t>
            </a:r>
            <a:r>
              <a:rPr lang="fr-FR" sz="1100" dirty="0">
                <a:solidFill>
                  <a:srgbClr val="000000"/>
                </a:solidFill>
                <a:latin typeface="Consolas" panose="020B0609020204030204" pitchFamily="49" charset="0"/>
              </a:rPr>
              <a:t>-&gt;</a:t>
            </a:r>
            <a:r>
              <a:rPr lang="fr-FR" sz="1100" dirty="0" err="1">
                <a:solidFill>
                  <a:srgbClr val="795E26"/>
                </a:solidFill>
                <a:latin typeface="Consolas" panose="020B0609020204030204" pitchFamily="49" charset="0"/>
              </a:rPr>
              <a:t>afterResolving</a:t>
            </a:r>
            <a:r>
              <a:rPr lang="fr-FR" sz="1100" dirty="0">
                <a:solidFill>
                  <a:srgbClr val="000000"/>
                </a:solidFill>
                <a:latin typeface="Consolas" panose="020B0609020204030204" pitchFamily="49" charset="0"/>
              </a:rPr>
              <a:t>(</a:t>
            </a:r>
            <a:r>
              <a:rPr lang="fr-FR" sz="1100" dirty="0" err="1">
                <a:solidFill>
                  <a:srgbClr val="267F99"/>
                </a:solidFill>
                <a:latin typeface="Consolas" panose="020B0609020204030204" pitchFamily="49" charset="0"/>
              </a:rPr>
              <a:t>HttpKernel</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 </a:t>
            </a:r>
            <a:r>
              <a:rPr lang="fr-FR" sz="1100" dirty="0" err="1">
                <a:solidFill>
                  <a:srgbClr val="0000FF"/>
                </a:solidFill>
                <a:latin typeface="Consolas" panose="020B0609020204030204" pitchFamily="49" charset="0"/>
              </a:rPr>
              <a:t>function</a:t>
            </a:r>
            <a:r>
              <a:rPr lang="fr-FR" sz="1100" dirty="0">
                <a:solidFill>
                  <a:srgbClr val="000000"/>
                </a:solidFill>
                <a:latin typeface="Consolas" panose="020B0609020204030204" pitchFamily="49" charset="0"/>
              </a:rPr>
              <a:t> (</a:t>
            </a:r>
            <a:r>
              <a:rPr lang="fr-FR" sz="1100" dirty="0">
                <a:solidFill>
                  <a:srgbClr val="001080"/>
                </a:solidFill>
                <a:latin typeface="Consolas" panose="020B0609020204030204" pitchFamily="49" charset="0"/>
              </a:rPr>
              <a:t>$kernel</a:t>
            </a:r>
            <a:r>
              <a:rPr lang="fr-FR" sz="1100" dirty="0">
                <a:solidFill>
                  <a:srgbClr val="000000"/>
                </a:solidFill>
                <a:latin typeface="Consolas" panose="020B0609020204030204" pitchFamily="49" charset="0"/>
              </a:rPr>
              <a:t>) </a:t>
            </a:r>
            <a:r>
              <a:rPr lang="fr-FR" sz="1100" dirty="0">
                <a:solidFill>
                  <a:srgbClr val="0000FF"/>
                </a:solidFill>
                <a:latin typeface="Consolas" panose="020B0609020204030204" pitchFamily="49" charset="0"/>
              </a:rPr>
              <a:t>use</a:t>
            </a:r>
            <a:r>
              <a:rPr lang="fr-FR" sz="1100" dirty="0">
                <a:solidFill>
                  <a:srgbClr val="000000"/>
                </a:solidFill>
                <a:latin typeface="Consolas" panose="020B0609020204030204" pitchFamily="49" charset="0"/>
              </a:rPr>
              <a:t> (</a:t>
            </a:r>
            <a:r>
              <a:rPr lang="fr-FR" sz="1100" dirty="0">
                <a:solidFill>
                  <a:srgbClr val="001080"/>
                </a:solidFill>
                <a:latin typeface="Consolas" panose="020B0609020204030204" pitchFamily="49" charset="0"/>
              </a:rPr>
              <a:t>$callback</a:t>
            </a:r>
            <a:r>
              <a:rPr lang="fr-FR" sz="1100" dirty="0">
                <a:solidFill>
                  <a:srgbClr val="000000"/>
                </a:solidFill>
                <a:latin typeface="Consolas" panose="020B0609020204030204" pitchFamily="49" charset="0"/>
              </a:rPr>
              <a:t>) {</a:t>
            </a:r>
          </a:p>
          <a:p>
            <a:r>
              <a:rPr lang="fr-FR" sz="1100" dirty="0">
                <a:solidFill>
                  <a:srgbClr val="000000"/>
                </a:solidFill>
                <a:latin typeface="Consolas" panose="020B0609020204030204" pitchFamily="49" charset="0"/>
              </a:rPr>
              <a:t>            </a:t>
            </a:r>
            <a:r>
              <a:rPr lang="fr-FR" sz="1100" dirty="0">
                <a:solidFill>
                  <a:srgbClr val="001080"/>
                </a:solidFill>
                <a:latin typeface="Consolas" panose="020B0609020204030204" pitchFamily="49" charset="0"/>
              </a:rPr>
              <a:t>$middleware</a:t>
            </a:r>
            <a:r>
              <a:rPr lang="fr-FR" sz="1100" dirty="0">
                <a:solidFill>
                  <a:srgbClr val="000000"/>
                </a:solidFill>
                <a:latin typeface="Consolas" panose="020B0609020204030204" pitchFamily="49" charset="0"/>
              </a:rPr>
              <a:t> = (</a:t>
            </a:r>
            <a:r>
              <a:rPr lang="fr-FR" sz="1100" dirty="0">
                <a:solidFill>
                  <a:srgbClr val="0000FF"/>
                </a:solidFill>
                <a:latin typeface="Consolas" panose="020B0609020204030204" pitchFamily="49" charset="0"/>
              </a:rPr>
              <a:t>new</a:t>
            </a:r>
            <a:r>
              <a:rPr lang="fr-FR" sz="1100" dirty="0">
                <a:solidFill>
                  <a:srgbClr val="000000"/>
                </a:solidFill>
                <a:latin typeface="Consolas" panose="020B0609020204030204" pitchFamily="49" charset="0"/>
              </a:rPr>
              <a:t> </a:t>
            </a:r>
            <a:r>
              <a:rPr lang="fr-FR" sz="1100" dirty="0">
                <a:solidFill>
                  <a:srgbClr val="267F99"/>
                </a:solidFill>
                <a:latin typeface="Consolas" panose="020B0609020204030204" pitchFamily="49" charset="0"/>
              </a:rPr>
              <a:t>Middleware</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-&gt;</a:t>
            </a:r>
            <a:r>
              <a:rPr lang="fr-FR" sz="1100" dirty="0" err="1">
                <a:solidFill>
                  <a:srgbClr val="795E26"/>
                </a:solidFill>
                <a:latin typeface="Consolas" panose="020B0609020204030204" pitchFamily="49" charset="0"/>
              </a:rPr>
              <a:t>redirectGuestsTo</a:t>
            </a:r>
            <a:r>
              <a:rPr lang="fr-FR" sz="1100" dirty="0">
                <a:solidFill>
                  <a:srgbClr val="000000"/>
                </a:solidFill>
                <a:latin typeface="Consolas" panose="020B0609020204030204" pitchFamily="49" charset="0"/>
              </a:rPr>
              <a:t>(</a:t>
            </a:r>
            <a:r>
              <a:rPr lang="fr-FR" sz="1100" dirty="0" err="1">
                <a:solidFill>
                  <a:srgbClr val="0000FF"/>
                </a:solidFill>
                <a:latin typeface="Consolas" panose="020B0609020204030204" pitchFamily="49" charset="0"/>
              </a:rPr>
              <a:t>fn</a:t>
            </a:r>
            <a:r>
              <a:rPr lang="fr-FR" sz="1100" dirty="0">
                <a:solidFill>
                  <a:srgbClr val="000000"/>
                </a:solidFill>
                <a:latin typeface="Consolas" panose="020B0609020204030204" pitchFamily="49" charset="0"/>
              </a:rPr>
              <a:t> () =&gt; </a:t>
            </a:r>
            <a:r>
              <a:rPr lang="fr-FR" sz="1100" dirty="0">
                <a:solidFill>
                  <a:srgbClr val="795E26"/>
                </a:solidFill>
                <a:latin typeface="Consolas" panose="020B0609020204030204" pitchFamily="49" charset="0"/>
              </a:rPr>
              <a:t>route</a:t>
            </a:r>
            <a:r>
              <a:rPr lang="fr-FR" sz="1100" dirty="0">
                <a:solidFill>
                  <a:srgbClr val="000000"/>
                </a:solidFill>
                <a:latin typeface="Consolas" panose="020B0609020204030204" pitchFamily="49" charset="0"/>
              </a:rPr>
              <a:t>(</a:t>
            </a:r>
            <a:r>
              <a:rPr lang="fr-FR" sz="1100" dirty="0">
                <a:solidFill>
                  <a:srgbClr val="A31515"/>
                </a:solidFill>
                <a:latin typeface="Consolas" panose="020B0609020204030204" pitchFamily="49" charset="0"/>
              </a:rPr>
              <a:t>'login'</a:t>
            </a:r>
            <a:r>
              <a:rPr lang="fr-FR" sz="1100" dirty="0">
                <a:solidFill>
                  <a:srgbClr val="000000"/>
                </a:solidFill>
                <a:latin typeface="Consolas" panose="020B0609020204030204" pitchFamily="49" charset="0"/>
              </a:rPr>
              <a:t>));</a:t>
            </a:r>
          </a:p>
          <a:p>
            <a:br>
              <a:rPr lang="fr-FR" sz="1100" dirty="0">
                <a:solidFill>
                  <a:srgbClr val="000000"/>
                </a:solidFill>
                <a:latin typeface="Consolas" panose="020B0609020204030204" pitchFamily="49" charset="0"/>
              </a:rPr>
            </a:br>
            <a:r>
              <a:rPr lang="fr-FR" sz="1100" dirty="0">
                <a:solidFill>
                  <a:srgbClr val="000000"/>
                </a:solidFill>
                <a:latin typeface="Consolas" panose="020B0609020204030204" pitchFamily="49" charset="0"/>
              </a:rPr>
              <a:t>            </a:t>
            </a:r>
            <a:r>
              <a:rPr lang="fr-FR" sz="1100" dirty="0">
                <a:solidFill>
                  <a:srgbClr val="AF00DB"/>
                </a:solidFill>
                <a:latin typeface="Consolas" panose="020B0609020204030204" pitchFamily="49" charset="0"/>
              </a:rPr>
              <a:t>if</a:t>
            </a:r>
            <a:r>
              <a:rPr lang="fr-FR" sz="1100" dirty="0">
                <a:solidFill>
                  <a:srgbClr val="000000"/>
                </a:solidFill>
                <a:latin typeface="Consolas" panose="020B0609020204030204" pitchFamily="49" charset="0"/>
              </a:rPr>
              <a:t> (! </a:t>
            </a:r>
            <a:r>
              <a:rPr lang="fr-FR" sz="1100" dirty="0" err="1">
                <a:solidFill>
                  <a:srgbClr val="795E26"/>
                </a:solidFill>
                <a:latin typeface="Consolas" panose="020B0609020204030204" pitchFamily="49" charset="0"/>
              </a:rPr>
              <a:t>is_null</a:t>
            </a:r>
            <a:r>
              <a:rPr lang="fr-FR" sz="1100" dirty="0">
                <a:solidFill>
                  <a:srgbClr val="000000"/>
                </a:solidFill>
                <a:latin typeface="Consolas" panose="020B0609020204030204" pitchFamily="49" charset="0"/>
              </a:rPr>
              <a:t>(</a:t>
            </a:r>
            <a:r>
              <a:rPr lang="fr-FR" sz="1100" dirty="0">
                <a:solidFill>
                  <a:srgbClr val="001080"/>
                </a:solidFill>
                <a:latin typeface="Consolas" panose="020B0609020204030204" pitchFamily="49" charset="0"/>
              </a:rPr>
              <a:t>$callback</a:t>
            </a:r>
            <a:r>
              <a:rPr lang="fr-FR" sz="1100" dirty="0">
                <a:solidFill>
                  <a:srgbClr val="000000"/>
                </a:solidFill>
                <a:latin typeface="Consolas" panose="020B0609020204030204" pitchFamily="49" charset="0"/>
              </a:rPr>
              <a:t>)) {</a:t>
            </a:r>
          </a:p>
          <a:p>
            <a:r>
              <a:rPr lang="fr-FR" sz="1100" dirty="0">
                <a:solidFill>
                  <a:srgbClr val="000000"/>
                </a:solidFill>
                <a:latin typeface="Consolas" panose="020B0609020204030204" pitchFamily="49" charset="0"/>
              </a:rPr>
              <a:t>                </a:t>
            </a:r>
            <a:r>
              <a:rPr lang="fr-FR" sz="1100" dirty="0">
                <a:solidFill>
                  <a:srgbClr val="001080"/>
                </a:solidFill>
                <a:latin typeface="Consolas" panose="020B0609020204030204" pitchFamily="49" charset="0"/>
              </a:rPr>
              <a:t>$callback</a:t>
            </a:r>
            <a:r>
              <a:rPr lang="fr-FR" sz="1100" dirty="0">
                <a:solidFill>
                  <a:srgbClr val="000000"/>
                </a:solidFill>
                <a:latin typeface="Consolas" panose="020B0609020204030204" pitchFamily="49" charset="0"/>
              </a:rPr>
              <a:t>(</a:t>
            </a:r>
            <a:r>
              <a:rPr lang="fr-FR" sz="1100" dirty="0">
                <a:solidFill>
                  <a:srgbClr val="001080"/>
                </a:solidFill>
                <a:latin typeface="Consolas" panose="020B0609020204030204" pitchFamily="49" charset="0"/>
              </a:rPr>
              <a:t>$middleware</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p>
          <a:p>
            <a:br>
              <a:rPr lang="fr-FR" sz="1100" dirty="0">
                <a:solidFill>
                  <a:srgbClr val="000000"/>
                </a:solidFill>
                <a:latin typeface="Consolas" panose="020B0609020204030204" pitchFamily="49" charset="0"/>
              </a:rPr>
            </a:br>
            <a:r>
              <a:rPr lang="fr-FR" sz="1100" dirty="0">
                <a:solidFill>
                  <a:srgbClr val="000000"/>
                </a:solidFill>
                <a:latin typeface="Consolas" panose="020B0609020204030204" pitchFamily="49" charset="0"/>
              </a:rPr>
              <a:t>            </a:t>
            </a:r>
            <a:r>
              <a:rPr lang="fr-FR" sz="1100" dirty="0">
                <a:solidFill>
                  <a:srgbClr val="0000FF"/>
                </a:solidFill>
                <a:latin typeface="Consolas" panose="020B0609020204030204" pitchFamily="49" charset="0"/>
              </a:rPr>
              <a:t>$</a:t>
            </a:r>
            <a:r>
              <a:rPr lang="fr-FR" sz="1100" dirty="0" err="1">
                <a:solidFill>
                  <a:srgbClr val="0000FF"/>
                </a:solidFill>
                <a:latin typeface="Consolas" panose="020B0609020204030204" pitchFamily="49" charset="0"/>
              </a:rPr>
              <a:t>this</a:t>
            </a:r>
            <a:r>
              <a:rPr lang="fr-FR" sz="1100" dirty="0">
                <a:solidFill>
                  <a:srgbClr val="000000"/>
                </a:solidFill>
                <a:latin typeface="Consolas" panose="020B0609020204030204" pitchFamily="49" charset="0"/>
              </a:rPr>
              <a:t>-&gt;</a:t>
            </a:r>
            <a:r>
              <a:rPr lang="fr-FR" sz="1100" dirty="0" err="1">
                <a:solidFill>
                  <a:srgbClr val="001080"/>
                </a:solidFill>
                <a:latin typeface="Consolas" panose="020B0609020204030204" pitchFamily="49" charset="0"/>
              </a:rPr>
              <a:t>pageMiddleware</a:t>
            </a:r>
            <a:r>
              <a:rPr lang="fr-FR" sz="1100" dirty="0">
                <a:solidFill>
                  <a:srgbClr val="000000"/>
                </a:solidFill>
                <a:latin typeface="Consolas" panose="020B0609020204030204" pitchFamily="49" charset="0"/>
              </a:rPr>
              <a:t> = </a:t>
            </a:r>
            <a:r>
              <a:rPr lang="fr-FR" sz="1100" dirty="0">
                <a:solidFill>
                  <a:srgbClr val="001080"/>
                </a:solidFill>
                <a:latin typeface="Consolas" panose="020B0609020204030204" pitchFamily="49" charset="0"/>
              </a:rPr>
              <a:t>$middleware</a:t>
            </a:r>
            <a:r>
              <a:rPr lang="fr-FR" sz="1100" dirty="0">
                <a:solidFill>
                  <a:srgbClr val="000000"/>
                </a:solidFill>
                <a:latin typeface="Consolas" panose="020B0609020204030204" pitchFamily="49" charset="0"/>
              </a:rPr>
              <a:t>-&gt;</a:t>
            </a:r>
            <a:r>
              <a:rPr lang="fr-FR" sz="1100" dirty="0" err="1">
                <a:solidFill>
                  <a:srgbClr val="795E26"/>
                </a:solidFill>
                <a:latin typeface="Consolas" panose="020B0609020204030204" pitchFamily="49" charset="0"/>
              </a:rPr>
              <a:t>getPageMiddleware</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001080"/>
                </a:solidFill>
                <a:latin typeface="Consolas" panose="020B0609020204030204" pitchFamily="49" charset="0"/>
              </a:rPr>
              <a:t>$kernel</a:t>
            </a:r>
            <a:r>
              <a:rPr lang="fr-FR" sz="1100" dirty="0">
                <a:solidFill>
                  <a:srgbClr val="000000"/>
                </a:solidFill>
                <a:latin typeface="Consolas" panose="020B0609020204030204" pitchFamily="49" charset="0"/>
              </a:rPr>
              <a:t>-&gt;</a:t>
            </a:r>
            <a:r>
              <a:rPr lang="fr-FR" sz="1100" dirty="0" err="1">
                <a:solidFill>
                  <a:srgbClr val="795E26"/>
                </a:solidFill>
                <a:latin typeface="Consolas" panose="020B0609020204030204" pitchFamily="49" charset="0"/>
              </a:rPr>
              <a:t>setGlobalMiddleware</a:t>
            </a:r>
            <a:r>
              <a:rPr lang="fr-FR" sz="1100" dirty="0">
                <a:solidFill>
                  <a:srgbClr val="000000"/>
                </a:solidFill>
                <a:latin typeface="Consolas" panose="020B0609020204030204" pitchFamily="49" charset="0"/>
              </a:rPr>
              <a:t>(</a:t>
            </a:r>
            <a:r>
              <a:rPr lang="fr-FR" sz="1100" dirty="0">
                <a:solidFill>
                  <a:srgbClr val="001080"/>
                </a:solidFill>
                <a:latin typeface="Consolas" panose="020B0609020204030204" pitchFamily="49" charset="0"/>
              </a:rPr>
              <a:t>$middleware</a:t>
            </a:r>
            <a:r>
              <a:rPr lang="fr-FR" sz="1100" dirty="0">
                <a:solidFill>
                  <a:srgbClr val="000000"/>
                </a:solidFill>
                <a:latin typeface="Consolas" panose="020B0609020204030204" pitchFamily="49" charset="0"/>
              </a:rPr>
              <a:t>-&gt;</a:t>
            </a:r>
            <a:r>
              <a:rPr lang="fr-FR" sz="1100" dirty="0" err="1">
                <a:solidFill>
                  <a:srgbClr val="795E26"/>
                </a:solidFill>
                <a:latin typeface="Consolas" panose="020B0609020204030204" pitchFamily="49" charset="0"/>
              </a:rPr>
              <a:t>getGlobalMiddleware</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001080"/>
                </a:solidFill>
                <a:latin typeface="Consolas" panose="020B0609020204030204" pitchFamily="49" charset="0"/>
              </a:rPr>
              <a:t>$kernel</a:t>
            </a:r>
            <a:r>
              <a:rPr lang="fr-FR" sz="1100" dirty="0">
                <a:solidFill>
                  <a:srgbClr val="000000"/>
                </a:solidFill>
                <a:latin typeface="Consolas" panose="020B0609020204030204" pitchFamily="49" charset="0"/>
              </a:rPr>
              <a:t>-&gt;</a:t>
            </a:r>
            <a:r>
              <a:rPr lang="fr-FR" sz="1100" dirty="0" err="1">
                <a:solidFill>
                  <a:srgbClr val="795E26"/>
                </a:solidFill>
                <a:latin typeface="Consolas" panose="020B0609020204030204" pitchFamily="49" charset="0"/>
              </a:rPr>
              <a:t>setMiddlewareGroups</a:t>
            </a:r>
            <a:r>
              <a:rPr lang="fr-FR" sz="1100" dirty="0">
                <a:solidFill>
                  <a:srgbClr val="000000"/>
                </a:solidFill>
                <a:latin typeface="Consolas" panose="020B0609020204030204" pitchFamily="49" charset="0"/>
              </a:rPr>
              <a:t>(</a:t>
            </a:r>
            <a:r>
              <a:rPr lang="fr-FR" sz="1100" dirty="0">
                <a:solidFill>
                  <a:srgbClr val="001080"/>
                </a:solidFill>
                <a:latin typeface="Consolas" panose="020B0609020204030204" pitchFamily="49" charset="0"/>
              </a:rPr>
              <a:t>$middleware</a:t>
            </a:r>
            <a:r>
              <a:rPr lang="fr-FR" sz="1100" dirty="0">
                <a:solidFill>
                  <a:srgbClr val="000000"/>
                </a:solidFill>
                <a:latin typeface="Consolas" panose="020B0609020204030204" pitchFamily="49" charset="0"/>
              </a:rPr>
              <a:t>-&gt;</a:t>
            </a:r>
            <a:r>
              <a:rPr lang="fr-FR" sz="1100" dirty="0" err="1">
                <a:solidFill>
                  <a:srgbClr val="795E26"/>
                </a:solidFill>
                <a:latin typeface="Consolas" panose="020B0609020204030204" pitchFamily="49" charset="0"/>
              </a:rPr>
              <a:t>getMiddlewareGroups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001080"/>
                </a:solidFill>
                <a:latin typeface="Consolas" panose="020B0609020204030204" pitchFamily="49" charset="0"/>
              </a:rPr>
              <a:t>$kernel</a:t>
            </a:r>
            <a:r>
              <a:rPr lang="fr-FR" sz="1100" dirty="0">
                <a:solidFill>
                  <a:srgbClr val="000000"/>
                </a:solidFill>
                <a:latin typeface="Consolas" panose="020B0609020204030204" pitchFamily="49" charset="0"/>
              </a:rPr>
              <a:t>-&gt;</a:t>
            </a:r>
            <a:r>
              <a:rPr lang="fr-FR" sz="1100" dirty="0" err="1">
                <a:solidFill>
                  <a:srgbClr val="795E26"/>
                </a:solidFill>
                <a:latin typeface="Consolas" panose="020B0609020204030204" pitchFamily="49" charset="0"/>
              </a:rPr>
              <a:t>setMiddlewareAliases</a:t>
            </a:r>
            <a:r>
              <a:rPr lang="fr-FR" sz="1100" dirty="0">
                <a:solidFill>
                  <a:srgbClr val="000000"/>
                </a:solidFill>
                <a:latin typeface="Consolas" panose="020B0609020204030204" pitchFamily="49" charset="0"/>
              </a:rPr>
              <a:t>(</a:t>
            </a:r>
            <a:r>
              <a:rPr lang="fr-FR" sz="1100" dirty="0">
                <a:solidFill>
                  <a:srgbClr val="001080"/>
                </a:solidFill>
                <a:latin typeface="Consolas" panose="020B0609020204030204" pitchFamily="49" charset="0"/>
              </a:rPr>
              <a:t>$middleware</a:t>
            </a:r>
            <a:r>
              <a:rPr lang="fr-FR" sz="1100" dirty="0">
                <a:solidFill>
                  <a:srgbClr val="000000"/>
                </a:solidFill>
                <a:latin typeface="Consolas" panose="020B0609020204030204" pitchFamily="49" charset="0"/>
              </a:rPr>
              <a:t>-&gt;</a:t>
            </a:r>
            <a:r>
              <a:rPr lang="fr-FR" sz="1100" dirty="0" err="1">
                <a:solidFill>
                  <a:srgbClr val="795E26"/>
                </a:solidFill>
                <a:latin typeface="Consolas" panose="020B0609020204030204" pitchFamily="49" charset="0"/>
              </a:rPr>
              <a:t>getMiddlewareAliases</a:t>
            </a:r>
            <a:r>
              <a:rPr lang="fr-FR" sz="1100" dirty="0">
                <a:solidFill>
                  <a:srgbClr val="000000"/>
                </a:solidFill>
                <a:latin typeface="Consolas" panose="020B0609020204030204" pitchFamily="49" charset="0"/>
              </a:rPr>
              <a:t>());</a:t>
            </a:r>
          </a:p>
          <a:p>
            <a:br>
              <a:rPr lang="fr-FR" sz="1100" dirty="0">
                <a:solidFill>
                  <a:srgbClr val="000000"/>
                </a:solidFill>
                <a:latin typeface="Consolas" panose="020B0609020204030204" pitchFamily="49" charset="0"/>
              </a:rPr>
            </a:br>
            <a:r>
              <a:rPr lang="fr-FR" sz="1100" dirty="0">
                <a:solidFill>
                  <a:srgbClr val="000000"/>
                </a:solidFill>
                <a:latin typeface="Consolas" panose="020B0609020204030204" pitchFamily="49" charset="0"/>
              </a:rPr>
              <a:t>            </a:t>
            </a:r>
            <a:r>
              <a:rPr lang="fr-FR" sz="1100" dirty="0">
                <a:solidFill>
                  <a:srgbClr val="AF00DB"/>
                </a:solidFill>
                <a:latin typeface="Consolas" panose="020B0609020204030204" pitchFamily="49" charset="0"/>
              </a:rPr>
              <a:t>if</a:t>
            </a:r>
            <a:r>
              <a:rPr lang="fr-FR" sz="1100" dirty="0">
                <a:solidFill>
                  <a:srgbClr val="000000"/>
                </a:solidFill>
                <a:latin typeface="Consolas" panose="020B0609020204030204" pitchFamily="49" charset="0"/>
              </a:rPr>
              <a:t> (</a:t>
            </a:r>
            <a:r>
              <a:rPr lang="fr-FR" sz="1100" dirty="0">
                <a:solidFill>
                  <a:srgbClr val="001080"/>
                </a:solidFill>
                <a:latin typeface="Consolas" panose="020B0609020204030204" pitchFamily="49" charset="0"/>
              </a:rPr>
              <a:t>$</a:t>
            </a:r>
            <a:r>
              <a:rPr lang="fr-FR" sz="1100" dirty="0" err="1">
                <a:solidFill>
                  <a:srgbClr val="001080"/>
                </a:solidFill>
                <a:latin typeface="Consolas" panose="020B0609020204030204" pitchFamily="49" charset="0"/>
              </a:rPr>
              <a:t>priorities</a:t>
            </a:r>
            <a:r>
              <a:rPr lang="fr-FR" sz="1100" dirty="0">
                <a:solidFill>
                  <a:srgbClr val="000000"/>
                </a:solidFill>
                <a:latin typeface="Consolas" panose="020B0609020204030204" pitchFamily="49" charset="0"/>
              </a:rPr>
              <a:t> = </a:t>
            </a:r>
            <a:r>
              <a:rPr lang="fr-FR" sz="1100" dirty="0">
                <a:solidFill>
                  <a:srgbClr val="001080"/>
                </a:solidFill>
                <a:latin typeface="Consolas" panose="020B0609020204030204" pitchFamily="49" charset="0"/>
              </a:rPr>
              <a:t>$middleware</a:t>
            </a:r>
            <a:r>
              <a:rPr lang="fr-FR" sz="1100" dirty="0">
                <a:solidFill>
                  <a:srgbClr val="000000"/>
                </a:solidFill>
                <a:latin typeface="Consolas" panose="020B0609020204030204" pitchFamily="49" charset="0"/>
              </a:rPr>
              <a:t>-&gt;</a:t>
            </a:r>
            <a:r>
              <a:rPr lang="fr-FR" sz="1100" dirty="0" err="1">
                <a:solidFill>
                  <a:srgbClr val="795E26"/>
                </a:solidFill>
                <a:latin typeface="Consolas" panose="020B0609020204030204" pitchFamily="49" charset="0"/>
              </a:rPr>
              <a:t>getMiddlewarePriority</a:t>
            </a:r>
            <a:r>
              <a:rPr lang="fr-FR" sz="1100" dirty="0">
                <a:solidFill>
                  <a:srgbClr val="000000"/>
                </a:solidFill>
                <a:latin typeface="Consolas" panose="020B0609020204030204" pitchFamily="49" charset="0"/>
              </a:rPr>
              <a:t>()) {</a:t>
            </a:r>
          </a:p>
          <a:p>
            <a:r>
              <a:rPr lang="fr-FR" sz="1100" dirty="0">
                <a:solidFill>
                  <a:srgbClr val="000000"/>
                </a:solidFill>
                <a:latin typeface="Consolas" panose="020B0609020204030204" pitchFamily="49" charset="0"/>
              </a:rPr>
              <a:t>                </a:t>
            </a:r>
            <a:r>
              <a:rPr lang="fr-FR" sz="1100" dirty="0">
                <a:solidFill>
                  <a:srgbClr val="001080"/>
                </a:solidFill>
                <a:latin typeface="Consolas" panose="020B0609020204030204" pitchFamily="49" charset="0"/>
              </a:rPr>
              <a:t>$kernel</a:t>
            </a:r>
            <a:r>
              <a:rPr lang="fr-FR" sz="1100" dirty="0">
                <a:solidFill>
                  <a:srgbClr val="000000"/>
                </a:solidFill>
                <a:latin typeface="Consolas" panose="020B0609020204030204" pitchFamily="49" charset="0"/>
              </a:rPr>
              <a:t>-&gt;</a:t>
            </a:r>
            <a:r>
              <a:rPr lang="fr-FR" sz="1100" dirty="0" err="1">
                <a:solidFill>
                  <a:srgbClr val="795E26"/>
                </a:solidFill>
                <a:latin typeface="Consolas" panose="020B0609020204030204" pitchFamily="49" charset="0"/>
              </a:rPr>
              <a:t>setMiddlewarePriority</a:t>
            </a:r>
            <a:r>
              <a:rPr lang="fr-FR" sz="1100" dirty="0">
                <a:solidFill>
                  <a:srgbClr val="000000"/>
                </a:solidFill>
                <a:latin typeface="Consolas" panose="020B0609020204030204" pitchFamily="49" charset="0"/>
              </a:rPr>
              <a:t>(</a:t>
            </a:r>
            <a:r>
              <a:rPr lang="fr-FR" sz="1100" dirty="0">
                <a:solidFill>
                  <a:srgbClr val="001080"/>
                </a:solidFill>
                <a:latin typeface="Consolas" panose="020B0609020204030204" pitchFamily="49" charset="0"/>
              </a:rPr>
              <a:t>$</a:t>
            </a:r>
            <a:r>
              <a:rPr lang="fr-FR" sz="1100" dirty="0" err="1">
                <a:solidFill>
                  <a:srgbClr val="001080"/>
                </a:solidFill>
                <a:latin typeface="Consolas" panose="020B0609020204030204" pitchFamily="49" charset="0"/>
              </a:rPr>
              <a:t>priorities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p>
          <a:p>
            <a:r>
              <a:rPr lang="fr-FR" sz="1100" dirty="0">
                <a:solidFill>
                  <a:srgbClr val="000000"/>
                </a:solidFill>
                <a:latin typeface="Consolas" panose="020B0609020204030204" pitchFamily="49" charset="0"/>
              </a:rPr>
              <a:t>        });</a:t>
            </a:r>
          </a:p>
          <a:p>
            <a:br>
              <a:rPr lang="fr-FR" sz="1100" dirty="0">
                <a:solidFill>
                  <a:srgbClr val="000000"/>
                </a:solidFill>
                <a:latin typeface="Consolas" panose="020B0609020204030204" pitchFamily="49" charset="0"/>
              </a:rPr>
            </a:br>
            <a:r>
              <a:rPr lang="fr-FR" sz="1100" dirty="0">
                <a:solidFill>
                  <a:srgbClr val="000000"/>
                </a:solidFill>
                <a:latin typeface="Consolas" panose="020B0609020204030204" pitchFamily="49" charset="0"/>
              </a:rPr>
              <a:t>        </a:t>
            </a:r>
            <a:r>
              <a:rPr lang="fr-FR" sz="1100" dirty="0">
                <a:solidFill>
                  <a:srgbClr val="AF00DB"/>
                </a:solidFill>
                <a:latin typeface="Consolas" panose="020B0609020204030204" pitchFamily="49" charset="0"/>
              </a:rPr>
              <a:t>return</a:t>
            </a:r>
            <a:r>
              <a:rPr lang="fr-FR" sz="1100" dirty="0">
                <a:solidFill>
                  <a:srgbClr val="000000"/>
                </a:solidFill>
                <a:latin typeface="Consolas" panose="020B0609020204030204" pitchFamily="49" charset="0"/>
              </a:rPr>
              <a:t> </a:t>
            </a:r>
            <a:r>
              <a:rPr lang="fr-FR" sz="1100" dirty="0">
                <a:solidFill>
                  <a:srgbClr val="0000FF"/>
                </a:solidFill>
                <a:latin typeface="Consolas" panose="020B0609020204030204" pitchFamily="49" charset="0"/>
              </a:rPr>
              <a:t>$</a:t>
            </a:r>
            <a:r>
              <a:rPr lang="fr-FR" sz="1100" dirty="0" err="1">
                <a:solidFill>
                  <a:srgbClr val="0000FF"/>
                </a:solidFill>
                <a:latin typeface="Consolas" panose="020B0609020204030204" pitchFamily="49" charset="0"/>
              </a:rPr>
              <a:t>this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p>
        </p:txBody>
      </p:sp>
    </p:spTree>
    <p:extLst>
      <p:ext uri="{BB962C8B-B14F-4D97-AF65-F5344CB8AC3E}">
        <p14:creationId xmlns:p14="http://schemas.microsoft.com/office/powerpoint/2010/main" val="327058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Utilisation des Middleware </a:t>
            </a:r>
            <a:endParaRPr lang="fr-FR" sz="1900" b="1" dirty="0">
              <a:solidFill>
                <a:schemeClr val="tx1"/>
              </a:solidFill>
            </a:endParaRPr>
          </a:p>
          <a:p>
            <a:pPr lvl="2">
              <a:buFont typeface="Wingdings" panose="05000000000000000000" pitchFamily="2" charset="2"/>
              <a:buChar char="ü"/>
            </a:pPr>
            <a:r>
              <a:rPr lang="fr-FR" sz="2000" dirty="0">
                <a:solidFill>
                  <a:srgbClr val="00B0F0"/>
                </a:solidFill>
                <a:latin typeface="Times New Roman" panose="02020603050405020304" pitchFamily="18" charset="0"/>
                <a:cs typeface="Times New Roman" panose="02020603050405020304" pitchFamily="18" charset="0"/>
              </a:rPr>
              <a:t>Route Middleware :</a:t>
            </a:r>
            <a:endParaRPr lang="fr-FR" sz="2000" dirty="0">
              <a:latin typeface="Times New Roman" panose="02020603050405020304" pitchFamily="18" charset="0"/>
              <a:cs typeface="Times New Roman" panose="02020603050405020304" pitchFamily="18" charset="0"/>
            </a:endParaRPr>
          </a:p>
          <a:p>
            <a:pPr marL="1371600" lvl="3" indent="0">
              <a:buNone/>
            </a:pPr>
            <a:r>
              <a:rPr lang="fr-FR" dirty="0">
                <a:latin typeface="Times New Roman" panose="02020603050405020304" pitchFamily="18" charset="0"/>
                <a:cs typeface="Times New Roman" panose="02020603050405020304" pitchFamily="18" charset="0"/>
              </a:rPr>
              <a:t>Il permet de protéger  une Route ou un ensemble de routes ou un contrôleur .</a:t>
            </a:r>
          </a:p>
          <a:p>
            <a:pPr marL="1371600" lvl="3" indent="0">
              <a:buNone/>
            </a:pPr>
            <a:r>
              <a:rPr lang="fr-FR" dirty="0">
                <a:latin typeface="Times New Roman" panose="02020603050405020304" pitchFamily="18" charset="0"/>
                <a:cs typeface="Times New Roman" panose="02020603050405020304" pitchFamily="18" charset="0"/>
              </a:rPr>
              <a:t>Donc si un seul Middleware pour une route ou un groupe de route ou un contrôleur.</a:t>
            </a:r>
          </a:p>
          <a:p>
            <a:pPr marL="1371600" lvl="3" indent="0">
              <a:buNone/>
            </a:pPr>
            <a:endParaRPr lang="fr-FR" sz="2400" dirty="0">
              <a:latin typeface="Times New Roman" panose="02020603050405020304" pitchFamily="18" charset="0"/>
              <a:cs typeface="Times New Roman" panose="02020603050405020304" pitchFamily="18" charset="0"/>
            </a:endParaRPr>
          </a:p>
          <a:p>
            <a:pPr marL="1371600" lvl="3" indent="0">
              <a:buNone/>
            </a:pPr>
            <a:endParaRPr lang="fr-FR" sz="2400" dirty="0">
              <a:latin typeface="Times New Roman" panose="02020603050405020304" pitchFamily="18" charset="0"/>
              <a:cs typeface="Times New Roman" panose="02020603050405020304" pitchFamily="18" charset="0"/>
            </a:endParaRPr>
          </a:p>
          <a:p>
            <a:pPr marL="0" lvl="0" indent="0">
              <a:buNone/>
            </a:pPr>
            <a:endParaRPr lang="fr-FR" sz="2000" dirty="0">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CA3858A-4EDF-4FE1-AC7B-E0053DB100E6}"/>
              </a:ext>
            </a:extLst>
          </p:cNvPr>
          <p:cNvSpPr/>
          <p:nvPr/>
        </p:nvSpPr>
        <p:spPr>
          <a:xfrm>
            <a:off x="575556" y="4725144"/>
            <a:ext cx="7992888" cy="8640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4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$kernel</a:t>
            </a:r>
            <a:r>
              <a:rPr lang="fr-FR" sz="1600" dirty="0">
                <a:solidFill>
                  <a:srgbClr val="000000"/>
                </a:solidFill>
                <a:latin typeface="Consolas" panose="020B0609020204030204" pitchFamily="49" charset="0"/>
              </a:rPr>
              <a:t>-&gt;</a:t>
            </a:r>
            <a:r>
              <a:rPr lang="fr-FR" sz="1600" dirty="0" err="1">
                <a:solidFill>
                  <a:srgbClr val="795E26"/>
                </a:solidFill>
                <a:latin typeface="Consolas" panose="020B0609020204030204" pitchFamily="49" charset="0"/>
              </a:rPr>
              <a:t>setMiddlewareAliases</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$middleware</a:t>
            </a:r>
            <a:r>
              <a:rPr lang="fr-FR" sz="1600" dirty="0">
                <a:solidFill>
                  <a:srgbClr val="000000"/>
                </a:solidFill>
                <a:latin typeface="Consolas" panose="020B0609020204030204" pitchFamily="49" charset="0"/>
              </a:rPr>
              <a:t>-&gt;</a:t>
            </a:r>
            <a:r>
              <a:rPr lang="fr-FR" sz="1600" dirty="0" err="1">
                <a:solidFill>
                  <a:srgbClr val="795E26"/>
                </a:solidFill>
                <a:latin typeface="Consolas" panose="020B0609020204030204" pitchFamily="49" charset="0"/>
              </a:rPr>
              <a:t>getMiddlewareAliases</a:t>
            </a:r>
            <a:r>
              <a:rPr lang="fr-FR" sz="16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894917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198876"/>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1600" b="1" dirty="0">
                <a:solidFill>
                  <a:srgbClr val="002060"/>
                </a:solidFill>
                <a:latin typeface="Times New Roman" panose="02020603050405020304" pitchFamily="18" charset="0"/>
                <a:cs typeface="Times New Roman" panose="02020603050405020304" pitchFamily="18" charset="0"/>
              </a:rPr>
              <a:t>Programmer avec Laravel</a:t>
            </a:r>
            <a:endParaRPr lang="fr-FR" sz="16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16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1600" dirty="0"/>
              <a:t> </a:t>
            </a:r>
            <a:r>
              <a:rPr lang="fr-FR" sz="1600" dirty="0">
                <a:solidFill>
                  <a:srgbClr val="C00000"/>
                </a:solidFill>
                <a:latin typeface="Times New Roman" panose="02020603050405020304" pitchFamily="18" charset="0"/>
                <a:cs typeface="Times New Roman" panose="02020603050405020304" pitchFamily="18" charset="0"/>
              </a:rPr>
              <a:t>Laravel</a:t>
            </a:r>
            <a:endParaRPr lang="fr-FR" sz="1600" dirty="0">
              <a:latin typeface="Times New Roman" panose="02020603050405020304" pitchFamily="18" charset="0"/>
              <a:cs typeface="Times New Roman" panose="02020603050405020304" pitchFamily="18" charset="0"/>
            </a:endParaRPr>
          </a:p>
          <a:p>
            <a:pPr marL="400050" lvl="1" indent="0" algn="ctr">
              <a:buNone/>
            </a:pPr>
            <a:r>
              <a:rPr lang="fr-FR" sz="1600" dirty="0">
                <a:solidFill>
                  <a:srgbClr val="00B0F0"/>
                </a:solidFill>
              </a:rPr>
              <a:t>Utilisation des Middleware </a:t>
            </a:r>
            <a:endParaRPr lang="fr-FR" sz="1600" b="1" dirty="0">
              <a:solidFill>
                <a:schemeClr val="tx1"/>
              </a:solidFill>
            </a:endParaRPr>
          </a:p>
          <a:p>
            <a:pPr lvl="2">
              <a:buFont typeface="Wingdings" panose="05000000000000000000" pitchFamily="2" charset="2"/>
              <a:buChar char="ü"/>
            </a:pPr>
            <a:r>
              <a:rPr lang="fr-FR" sz="1600" dirty="0">
                <a:solidFill>
                  <a:srgbClr val="00B0F0"/>
                </a:solidFill>
                <a:latin typeface="Times New Roman" panose="02020603050405020304" pitchFamily="18" charset="0"/>
                <a:cs typeface="Times New Roman" panose="02020603050405020304" pitchFamily="18" charset="0"/>
              </a:rPr>
              <a:t>Route Middleware :</a:t>
            </a:r>
            <a:endParaRPr lang="fr-FR" sz="1600" dirty="0">
              <a:latin typeface="Times New Roman" panose="02020603050405020304" pitchFamily="18" charset="0"/>
              <a:cs typeface="Times New Roman" panose="02020603050405020304" pitchFamily="18" charset="0"/>
            </a:endParaRPr>
          </a:p>
          <a:p>
            <a:pPr marL="1371600" lvl="3" indent="0">
              <a:buNone/>
            </a:pPr>
            <a:endParaRPr lang="fr-FR" sz="2400" dirty="0">
              <a:latin typeface="Times New Roman" panose="02020603050405020304" pitchFamily="18" charset="0"/>
              <a:cs typeface="Times New Roman" panose="02020603050405020304" pitchFamily="18" charset="0"/>
            </a:endParaRPr>
          </a:p>
          <a:p>
            <a:pPr marL="0" lvl="0" indent="0">
              <a:buNone/>
            </a:pPr>
            <a:endParaRPr lang="fr-FR" sz="2000" dirty="0">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98341BBF-0590-47D8-BA38-759287503B0B}"/>
              </a:ext>
            </a:extLst>
          </p:cNvPr>
          <p:cNvSpPr/>
          <p:nvPr/>
        </p:nvSpPr>
        <p:spPr>
          <a:xfrm>
            <a:off x="575556" y="2478596"/>
            <a:ext cx="7992888" cy="39027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1100" dirty="0">
                <a:solidFill>
                  <a:srgbClr val="000000"/>
                </a:solidFill>
                <a:latin typeface="Consolas" panose="020B0609020204030204" pitchFamily="49" charset="0"/>
              </a:rPr>
              <a:t>   </a:t>
            </a:r>
          </a:p>
          <a:p>
            <a:r>
              <a:rPr lang="fr-FR" sz="1100" dirty="0">
                <a:solidFill>
                  <a:srgbClr val="000000"/>
                </a:solidFill>
                <a:latin typeface="Consolas" panose="020B0609020204030204" pitchFamily="49" charset="0"/>
              </a:rPr>
              <a:t> </a:t>
            </a:r>
            <a:r>
              <a:rPr lang="fr-FR" sz="1100" dirty="0">
                <a:solidFill>
                  <a:srgbClr val="0000FF"/>
                </a:solidFill>
                <a:latin typeface="Consolas" panose="020B0609020204030204" pitchFamily="49" charset="0"/>
              </a:rPr>
              <a:t>public</a:t>
            </a:r>
            <a:r>
              <a:rPr lang="fr-FR" sz="1100" dirty="0">
                <a:solidFill>
                  <a:srgbClr val="000000"/>
                </a:solidFill>
                <a:latin typeface="Consolas" panose="020B0609020204030204" pitchFamily="49" charset="0"/>
              </a:rPr>
              <a:t> </a:t>
            </a:r>
            <a:r>
              <a:rPr lang="fr-FR" sz="1100" dirty="0" err="1">
                <a:solidFill>
                  <a:srgbClr val="0000FF"/>
                </a:solidFill>
                <a:latin typeface="Consolas" panose="020B0609020204030204" pitchFamily="49" charset="0"/>
              </a:rPr>
              <a:t>function</a:t>
            </a:r>
            <a:r>
              <a:rPr lang="fr-FR" sz="1100" dirty="0">
                <a:solidFill>
                  <a:srgbClr val="000000"/>
                </a:solidFill>
                <a:latin typeface="Consolas" panose="020B0609020204030204" pitchFamily="49" charset="0"/>
              </a:rPr>
              <a:t> </a:t>
            </a:r>
            <a:r>
              <a:rPr lang="fr-FR" sz="1100" dirty="0" err="1">
                <a:solidFill>
                  <a:srgbClr val="795E26"/>
                </a:solidFill>
                <a:latin typeface="Consolas" panose="020B0609020204030204" pitchFamily="49" charset="0"/>
              </a:rPr>
              <a:t>getMiddlewareAliases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p>
          <a:p>
            <a:r>
              <a:rPr lang="fr-FR" sz="1100" dirty="0">
                <a:solidFill>
                  <a:srgbClr val="000000"/>
                </a:solidFill>
                <a:latin typeface="Consolas" panose="020B0609020204030204" pitchFamily="49" charset="0"/>
              </a:rPr>
              <a:t>        </a:t>
            </a:r>
            <a:r>
              <a:rPr lang="fr-FR" sz="1100" dirty="0">
                <a:solidFill>
                  <a:srgbClr val="AF00DB"/>
                </a:solidFill>
                <a:latin typeface="Consolas" panose="020B0609020204030204" pitchFamily="49" charset="0"/>
              </a:rPr>
              <a:t>return</a:t>
            </a:r>
            <a:r>
              <a:rPr lang="fr-FR" sz="1100" dirty="0">
                <a:solidFill>
                  <a:srgbClr val="000000"/>
                </a:solidFill>
                <a:latin typeface="Consolas" panose="020B0609020204030204" pitchFamily="49" charset="0"/>
              </a:rPr>
              <a:t> </a:t>
            </a:r>
            <a:r>
              <a:rPr lang="fr-FR" sz="1100" dirty="0" err="1">
                <a:solidFill>
                  <a:srgbClr val="795E26"/>
                </a:solidFill>
                <a:latin typeface="Consolas" panose="020B0609020204030204" pitchFamily="49" charset="0"/>
              </a:rPr>
              <a:t>array_merge</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a:t>
            </a:r>
            <a:r>
              <a:rPr lang="fr-FR" sz="1100" dirty="0" err="1">
                <a:solidFill>
                  <a:srgbClr val="0000FF"/>
                </a:solidFill>
                <a:latin typeface="Consolas" panose="020B0609020204030204" pitchFamily="49" charset="0"/>
              </a:rPr>
              <a:t>this</a:t>
            </a:r>
            <a:r>
              <a:rPr lang="fr-FR" sz="1100" dirty="0">
                <a:solidFill>
                  <a:srgbClr val="000000"/>
                </a:solidFill>
                <a:latin typeface="Consolas" panose="020B0609020204030204" pitchFamily="49" charset="0"/>
              </a:rPr>
              <a:t>-&gt;</a:t>
            </a:r>
            <a:r>
              <a:rPr lang="fr-FR" sz="1100" dirty="0" err="1">
                <a:solidFill>
                  <a:srgbClr val="795E26"/>
                </a:solidFill>
                <a:latin typeface="Consolas" panose="020B0609020204030204" pitchFamily="49" charset="0"/>
              </a:rPr>
              <a:t>defaultAliases</a:t>
            </a:r>
            <a:r>
              <a:rPr lang="fr-FR" sz="1100" dirty="0">
                <a:solidFill>
                  <a:srgbClr val="000000"/>
                </a:solidFill>
                <a:latin typeface="Consolas" panose="020B0609020204030204" pitchFamily="49" charset="0"/>
              </a:rPr>
              <a:t>(), </a:t>
            </a:r>
            <a:r>
              <a:rPr lang="fr-FR" sz="1100" dirty="0">
                <a:solidFill>
                  <a:srgbClr val="0000FF"/>
                </a:solidFill>
                <a:latin typeface="Consolas" panose="020B0609020204030204" pitchFamily="49" charset="0"/>
              </a:rPr>
              <a:t>$</a:t>
            </a:r>
            <a:r>
              <a:rPr lang="fr-FR" sz="1100" dirty="0" err="1">
                <a:solidFill>
                  <a:srgbClr val="0000FF"/>
                </a:solidFill>
                <a:latin typeface="Consolas" panose="020B0609020204030204" pitchFamily="49" charset="0"/>
              </a:rPr>
              <a:t>this</a:t>
            </a:r>
            <a:r>
              <a:rPr lang="fr-FR" sz="1100" dirty="0">
                <a:solidFill>
                  <a:srgbClr val="000000"/>
                </a:solidFill>
                <a:latin typeface="Consolas" panose="020B0609020204030204" pitchFamily="49" charset="0"/>
              </a:rPr>
              <a:t>-&gt;</a:t>
            </a:r>
            <a:r>
              <a:rPr lang="fr-FR" sz="1100" dirty="0" err="1">
                <a:solidFill>
                  <a:srgbClr val="001080"/>
                </a:solidFill>
                <a:latin typeface="Consolas" panose="020B0609020204030204" pitchFamily="49" charset="0"/>
              </a:rPr>
              <a:t>customAliases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br>
              <a:rPr lang="fr-FR" sz="1100" dirty="0">
                <a:solidFill>
                  <a:srgbClr val="000000"/>
                </a:solidFill>
                <a:latin typeface="Consolas" panose="020B0609020204030204" pitchFamily="49" charset="0"/>
              </a:rPr>
            </a:br>
            <a:r>
              <a:rPr lang="fr-FR" sz="1100" dirty="0">
                <a:solidFill>
                  <a:srgbClr val="000000"/>
                </a:solidFill>
                <a:latin typeface="Consolas" panose="020B0609020204030204" pitchFamily="49" charset="0"/>
              </a:rPr>
              <a:t>       </a:t>
            </a:r>
            <a:r>
              <a:rPr lang="fr-FR" sz="1100" dirty="0" err="1">
                <a:solidFill>
                  <a:srgbClr val="0000FF"/>
                </a:solidFill>
                <a:latin typeface="Consolas" panose="020B0609020204030204" pitchFamily="49" charset="0"/>
              </a:rPr>
              <a:t>protected</a:t>
            </a:r>
            <a:r>
              <a:rPr lang="fr-FR" sz="1100" dirty="0">
                <a:solidFill>
                  <a:srgbClr val="000000"/>
                </a:solidFill>
                <a:latin typeface="Consolas" panose="020B0609020204030204" pitchFamily="49" charset="0"/>
              </a:rPr>
              <a:t> </a:t>
            </a:r>
            <a:r>
              <a:rPr lang="fr-FR" sz="1100" dirty="0" err="1">
                <a:solidFill>
                  <a:srgbClr val="0000FF"/>
                </a:solidFill>
                <a:latin typeface="Consolas" panose="020B0609020204030204" pitchFamily="49" charset="0"/>
              </a:rPr>
              <a:t>function</a:t>
            </a:r>
            <a:r>
              <a:rPr lang="fr-FR" sz="1100" dirty="0">
                <a:solidFill>
                  <a:srgbClr val="000000"/>
                </a:solidFill>
                <a:latin typeface="Consolas" panose="020B0609020204030204" pitchFamily="49" charset="0"/>
              </a:rPr>
              <a:t> </a:t>
            </a:r>
            <a:r>
              <a:rPr lang="fr-FR" sz="1100" dirty="0" err="1">
                <a:solidFill>
                  <a:srgbClr val="795E26"/>
                </a:solidFill>
                <a:latin typeface="Consolas" panose="020B0609020204030204" pitchFamily="49" charset="0"/>
              </a:rPr>
              <a:t>defaultAliases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p>
          <a:p>
            <a:r>
              <a:rPr lang="fr-FR" sz="1100" dirty="0">
                <a:solidFill>
                  <a:srgbClr val="000000"/>
                </a:solidFill>
                <a:latin typeface="Consolas" panose="020B0609020204030204" pitchFamily="49" charset="0"/>
              </a:rPr>
              <a:t>        </a:t>
            </a:r>
            <a:r>
              <a:rPr lang="fr-FR" sz="1100" dirty="0">
                <a:solidFill>
                  <a:srgbClr val="001080"/>
                </a:solidFill>
                <a:latin typeface="Consolas" panose="020B0609020204030204" pitchFamily="49" charset="0"/>
              </a:rPr>
              <a:t>$</a:t>
            </a:r>
            <a:r>
              <a:rPr lang="fr-FR" sz="1100" dirty="0" err="1">
                <a:solidFill>
                  <a:srgbClr val="001080"/>
                </a:solidFill>
                <a:latin typeface="Consolas" panose="020B0609020204030204" pitchFamily="49" charset="0"/>
              </a:rPr>
              <a:t>aliases</a:t>
            </a:r>
            <a:r>
              <a:rPr lang="fr-FR" sz="1100" dirty="0">
                <a:solidFill>
                  <a:srgbClr val="000000"/>
                </a:solidFill>
                <a:latin typeface="Consolas" panose="020B0609020204030204" pitchFamily="49" charset="0"/>
              </a:rPr>
              <a:t> = [</a:t>
            </a:r>
          </a:p>
          <a:p>
            <a:r>
              <a:rPr lang="fr-FR" sz="1100" dirty="0">
                <a:solidFill>
                  <a:srgbClr val="000000"/>
                </a:solidFill>
                <a:latin typeface="Consolas" panose="020B0609020204030204" pitchFamily="49" charset="0"/>
              </a:rPr>
              <a:t>            </a:t>
            </a:r>
            <a:r>
              <a:rPr lang="fr-FR" sz="1100" dirty="0">
                <a:solidFill>
                  <a:srgbClr val="A31515"/>
                </a:solidFill>
                <a:latin typeface="Consolas" panose="020B0609020204030204" pitchFamily="49" charset="0"/>
              </a:rPr>
              <a:t>'</a:t>
            </a:r>
            <a:r>
              <a:rPr lang="fr-FR" sz="1100" dirty="0" err="1">
                <a:solidFill>
                  <a:srgbClr val="A31515"/>
                </a:solidFill>
                <a:latin typeface="Consolas" panose="020B0609020204030204" pitchFamily="49" charset="0"/>
              </a:rPr>
              <a:t>auth</a:t>
            </a:r>
            <a:r>
              <a:rPr lang="fr-FR" sz="1100" dirty="0">
                <a:solidFill>
                  <a:srgbClr val="A31515"/>
                </a:solidFill>
                <a:latin typeface="Consolas" panose="020B0609020204030204" pitchFamily="49" charset="0"/>
              </a:rPr>
              <a:t>'</a:t>
            </a:r>
            <a:r>
              <a:rPr lang="fr-FR" sz="1100" dirty="0">
                <a:solidFill>
                  <a:srgbClr val="000000"/>
                </a:solidFill>
                <a:latin typeface="Consolas" panose="020B0609020204030204" pitchFamily="49" charset="0"/>
              </a:rPr>
              <a:t> =&gt; \</a:t>
            </a:r>
            <a:r>
              <a:rPr lang="fr-FR" sz="1100" dirty="0" err="1">
                <a:solidFill>
                  <a:srgbClr val="000000"/>
                </a:solidFill>
                <a:latin typeface="Consolas" panose="020B0609020204030204" pitchFamily="49" charset="0"/>
              </a:rPr>
              <a:t>Illuminate</a:t>
            </a:r>
            <a:r>
              <a:rPr lang="fr-FR" sz="1100" dirty="0">
                <a:solidFill>
                  <a:srgbClr val="000000"/>
                </a:solidFill>
                <a:latin typeface="Consolas" panose="020B0609020204030204" pitchFamily="49" charset="0"/>
              </a:rPr>
              <a:t>\</a:t>
            </a:r>
            <a:r>
              <a:rPr lang="fr-FR" sz="1100" dirty="0" err="1">
                <a:solidFill>
                  <a:srgbClr val="000000"/>
                </a:solidFill>
                <a:latin typeface="Consolas" panose="020B0609020204030204" pitchFamily="49" charset="0"/>
              </a:rPr>
              <a:t>Auth</a:t>
            </a:r>
            <a:r>
              <a:rPr lang="fr-FR" sz="1100" dirty="0">
                <a:solidFill>
                  <a:srgbClr val="000000"/>
                </a:solidFill>
                <a:latin typeface="Consolas" panose="020B0609020204030204" pitchFamily="49" charset="0"/>
              </a:rPr>
              <a:t>\Middleware\</a:t>
            </a:r>
            <a:r>
              <a:rPr lang="fr-FR" sz="1100" dirty="0" err="1">
                <a:solidFill>
                  <a:srgbClr val="267F99"/>
                </a:solidFill>
                <a:latin typeface="Consolas" panose="020B0609020204030204" pitchFamily="49" charset="0"/>
              </a:rPr>
              <a:t>Authenticate</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A31515"/>
                </a:solidFill>
                <a:latin typeface="Consolas" panose="020B0609020204030204" pitchFamily="49" charset="0"/>
              </a:rPr>
              <a:t>'</a:t>
            </a:r>
            <a:r>
              <a:rPr lang="fr-FR" sz="1100" dirty="0" err="1">
                <a:solidFill>
                  <a:srgbClr val="A31515"/>
                </a:solidFill>
                <a:latin typeface="Consolas" panose="020B0609020204030204" pitchFamily="49" charset="0"/>
              </a:rPr>
              <a:t>auth.basic</a:t>
            </a:r>
            <a:r>
              <a:rPr lang="fr-FR" sz="1100" dirty="0">
                <a:solidFill>
                  <a:srgbClr val="A31515"/>
                </a:solidFill>
                <a:latin typeface="Consolas" panose="020B0609020204030204" pitchFamily="49" charset="0"/>
              </a:rPr>
              <a:t>'</a:t>
            </a:r>
            <a:r>
              <a:rPr lang="fr-FR" sz="1100" dirty="0">
                <a:solidFill>
                  <a:srgbClr val="000000"/>
                </a:solidFill>
                <a:latin typeface="Consolas" panose="020B0609020204030204" pitchFamily="49" charset="0"/>
              </a:rPr>
              <a:t> =&gt; \</a:t>
            </a:r>
            <a:r>
              <a:rPr lang="fr-FR" sz="1100" dirty="0" err="1">
                <a:solidFill>
                  <a:srgbClr val="000000"/>
                </a:solidFill>
                <a:latin typeface="Consolas" panose="020B0609020204030204" pitchFamily="49" charset="0"/>
              </a:rPr>
              <a:t>Illuminate</a:t>
            </a:r>
            <a:r>
              <a:rPr lang="fr-FR" sz="1100" dirty="0">
                <a:solidFill>
                  <a:srgbClr val="000000"/>
                </a:solidFill>
                <a:latin typeface="Consolas" panose="020B0609020204030204" pitchFamily="49" charset="0"/>
              </a:rPr>
              <a:t>\</a:t>
            </a:r>
            <a:r>
              <a:rPr lang="fr-FR" sz="1100" dirty="0" err="1">
                <a:solidFill>
                  <a:srgbClr val="000000"/>
                </a:solidFill>
                <a:latin typeface="Consolas" panose="020B0609020204030204" pitchFamily="49" charset="0"/>
              </a:rPr>
              <a:t>Auth</a:t>
            </a:r>
            <a:r>
              <a:rPr lang="fr-FR" sz="1100" dirty="0">
                <a:solidFill>
                  <a:srgbClr val="000000"/>
                </a:solidFill>
                <a:latin typeface="Consolas" panose="020B0609020204030204" pitchFamily="49" charset="0"/>
              </a:rPr>
              <a:t>\Middleware\</a:t>
            </a:r>
            <a:r>
              <a:rPr lang="fr-FR" sz="1100" dirty="0" err="1">
                <a:solidFill>
                  <a:srgbClr val="267F99"/>
                </a:solidFill>
                <a:latin typeface="Consolas" panose="020B0609020204030204" pitchFamily="49" charset="0"/>
              </a:rPr>
              <a:t>AuthenticateWithBasicAuth</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A31515"/>
                </a:solidFill>
                <a:latin typeface="Consolas" panose="020B0609020204030204" pitchFamily="49" charset="0"/>
              </a:rPr>
              <a:t>'</a:t>
            </a:r>
            <a:r>
              <a:rPr lang="fr-FR" sz="1100" dirty="0" err="1">
                <a:solidFill>
                  <a:srgbClr val="A31515"/>
                </a:solidFill>
                <a:latin typeface="Consolas" panose="020B0609020204030204" pitchFamily="49" charset="0"/>
              </a:rPr>
              <a:t>auth.session</a:t>
            </a:r>
            <a:r>
              <a:rPr lang="fr-FR" sz="1100" dirty="0">
                <a:solidFill>
                  <a:srgbClr val="A31515"/>
                </a:solidFill>
                <a:latin typeface="Consolas" panose="020B0609020204030204" pitchFamily="49" charset="0"/>
              </a:rPr>
              <a:t>'</a:t>
            </a:r>
            <a:r>
              <a:rPr lang="fr-FR" sz="1100" dirty="0">
                <a:solidFill>
                  <a:srgbClr val="000000"/>
                </a:solidFill>
                <a:latin typeface="Consolas" panose="020B0609020204030204" pitchFamily="49" charset="0"/>
              </a:rPr>
              <a:t> =&gt; \</a:t>
            </a:r>
            <a:r>
              <a:rPr lang="fr-FR" sz="1100" dirty="0" err="1">
                <a:solidFill>
                  <a:srgbClr val="000000"/>
                </a:solidFill>
                <a:latin typeface="Consolas" panose="020B0609020204030204" pitchFamily="49" charset="0"/>
              </a:rPr>
              <a:t>Illuminate</a:t>
            </a:r>
            <a:r>
              <a:rPr lang="fr-FR" sz="1100" dirty="0">
                <a:solidFill>
                  <a:srgbClr val="000000"/>
                </a:solidFill>
                <a:latin typeface="Consolas" panose="020B0609020204030204" pitchFamily="49" charset="0"/>
              </a:rPr>
              <a:t>\Session\Middleware\</a:t>
            </a:r>
            <a:r>
              <a:rPr lang="fr-FR" sz="1100" dirty="0" err="1">
                <a:solidFill>
                  <a:srgbClr val="267F99"/>
                </a:solidFill>
                <a:latin typeface="Consolas" panose="020B0609020204030204" pitchFamily="49" charset="0"/>
              </a:rPr>
              <a:t>AuthenticateSession</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A31515"/>
                </a:solidFill>
                <a:latin typeface="Consolas" panose="020B0609020204030204" pitchFamily="49" charset="0"/>
              </a:rPr>
              <a:t>'</a:t>
            </a:r>
            <a:r>
              <a:rPr lang="fr-FR" sz="1100" dirty="0" err="1">
                <a:solidFill>
                  <a:srgbClr val="A31515"/>
                </a:solidFill>
                <a:latin typeface="Consolas" panose="020B0609020204030204" pitchFamily="49" charset="0"/>
              </a:rPr>
              <a:t>cache.headers</a:t>
            </a:r>
            <a:r>
              <a:rPr lang="fr-FR" sz="1100" dirty="0">
                <a:solidFill>
                  <a:srgbClr val="A31515"/>
                </a:solidFill>
                <a:latin typeface="Consolas" panose="020B0609020204030204" pitchFamily="49" charset="0"/>
              </a:rPr>
              <a:t>'</a:t>
            </a:r>
            <a:r>
              <a:rPr lang="fr-FR" sz="1100" dirty="0">
                <a:solidFill>
                  <a:srgbClr val="000000"/>
                </a:solidFill>
                <a:latin typeface="Consolas" panose="020B0609020204030204" pitchFamily="49" charset="0"/>
              </a:rPr>
              <a:t> =&gt; \</a:t>
            </a:r>
            <a:r>
              <a:rPr lang="fr-FR" sz="1100" dirty="0" err="1">
                <a:solidFill>
                  <a:srgbClr val="000000"/>
                </a:solidFill>
                <a:latin typeface="Consolas" panose="020B0609020204030204" pitchFamily="49" charset="0"/>
              </a:rPr>
              <a:t>Illuminate</a:t>
            </a:r>
            <a:r>
              <a:rPr lang="fr-FR" sz="1100" dirty="0">
                <a:solidFill>
                  <a:srgbClr val="000000"/>
                </a:solidFill>
                <a:latin typeface="Consolas" panose="020B0609020204030204" pitchFamily="49" charset="0"/>
              </a:rPr>
              <a:t>\Http\Middleware\</a:t>
            </a:r>
            <a:r>
              <a:rPr lang="fr-FR" sz="1100" dirty="0" err="1">
                <a:solidFill>
                  <a:srgbClr val="267F99"/>
                </a:solidFill>
                <a:latin typeface="Consolas" panose="020B0609020204030204" pitchFamily="49" charset="0"/>
              </a:rPr>
              <a:t>SetCacheHeaders</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A31515"/>
                </a:solidFill>
                <a:latin typeface="Consolas" panose="020B0609020204030204" pitchFamily="49" charset="0"/>
              </a:rPr>
              <a:t>'can'</a:t>
            </a:r>
            <a:r>
              <a:rPr lang="fr-FR" sz="1100" dirty="0">
                <a:solidFill>
                  <a:srgbClr val="000000"/>
                </a:solidFill>
                <a:latin typeface="Consolas" panose="020B0609020204030204" pitchFamily="49" charset="0"/>
              </a:rPr>
              <a:t> =&gt; \</a:t>
            </a:r>
            <a:r>
              <a:rPr lang="fr-FR" sz="1100" dirty="0" err="1">
                <a:solidFill>
                  <a:srgbClr val="000000"/>
                </a:solidFill>
                <a:latin typeface="Consolas" panose="020B0609020204030204" pitchFamily="49" charset="0"/>
              </a:rPr>
              <a:t>Illuminate</a:t>
            </a:r>
            <a:r>
              <a:rPr lang="fr-FR" sz="1100" dirty="0">
                <a:solidFill>
                  <a:srgbClr val="000000"/>
                </a:solidFill>
                <a:latin typeface="Consolas" panose="020B0609020204030204" pitchFamily="49" charset="0"/>
              </a:rPr>
              <a:t>\</a:t>
            </a:r>
            <a:r>
              <a:rPr lang="fr-FR" sz="1100" dirty="0" err="1">
                <a:solidFill>
                  <a:srgbClr val="000000"/>
                </a:solidFill>
                <a:latin typeface="Consolas" panose="020B0609020204030204" pitchFamily="49" charset="0"/>
              </a:rPr>
              <a:t>Auth</a:t>
            </a:r>
            <a:r>
              <a:rPr lang="fr-FR" sz="1100" dirty="0">
                <a:solidFill>
                  <a:srgbClr val="000000"/>
                </a:solidFill>
                <a:latin typeface="Consolas" panose="020B0609020204030204" pitchFamily="49" charset="0"/>
              </a:rPr>
              <a:t>\Middleware\</a:t>
            </a:r>
            <a:r>
              <a:rPr lang="fr-FR" sz="1100" dirty="0" err="1">
                <a:solidFill>
                  <a:srgbClr val="267F99"/>
                </a:solidFill>
                <a:latin typeface="Consolas" panose="020B0609020204030204" pitchFamily="49" charset="0"/>
              </a:rPr>
              <a:t>Authorize</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A31515"/>
                </a:solidFill>
                <a:latin typeface="Consolas" panose="020B0609020204030204" pitchFamily="49" charset="0"/>
              </a:rPr>
              <a:t>'</a:t>
            </a:r>
            <a:r>
              <a:rPr lang="fr-FR" sz="1100" dirty="0" err="1">
                <a:solidFill>
                  <a:srgbClr val="A31515"/>
                </a:solidFill>
                <a:latin typeface="Consolas" panose="020B0609020204030204" pitchFamily="49" charset="0"/>
              </a:rPr>
              <a:t>guest</a:t>
            </a:r>
            <a:r>
              <a:rPr lang="fr-FR" sz="1100" dirty="0">
                <a:solidFill>
                  <a:srgbClr val="A31515"/>
                </a:solidFill>
                <a:latin typeface="Consolas" panose="020B0609020204030204" pitchFamily="49" charset="0"/>
              </a:rPr>
              <a:t>'</a:t>
            </a:r>
            <a:r>
              <a:rPr lang="fr-FR" sz="1100" dirty="0">
                <a:solidFill>
                  <a:srgbClr val="000000"/>
                </a:solidFill>
                <a:latin typeface="Consolas" panose="020B0609020204030204" pitchFamily="49" charset="0"/>
              </a:rPr>
              <a:t> =&gt; \</a:t>
            </a:r>
            <a:r>
              <a:rPr lang="fr-FR" sz="1100" dirty="0" err="1">
                <a:solidFill>
                  <a:srgbClr val="000000"/>
                </a:solidFill>
                <a:latin typeface="Consolas" panose="020B0609020204030204" pitchFamily="49" charset="0"/>
              </a:rPr>
              <a:t>Illuminate</a:t>
            </a:r>
            <a:r>
              <a:rPr lang="fr-FR" sz="1100" dirty="0">
                <a:solidFill>
                  <a:srgbClr val="000000"/>
                </a:solidFill>
                <a:latin typeface="Consolas" panose="020B0609020204030204" pitchFamily="49" charset="0"/>
              </a:rPr>
              <a:t>\</a:t>
            </a:r>
            <a:r>
              <a:rPr lang="fr-FR" sz="1100" dirty="0" err="1">
                <a:solidFill>
                  <a:srgbClr val="000000"/>
                </a:solidFill>
                <a:latin typeface="Consolas" panose="020B0609020204030204" pitchFamily="49" charset="0"/>
              </a:rPr>
              <a:t>Auth</a:t>
            </a:r>
            <a:r>
              <a:rPr lang="fr-FR" sz="1100" dirty="0">
                <a:solidFill>
                  <a:srgbClr val="000000"/>
                </a:solidFill>
                <a:latin typeface="Consolas" panose="020B0609020204030204" pitchFamily="49" charset="0"/>
              </a:rPr>
              <a:t>\Middleware\</a:t>
            </a:r>
            <a:r>
              <a:rPr lang="fr-FR" sz="1100" dirty="0" err="1">
                <a:solidFill>
                  <a:srgbClr val="267F99"/>
                </a:solidFill>
                <a:latin typeface="Consolas" panose="020B0609020204030204" pitchFamily="49" charset="0"/>
              </a:rPr>
              <a:t>RedirectIfAuthenticated</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A31515"/>
                </a:solidFill>
                <a:latin typeface="Consolas" panose="020B0609020204030204" pitchFamily="49" charset="0"/>
              </a:rPr>
              <a:t>'</a:t>
            </a:r>
            <a:r>
              <a:rPr lang="fr-FR" sz="1100" dirty="0" err="1">
                <a:solidFill>
                  <a:srgbClr val="A31515"/>
                </a:solidFill>
                <a:latin typeface="Consolas" panose="020B0609020204030204" pitchFamily="49" charset="0"/>
              </a:rPr>
              <a:t>password.confirm</a:t>
            </a:r>
            <a:r>
              <a:rPr lang="fr-FR" sz="1100" dirty="0">
                <a:solidFill>
                  <a:srgbClr val="A31515"/>
                </a:solidFill>
                <a:latin typeface="Consolas" panose="020B0609020204030204" pitchFamily="49" charset="0"/>
              </a:rPr>
              <a:t>'</a:t>
            </a:r>
            <a:r>
              <a:rPr lang="fr-FR" sz="1100" dirty="0">
                <a:solidFill>
                  <a:srgbClr val="000000"/>
                </a:solidFill>
                <a:latin typeface="Consolas" panose="020B0609020204030204" pitchFamily="49" charset="0"/>
              </a:rPr>
              <a:t> =&gt; \</a:t>
            </a:r>
            <a:r>
              <a:rPr lang="fr-FR" sz="1100" dirty="0" err="1">
                <a:solidFill>
                  <a:srgbClr val="000000"/>
                </a:solidFill>
                <a:latin typeface="Consolas" panose="020B0609020204030204" pitchFamily="49" charset="0"/>
              </a:rPr>
              <a:t>Illuminate</a:t>
            </a:r>
            <a:r>
              <a:rPr lang="fr-FR" sz="1100" dirty="0">
                <a:solidFill>
                  <a:srgbClr val="000000"/>
                </a:solidFill>
                <a:latin typeface="Consolas" panose="020B0609020204030204" pitchFamily="49" charset="0"/>
              </a:rPr>
              <a:t>\</a:t>
            </a:r>
            <a:r>
              <a:rPr lang="fr-FR" sz="1100" dirty="0" err="1">
                <a:solidFill>
                  <a:srgbClr val="000000"/>
                </a:solidFill>
                <a:latin typeface="Consolas" panose="020B0609020204030204" pitchFamily="49" charset="0"/>
              </a:rPr>
              <a:t>Auth</a:t>
            </a:r>
            <a:r>
              <a:rPr lang="fr-FR" sz="1100" dirty="0">
                <a:solidFill>
                  <a:srgbClr val="000000"/>
                </a:solidFill>
                <a:latin typeface="Consolas" panose="020B0609020204030204" pitchFamily="49" charset="0"/>
              </a:rPr>
              <a:t>\Middleware\</a:t>
            </a:r>
            <a:r>
              <a:rPr lang="fr-FR" sz="1100" dirty="0" err="1">
                <a:solidFill>
                  <a:srgbClr val="267F99"/>
                </a:solidFill>
                <a:latin typeface="Consolas" panose="020B0609020204030204" pitchFamily="49" charset="0"/>
              </a:rPr>
              <a:t>RequirePassword</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A31515"/>
                </a:solidFill>
                <a:latin typeface="Consolas" panose="020B0609020204030204" pitchFamily="49" charset="0"/>
              </a:rPr>
              <a:t>'</a:t>
            </a:r>
            <a:r>
              <a:rPr lang="fr-FR" sz="1100" dirty="0" err="1">
                <a:solidFill>
                  <a:srgbClr val="A31515"/>
                </a:solidFill>
                <a:latin typeface="Consolas" panose="020B0609020204030204" pitchFamily="49" charset="0"/>
              </a:rPr>
              <a:t>precognitive</a:t>
            </a:r>
            <a:r>
              <a:rPr lang="fr-FR" sz="1100" dirty="0">
                <a:solidFill>
                  <a:srgbClr val="A31515"/>
                </a:solidFill>
                <a:latin typeface="Consolas" panose="020B0609020204030204" pitchFamily="49" charset="0"/>
              </a:rPr>
              <a:t>'</a:t>
            </a:r>
            <a:r>
              <a:rPr lang="fr-FR" sz="1100" dirty="0">
                <a:solidFill>
                  <a:srgbClr val="000000"/>
                </a:solidFill>
                <a:latin typeface="Consolas" panose="020B0609020204030204" pitchFamily="49" charset="0"/>
              </a:rPr>
              <a:t> =&gt; \</a:t>
            </a:r>
            <a:r>
              <a:rPr lang="fr-FR" sz="1100" dirty="0" err="1">
                <a:solidFill>
                  <a:srgbClr val="000000"/>
                </a:solidFill>
                <a:latin typeface="Consolas" panose="020B0609020204030204" pitchFamily="49" charset="0"/>
              </a:rPr>
              <a:t>Illuminate</a:t>
            </a:r>
            <a:r>
              <a:rPr lang="fr-FR" sz="1100" dirty="0">
                <a:solidFill>
                  <a:srgbClr val="000000"/>
                </a:solidFill>
                <a:latin typeface="Consolas" panose="020B0609020204030204" pitchFamily="49" charset="0"/>
              </a:rPr>
              <a:t>\</a:t>
            </a:r>
            <a:r>
              <a:rPr lang="fr-FR" sz="1100" dirty="0" err="1">
                <a:solidFill>
                  <a:srgbClr val="000000"/>
                </a:solidFill>
                <a:latin typeface="Consolas" panose="020B0609020204030204" pitchFamily="49" charset="0"/>
              </a:rPr>
              <a:t>Foundation</a:t>
            </a:r>
            <a:r>
              <a:rPr lang="fr-FR" sz="1100" dirty="0">
                <a:solidFill>
                  <a:srgbClr val="000000"/>
                </a:solidFill>
                <a:latin typeface="Consolas" panose="020B0609020204030204" pitchFamily="49" charset="0"/>
              </a:rPr>
              <a:t>\Http\Middleware\</a:t>
            </a:r>
            <a:r>
              <a:rPr lang="fr-FR" sz="1100" dirty="0" err="1">
                <a:solidFill>
                  <a:srgbClr val="267F99"/>
                </a:solidFill>
                <a:latin typeface="Consolas" panose="020B0609020204030204" pitchFamily="49" charset="0"/>
              </a:rPr>
              <a:t>HandlePrecognitiveRequests</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A31515"/>
                </a:solidFill>
                <a:latin typeface="Consolas" panose="020B0609020204030204" pitchFamily="49" charset="0"/>
              </a:rPr>
              <a:t>'</a:t>
            </a:r>
            <a:r>
              <a:rPr lang="fr-FR" sz="1100" dirty="0" err="1">
                <a:solidFill>
                  <a:srgbClr val="A31515"/>
                </a:solidFill>
                <a:latin typeface="Consolas" panose="020B0609020204030204" pitchFamily="49" charset="0"/>
              </a:rPr>
              <a:t>signed</a:t>
            </a:r>
            <a:r>
              <a:rPr lang="fr-FR" sz="1100" dirty="0">
                <a:solidFill>
                  <a:srgbClr val="A31515"/>
                </a:solidFill>
                <a:latin typeface="Consolas" panose="020B0609020204030204" pitchFamily="49" charset="0"/>
              </a:rPr>
              <a:t>'</a:t>
            </a:r>
            <a:r>
              <a:rPr lang="fr-FR" sz="1100" dirty="0">
                <a:solidFill>
                  <a:srgbClr val="000000"/>
                </a:solidFill>
                <a:latin typeface="Consolas" panose="020B0609020204030204" pitchFamily="49" charset="0"/>
              </a:rPr>
              <a:t> =&gt; \</a:t>
            </a:r>
            <a:r>
              <a:rPr lang="fr-FR" sz="1100" dirty="0" err="1">
                <a:solidFill>
                  <a:srgbClr val="000000"/>
                </a:solidFill>
                <a:latin typeface="Consolas" panose="020B0609020204030204" pitchFamily="49" charset="0"/>
              </a:rPr>
              <a:t>Illuminate</a:t>
            </a:r>
            <a:r>
              <a:rPr lang="fr-FR" sz="1100" dirty="0">
                <a:solidFill>
                  <a:srgbClr val="000000"/>
                </a:solidFill>
                <a:latin typeface="Consolas" panose="020B0609020204030204" pitchFamily="49" charset="0"/>
              </a:rPr>
              <a:t>\</a:t>
            </a:r>
            <a:r>
              <a:rPr lang="fr-FR" sz="1100" dirty="0" err="1">
                <a:solidFill>
                  <a:srgbClr val="000000"/>
                </a:solidFill>
                <a:latin typeface="Consolas" panose="020B0609020204030204" pitchFamily="49" charset="0"/>
              </a:rPr>
              <a:t>Routing</a:t>
            </a:r>
            <a:r>
              <a:rPr lang="fr-FR" sz="1100" dirty="0">
                <a:solidFill>
                  <a:srgbClr val="000000"/>
                </a:solidFill>
                <a:latin typeface="Consolas" panose="020B0609020204030204" pitchFamily="49" charset="0"/>
              </a:rPr>
              <a:t>\Middleware\</a:t>
            </a:r>
            <a:r>
              <a:rPr lang="fr-FR" sz="1100" dirty="0" err="1">
                <a:solidFill>
                  <a:srgbClr val="267F99"/>
                </a:solidFill>
                <a:latin typeface="Consolas" panose="020B0609020204030204" pitchFamily="49" charset="0"/>
              </a:rPr>
              <a:t>ValidateSignature</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A31515"/>
                </a:solidFill>
                <a:latin typeface="Consolas" panose="020B0609020204030204" pitchFamily="49" charset="0"/>
              </a:rPr>
              <a:t>'</a:t>
            </a:r>
            <a:r>
              <a:rPr lang="fr-FR" sz="1100" dirty="0" err="1">
                <a:solidFill>
                  <a:srgbClr val="A31515"/>
                </a:solidFill>
                <a:latin typeface="Consolas" panose="020B0609020204030204" pitchFamily="49" charset="0"/>
              </a:rPr>
              <a:t>throttle</a:t>
            </a:r>
            <a:r>
              <a:rPr lang="fr-FR" sz="1100" dirty="0">
                <a:solidFill>
                  <a:srgbClr val="A31515"/>
                </a:solidFill>
                <a:latin typeface="Consolas" panose="020B0609020204030204" pitchFamily="49" charset="0"/>
              </a:rPr>
              <a:t>'</a:t>
            </a:r>
            <a:r>
              <a:rPr lang="fr-FR" sz="1100" dirty="0">
                <a:solidFill>
                  <a:srgbClr val="000000"/>
                </a:solidFill>
                <a:latin typeface="Consolas" panose="020B0609020204030204" pitchFamily="49" charset="0"/>
              </a:rPr>
              <a:t> =&gt; </a:t>
            </a:r>
            <a:r>
              <a:rPr lang="fr-FR" sz="1100" dirty="0">
                <a:solidFill>
                  <a:srgbClr val="0000FF"/>
                </a:solidFill>
                <a:latin typeface="Consolas" panose="020B0609020204030204" pitchFamily="49" charset="0"/>
              </a:rPr>
              <a:t>$</a:t>
            </a:r>
            <a:r>
              <a:rPr lang="fr-FR" sz="1100" dirty="0" err="1">
                <a:solidFill>
                  <a:srgbClr val="0000FF"/>
                </a:solidFill>
                <a:latin typeface="Consolas" panose="020B0609020204030204" pitchFamily="49" charset="0"/>
              </a:rPr>
              <a:t>this</a:t>
            </a:r>
            <a:r>
              <a:rPr lang="fr-FR" sz="1100" dirty="0">
                <a:solidFill>
                  <a:srgbClr val="000000"/>
                </a:solidFill>
                <a:latin typeface="Consolas" panose="020B0609020204030204" pitchFamily="49" charset="0"/>
              </a:rPr>
              <a:t>-&gt;</a:t>
            </a:r>
            <a:r>
              <a:rPr lang="fr-FR" sz="1100" dirty="0" err="1">
                <a:solidFill>
                  <a:srgbClr val="001080"/>
                </a:solidFill>
                <a:latin typeface="Consolas" panose="020B0609020204030204" pitchFamily="49" charset="0"/>
              </a:rPr>
              <a:t>throttleWithRedis</a:t>
            </a:r>
            <a:endParaRPr lang="fr-FR" sz="1100" dirty="0">
              <a:solidFill>
                <a:srgbClr val="000000"/>
              </a:solidFill>
              <a:latin typeface="Consolas" panose="020B0609020204030204" pitchFamily="49" charset="0"/>
            </a:endParaRPr>
          </a:p>
          <a:p>
            <a:r>
              <a:rPr lang="fr-FR" sz="1100" dirty="0">
                <a:solidFill>
                  <a:srgbClr val="000000"/>
                </a:solidFill>
                <a:latin typeface="Consolas" panose="020B0609020204030204" pitchFamily="49" charset="0"/>
              </a:rPr>
              <a:t>                ? \</a:t>
            </a:r>
            <a:r>
              <a:rPr lang="fr-FR" sz="1100" dirty="0" err="1">
                <a:solidFill>
                  <a:srgbClr val="000000"/>
                </a:solidFill>
                <a:latin typeface="Consolas" panose="020B0609020204030204" pitchFamily="49" charset="0"/>
              </a:rPr>
              <a:t>Illuminate</a:t>
            </a:r>
            <a:r>
              <a:rPr lang="fr-FR" sz="1100" dirty="0">
                <a:solidFill>
                  <a:srgbClr val="000000"/>
                </a:solidFill>
                <a:latin typeface="Consolas" panose="020B0609020204030204" pitchFamily="49" charset="0"/>
              </a:rPr>
              <a:t>\</a:t>
            </a:r>
            <a:r>
              <a:rPr lang="fr-FR" sz="1100" dirty="0" err="1">
                <a:solidFill>
                  <a:srgbClr val="000000"/>
                </a:solidFill>
                <a:latin typeface="Consolas" panose="020B0609020204030204" pitchFamily="49" charset="0"/>
              </a:rPr>
              <a:t>Routing</a:t>
            </a:r>
            <a:r>
              <a:rPr lang="fr-FR" sz="1100" dirty="0">
                <a:solidFill>
                  <a:srgbClr val="000000"/>
                </a:solidFill>
                <a:latin typeface="Consolas" panose="020B0609020204030204" pitchFamily="49" charset="0"/>
              </a:rPr>
              <a:t>\Middleware\</a:t>
            </a:r>
            <a:r>
              <a:rPr lang="fr-FR" sz="1100" dirty="0" err="1">
                <a:solidFill>
                  <a:srgbClr val="267F99"/>
                </a:solidFill>
                <a:latin typeface="Consolas" panose="020B0609020204030204" pitchFamily="49" charset="0"/>
              </a:rPr>
              <a:t>ThrottleRequestsWithRedis</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endParaRPr lang="fr-FR" sz="1100" dirty="0">
              <a:solidFill>
                <a:srgbClr val="000000"/>
              </a:solidFill>
              <a:latin typeface="Consolas" panose="020B0609020204030204" pitchFamily="49" charset="0"/>
            </a:endParaRPr>
          </a:p>
          <a:p>
            <a:r>
              <a:rPr lang="fr-FR" sz="1100" dirty="0">
                <a:solidFill>
                  <a:srgbClr val="000000"/>
                </a:solidFill>
                <a:latin typeface="Consolas" panose="020B0609020204030204" pitchFamily="49" charset="0"/>
              </a:rPr>
              <a:t>                : \</a:t>
            </a:r>
            <a:r>
              <a:rPr lang="fr-FR" sz="1100" dirty="0" err="1">
                <a:solidFill>
                  <a:srgbClr val="000000"/>
                </a:solidFill>
                <a:latin typeface="Consolas" panose="020B0609020204030204" pitchFamily="49" charset="0"/>
              </a:rPr>
              <a:t>Illuminate</a:t>
            </a:r>
            <a:r>
              <a:rPr lang="fr-FR" sz="1100" dirty="0">
                <a:solidFill>
                  <a:srgbClr val="000000"/>
                </a:solidFill>
                <a:latin typeface="Consolas" panose="020B0609020204030204" pitchFamily="49" charset="0"/>
              </a:rPr>
              <a:t>\</a:t>
            </a:r>
            <a:r>
              <a:rPr lang="fr-FR" sz="1100" dirty="0" err="1">
                <a:solidFill>
                  <a:srgbClr val="000000"/>
                </a:solidFill>
                <a:latin typeface="Consolas" panose="020B0609020204030204" pitchFamily="49" charset="0"/>
              </a:rPr>
              <a:t>Routing</a:t>
            </a:r>
            <a:r>
              <a:rPr lang="fr-FR" sz="1100" dirty="0">
                <a:solidFill>
                  <a:srgbClr val="000000"/>
                </a:solidFill>
                <a:latin typeface="Consolas" panose="020B0609020204030204" pitchFamily="49" charset="0"/>
              </a:rPr>
              <a:t>\Middleware\</a:t>
            </a:r>
            <a:r>
              <a:rPr lang="fr-FR" sz="1100" dirty="0" err="1">
                <a:solidFill>
                  <a:srgbClr val="267F99"/>
                </a:solidFill>
                <a:latin typeface="Consolas" panose="020B0609020204030204" pitchFamily="49" charset="0"/>
              </a:rPr>
              <a:t>ThrottleRequests</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A31515"/>
                </a:solidFill>
                <a:latin typeface="Consolas" panose="020B0609020204030204" pitchFamily="49" charset="0"/>
              </a:rPr>
              <a:t>'</a:t>
            </a:r>
            <a:r>
              <a:rPr lang="fr-FR" sz="1100" dirty="0" err="1">
                <a:solidFill>
                  <a:srgbClr val="A31515"/>
                </a:solidFill>
                <a:latin typeface="Consolas" panose="020B0609020204030204" pitchFamily="49" charset="0"/>
              </a:rPr>
              <a:t>verified</a:t>
            </a:r>
            <a:r>
              <a:rPr lang="fr-FR" sz="1100" dirty="0">
                <a:solidFill>
                  <a:srgbClr val="A31515"/>
                </a:solidFill>
                <a:latin typeface="Consolas" panose="020B0609020204030204" pitchFamily="49" charset="0"/>
              </a:rPr>
              <a:t>'</a:t>
            </a:r>
            <a:r>
              <a:rPr lang="fr-FR" sz="1100" dirty="0">
                <a:solidFill>
                  <a:srgbClr val="000000"/>
                </a:solidFill>
                <a:latin typeface="Consolas" panose="020B0609020204030204" pitchFamily="49" charset="0"/>
              </a:rPr>
              <a:t> =&gt; \</a:t>
            </a:r>
            <a:r>
              <a:rPr lang="fr-FR" sz="1100" dirty="0" err="1">
                <a:solidFill>
                  <a:srgbClr val="000000"/>
                </a:solidFill>
                <a:latin typeface="Consolas" panose="020B0609020204030204" pitchFamily="49" charset="0"/>
              </a:rPr>
              <a:t>Illuminate</a:t>
            </a:r>
            <a:r>
              <a:rPr lang="fr-FR" sz="1100" dirty="0">
                <a:solidFill>
                  <a:srgbClr val="000000"/>
                </a:solidFill>
                <a:latin typeface="Consolas" panose="020B0609020204030204" pitchFamily="49" charset="0"/>
              </a:rPr>
              <a:t>\</a:t>
            </a:r>
            <a:r>
              <a:rPr lang="fr-FR" sz="1100" dirty="0" err="1">
                <a:solidFill>
                  <a:srgbClr val="000000"/>
                </a:solidFill>
                <a:latin typeface="Consolas" panose="020B0609020204030204" pitchFamily="49" charset="0"/>
              </a:rPr>
              <a:t>Auth</a:t>
            </a:r>
            <a:r>
              <a:rPr lang="fr-FR" sz="1100" dirty="0">
                <a:solidFill>
                  <a:srgbClr val="000000"/>
                </a:solidFill>
                <a:latin typeface="Consolas" panose="020B0609020204030204" pitchFamily="49" charset="0"/>
              </a:rPr>
              <a:t>\Middleware\</a:t>
            </a:r>
            <a:r>
              <a:rPr lang="fr-FR" sz="1100" dirty="0" err="1">
                <a:solidFill>
                  <a:srgbClr val="267F99"/>
                </a:solidFill>
                <a:latin typeface="Consolas" panose="020B0609020204030204" pitchFamily="49" charset="0"/>
              </a:rPr>
              <a:t>EnsureEmailIsVerified</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r>
              <a:rPr lang="fr-FR" sz="1100" dirty="0">
                <a:solidFill>
                  <a:srgbClr val="A31515"/>
                </a:solidFill>
                <a:latin typeface="Consolas" panose="020B0609020204030204" pitchFamily="49" charset="0"/>
              </a:rPr>
              <a:t>'test'</a:t>
            </a:r>
            <a:r>
              <a:rPr lang="fr-FR" sz="1100" dirty="0">
                <a:solidFill>
                  <a:srgbClr val="000000"/>
                </a:solidFill>
                <a:latin typeface="Consolas" panose="020B0609020204030204" pitchFamily="49" charset="0"/>
              </a:rPr>
              <a:t> =&gt; </a:t>
            </a:r>
            <a:r>
              <a:rPr lang="fr-FR" sz="1100" dirty="0" err="1">
                <a:solidFill>
                  <a:srgbClr val="267F99"/>
                </a:solidFill>
                <a:latin typeface="Consolas" panose="020B0609020204030204" pitchFamily="49" charset="0"/>
              </a:rPr>
              <a:t>TestMiddleware</a:t>
            </a:r>
            <a:r>
              <a:rPr lang="fr-FR" sz="1100" dirty="0">
                <a:solidFill>
                  <a:srgbClr val="000000"/>
                </a:solidFill>
                <a:latin typeface="Consolas" panose="020B0609020204030204" pitchFamily="49" charset="0"/>
              </a:rPr>
              <a:t>::</a:t>
            </a:r>
            <a:r>
              <a:rPr lang="fr-FR" sz="1100" dirty="0">
                <a:solidFill>
                  <a:srgbClr val="0000FF"/>
                </a:solidFill>
                <a:latin typeface="Consolas" panose="020B0609020204030204" pitchFamily="49" charset="0"/>
              </a:rPr>
              <a:t>class</a:t>
            </a:r>
            <a:r>
              <a:rPr lang="fr-FR" sz="1100" dirty="0">
                <a:solidFill>
                  <a:srgbClr val="000000"/>
                </a:solidFill>
                <a:latin typeface="Consolas" panose="020B0609020204030204" pitchFamily="49" charset="0"/>
              </a:rPr>
              <a:t>,</a:t>
            </a:r>
          </a:p>
          <a:p>
            <a:r>
              <a:rPr lang="fr-FR" sz="1100" dirty="0">
                <a:solidFill>
                  <a:srgbClr val="000000"/>
                </a:solidFill>
                <a:latin typeface="Consolas" panose="020B0609020204030204" pitchFamily="49" charset="0"/>
              </a:rPr>
              <a:t>        ];</a:t>
            </a:r>
          </a:p>
          <a:p>
            <a:br>
              <a:rPr lang="fr-FR" sz="800" dirty="0">
                <a:solidFill>
                  <a:srgbClr val="000000"/>
                </a:solidFill>
                <a:latin typeface="Consolas" panose="020B0609020204030204" pitchFamily="49" charset="0"/>
              </a:rPr>
            </a:br>
            <a:r>
              <a:rPr lang="fr-FR" sz="800" dirty="0">
                <a:solidFill>
                  <a:srgbClr val="000000"/>
                </a:solidFill>
                <a:latin typeface="Consolas" panose="020B0609020204030204" pitchFamily="49" charset="0"/>
              </a:rPr>
              <a:t>           </a:t>
            </a:r>
          </a:p>
        </p:txBody>
      </p:sp>
    </p:spTree>
    <p:extLst>
      <p:ext uri="{BB962C8B-B14F-4D97-AF65-F5344CB8AC3E}">
        <p14:creationId xmlns:p14="http://schemas.microsoft.com/office/powerpoint/2010/main" val="452217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400"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4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Utilisation des Middleware </a:t>
            </a:r>
            <a:endParaRPr lang="fr-FR" sz="2400" b="1" dirty="0">
              <a:solidFill>
                <a:schemeClr val="tx1"/>
              </a:solidFill>
            </a:endParaRPr>
          </a:p>
          <a:p>
            <a:pPr lvl="2">
              <a:buFont typeface="Wingdings" panose="05000000000000000000" pitchFamily="2" charset="2"/>
              <a:buChar char="ü"/>
            </a:pPr>
            <a:r>
              <a:rPr lang="fr-FR" dirty="0">
                <a:solidFill>
                  <a:srgbClr val="00B0F0"/>
                </a:solidFill>
                <a:latin typeface="Times New Roman" panose="02020603050405020304" pitchFamily="18" charset="0"/>
                <a:cs typeface="Times New Roman" panose="02020603050405020304" pitchFamily="18" charset="0"/>
              </a:rPr>
              <a:t>Groupe Middleware :</a:t>
            </a:r>
            <a:endParaRPr lang="fr-FR" dirty="0">
              <a:latin typeface="Times New Roman" panose="02020603050405020304" pitchFamily="18" charset="0"/>
              <a:cs typeface="Times New Roman" panose="02020603050405020304" pitchFamily="18" charset="0"/>
            </a:endParaRPr>
          </a:p>
          <a:p>
            <a:pPr marL="1371600" lvl="3" indent="0">
              <a:buNone/>
            </a:pPr>
            <a:r>
              <a:rPr lang="fr-FR" dirty="0">
                <a:latin typeface="Times New Roman" panose="02020603050405020304" pitchFamily="18" charset="0"/>
                <a:cs typeface="Times New Roman" panose="02020603050405020304" pitchFamily="18" charset="0"/>
              </a:rPr>
              <a:t>Un ensemble de middleware permet de protéger une route ou un groupe de routes ou même un contrôleur</a:t>
            </a:r>
          </a:p>
          <a:p>
            <a:pPr marL="0" lvl="0" indent="0">
              <a:buNone/>
            </a:pPr>
            <a:endParaRPr lang="fr-FR" sz="2000" dirty="0">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6BF4E6D-C2CC-4C20-8C1C-8D6BB7A31992}"/>
              </a:ext>
            </a:extLst>
          </p:cNvPr>
          <p:cNvSpPr/>
          <p:nvPr/>
        </p:nvSpPr>
        <p:spPr>
          <a:xfrm>
            <a:off x="575556" y="4077072"/>
            <a:ext cx="7992888" cy="8640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600" dirty="0">
                <a:solidFill>
                  <a:srgbClr val="001080"/>
                </a:solidFill>
                <a:latin typeface="Consolas" panose="020B0609020204030204" pitchFamily="49" charset="0"/>
              </a:rPr>
              <a:t>$kernel</a:t>
            </a:r>
            <a:r>
              <a:rPr lang="fr-FR" sz="1600" dirty="0">
                <a:solidFill>
                  <a:srgbClr val="000000"/>
                </a:solidFill>
                <a:latin typeface="Consolas" panose="020B0609020204030204" pitchFamily="49" charset="0"/>
              </a:rPr>
              <a:t>-&gt;</a:t>
            </a:r>
            <a:r>
              <a:rPr lang="fr-FR" sz="1600" dirty="0" err="1">
                <a:solidFill>
                  <a:srgbClr val="795E26"/>
                </a:solidFill>
                <a:latin typeface="Consolas" panose="020B0609020204030204" pitchFamily="49" charset="0"/>
              </a:rPr>
              <a:t>setMiddlewareGroups</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$middleware</a:t>
            </a:r>
            <a:r>
              <a:rPr lang="fr-FR" sz="1600" dirty="0">
                <a:solidFill>
                  <a:srgbClr val="000000"/>
                </a:solidFill>
                <a:latin typeface="Consolas" panose="020B0609020204030204" pitchFamily="49" charset="0"/>
              </a:rPr>
              <a:t>-&gt;</a:t>
            </a:r>
            <a:r>
              <a:rPr lang="fr-FR" sz="1600" dirty="0" err="1">
                <a:solidFill>
                  <a:srgbClr val="795E26"/>
                </a:solidFill>
                <a:latin typeface="Consolas" panose="020B0609020204030204" pitchFamily="49" charset="0"/>
              </a:rPr>
              <a:t>getMiddlewareGroups</a:t>
            </a:r>
            <a:r>
              <a:rPr lang="fr-FR" sz="16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750414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198876"/>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1600" b="1" dirty="0">
                <a:solidFill>
                  <a:srgbClr val="002060"/>
                </a:solidFill>
                <a:latin typeface="Times New Roman" panose="02020603050405020304" pitchFamily="18" charset="0"/>
                <a:cs typeface="Times New Roman" panose="02020603050405020304" pitchFamily="18" charset="0"/>
              </a:rPr>
              <a:t>Programmer avec Laravel</a:t>
            </a:r>
            <a:endParaRPr lang="fr-FR" sz="16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16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1600" dirty="0"/>
              <a:t> </a:t>
            </a:r>
            <a:r>
              <a:rPr lang="fr-FR" sz="1600" dirty="0">
                <a:solidFill>
                  <a:srgbClr val="C00000"/>
                </a:solidFill>
                <a:latin typeface="Times New Roman" panose="02020603050405020304" pitchFamily="18" charset="0"/>
                <a:cs typeface="Times New Roman" panose="02020603050405020304" pitchFamily="18" charset="0"/>
              </a:rPr>
              <a:t>Laravel</a:t>
            </a:r>
            <a:endParaRPr lang="fr-FR" sz="1600" dirty="0">
              <a:latin typeface="Times New Roman" panose="02020603050405020304" pitchFamily="18" charset="0"/>
              <a:cs typeface="Times New Roman" panose="02020603050405020304" pitchFamily="18" charset="0"/>
            </a:endParaRPr>
          </a:p>
          <a:p>
            <a:pPr marL="400050" lvl="1" indent="0" algn="ctr">
              <a:buNone/>
            </a:pPr>
            <a:r>
              <a:rPr lang="fr-FR" sz="1600" dirty="0">
                <a:solidFill>
                  <a:srgbClr val="00B0F0"/>
                </a:solidFill>
              </a:rPr>
              <a:t>Utilisation des Middleware </a:t>
            </a:r>
            <a:endParaRPr lang="fr-FR" sz="1600" b="1" dirty="0">
              <a:solidFill>
                <a:schemeClr val="tx1"/>
              </a:solidFill>
            </a:endParaRPr>
          </a:p>
          <a:p>
            <a:pPr lvl="2">
              <a:buFont typeface="Wingdings" panose="05000000000000000000" pitchFamily="2" charset="2"/>
              <a:buChar char="ü"/>
            </a:pPr>
            <a:r>
              <a:rPr lang="fr-FR" sz="1600" dirty="0">
                <a:solidFill>
                  <a:srgbClr val="00B0F0"/>
                </a:solidFill>
                <a:latin typeface="Times New Roman" panose="02020603050405020304" pitchFamily="18" charset="0"/>
                <a:cs typeface="Times New Roman" panose="02020603050405020304" pitchFamily="18" charset="0"/>
              </a:rPr>
              <a:t>Groupe Middleware :</a:t>
            </a:r>
            <a:endParaRPr lang="fr-FR" sz="1600" dirty="0">
              <a:latin typeface="Times New Roman" panose="02020603050405020304" pitchFamily="18" charset="0"/>
              <a:cs typeface="Times New Roman" panose="02020603050405020304" pitchFamily="18" charset="0"/>
            </a:endParaRPr>
          </a:p>
          <a:p>
            <a:pPr marL="1371600" lvl="3" indent="0">
              <a:buNone/>
            </a:pPr>
            <a:endParaRPr lang="fr-FR" sz="2400" dirty="0">
              <a:latin typeface="Times New Roman" panose="02020603050405020304" pitchFamily="18" charset="0"/>
              <a:cs typeface="Times New Roman" panose="02020603050405020304" pitchFamily="18" charset="0"/>
            </a:endParaRPr>
          </a:p>
          <a:p>
            <a:pPr marL="0" lvl="0" indent="0">
              <a:buNone/>
            </a:pPr>
            <a:endParaRPr lang="fr-FR" sz="2000" dirty="0">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98341BBF-0590-47D8-BA38-759287503B0B}"/>
              </a:ext>
            </a:extLst>
          </p:cNvPr>
          <p:cNvSpPr/>
          <p:nvPr/>
        </p:nvSpPr>
        <p:spPr>
          <a:xfrm>
            <a:off x="575556" y="2478596"/>
            <a:ext cx="7992888" cy="39027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1200" dirty="0">
                <a:solidFill>
                  <a:srgbClr val="0000FF"/>
                </a:solidFill>
                <a:latin typeface="Consolas" panose="020B0609020204030204" pitchFamily="49" charset="0"/>
              </a:rPr>
              <a:t>public</a:t>
            </a:r>
            <a:r>
              <a:rPr lang="fr-FR" sz="1200" dirty="0">
                <a:solidFill>
                  <a:srgbClr val="000000"/>
                </a:solidFill>
                <a:latin typeface="Consolas" panose="020B0609020204030204" pitchFamily="49" charset="0"/>
              </a:rPr>
              <a:t> </a:t>
            </a:r>
            <a:r>
              <a:rPr lang="fr-FR" sz="1200" dirty="0" err="1">
                <a:solidFill>
                  <a:srgbClr val="0000FF"/>
                </a:solidFill>
                <a:latin typeface="Consolas" panose="020B0609020204030204" pitchFamily="49" charset="0"/>
              </a:rPr>
              <a:t>function</a:t>
            </a:r>
            <a:r>
              <a:rPr lang="fr-FR" sz="1200" dirty="0">
                <a:solidFill>
                  <a:srgbClr val="000000"/>
                </a:solidFill>
                <a:latin typeface="Consolas" panose="020B0609020204030204" pitchFamily="49" charset="0"/>
              </a:rPr>
              <a:t> </a:t>
            </a:r>
            <a:r>
              <a:rPr lang="fr-FR" sz="1200" dirty="0" err="1">
                <a:solidFill>
                  <a:srgbClr val="795E26"/>
                </a:solidFill>
                <a:latin typeface="Consolas" panose="020B0609020204030204" pitchFamily="49" charset="0"/>
              </a:rPr>
              <a:t>getMiddlewareGroups</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p>
          <a:p>
            <a:r>
              <a:rPr lang="fr-FR" sz="1200" dirty="0">
                <a:solidFill>
                  <a:srgbClr val="000000"/>
                </a:solidFill>
                <a:latin typeface="Consolas" panose="020B0609020204030204" pitchFamily="49" charset="0"/>
              </a:rPr>
              <a:t>        </a:t>
            </a:r>
            <a:r>
              <a:rPr lang="fr-FR" sz="1200" dirty="0">
                <a:solidFill>
                  <a:srgbClr val="001080"/>
                </a:solidFill>
                <a:latin typeface="Consolas" panose="020B0609020204030204" pitchFamily="49" charset="0"/>
              </a:rPr>
              <a:t>$middleware</a:t>
            </a:r>
            <a:r>
              <a:rPr lang="fr-FR" sz="1200" dirty="0">
                <a:solidFill>
                  <a:srgbClr val="000000"/>
                </a:solidFill>
                <a:latin typeface="Consolas" panose="020B0609020204030204" pitchFamily="49" charset="0"/>
              </a:rPr>
              <a:t> = [</a:t>
            </a:r>
          </a:p>
          <a:p>
            <a:r>
              <a:rPr lang="fr-FR" sz="1200" dirty="0">
                <a:solidFill>
                  <a:srgbClr val="000000"/>
                </a:solidFill>
                <a:latin typeface="Consolas" panose="020B0609020204030204" pitchFamily="49" charset="0"/>
              </a:rPr>
              <a:t>            </a:t>
            </a:r>
            <a:r>
              <a:rPr lang="fr-FR" sz="1200" dirty="0">
                <a:solidFill>
                  <a:srgbClr val="A31515"/>
                </a:solidFill>
                <a:latin typeface="Consolas" panose="020B0609020204030204" pitchFamily="49" charset="0"/>
              </a:rPr>
              <a:t>'web'</a:t>
            </a:r>
            <a:r>
              <a:rPr lang="fr-FR" sz="1200" dirty="0">
                <a:solidFill>
                  <a:srgbClr val="000000"/>
                </a:solidFill>
                <a:latin typeface="Consolas" panose="020B0609020204030204" pitchFamily="49" charset="0"/>
              </a:rPr>
              <a:t> =&gt; </a:t>
            </a:r>
            <a:r>
              <a:rPr lang="fr-FR" sz="1200" dirty="0" err="1">
                <a:solidFill>
                  <a:srgbClr val="795E26"/>
                </a:solidFill>
                <a:latin typeface="Consolas" panose="020B0609020204030204" pitchFamily="49" charset="0"/>
              </a:rPr>
              <a:t>array_values</a:t>
            </a:r>
            <a:r>
              <a:rPr lang="fr-FR" sz="1200" dirty="0">
                <a:solidFill>
                  <a:srgbClr val="000000"/>
                </a:solidFill>
                <a:latin typeface="Consolas" panose="020B0609020204030204" pitchFamily="49" charset="0"/>
              </a:rPr>
              <a:t>(</a:t>
            </a:r>
            <a:r>
              <a:rPr lang="fr-FR" sz="1200" dirty="0" err="1">
                <a:solidFill>
                  <a:srgbClr val="795E26"/>
                </a:solidFill>
                <a:latin typeface="Consolas" panose="020B0609020204030204" pitchFamily="49" charset="0"/>
              </a:rPr>
              <a:t>array_filter</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Illuminate</a:t>
            </a:r>
            <a:r>
              <a:rPr lang="fr-FR" sz="1200" dirty="0">
                <a:solidFill>
                  <a:srgbClr val="000000"/>
                </a:solidFill>
                <a:latin typeface="Consolas" panose="020B0609020204030204" pitchFamily="49" charset="0"/>
              </a:rPr>
              <a:t>\Cookie\Middleware\</a:t>
            </a:r>
            <a:r>
              <a:rPr lang="fr-FR" sz="1200" dirty="0" err="1">
                <a:solidFill>
                  <a:srgbClr val="267F99"/>
                </a:solidFill>
                <a:latin typeface="Consolas" panose="020B0609020204030204" pitchFamily="49" charset="0"/>
              </a:rPr>
              <a:t>EncryptCookies</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class</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Illuminate</a:t>
            </a:r>
            <a:r>
              <a:rPr lang="fr-FR" sz="1200" dirty="0">
                <a:solidFill>
                  <a:srgbClr val="000000"/>
                </a:solidFill>
                <a:latin typeface="Consolas" panose="020B0609020204030204" pitchFamily="49" charset="0"/>
              </a:rPr>
              <a:t>\Cookie\Middleware\</a:t>
            </a:r>
            <a:r>
              <a:rPr lang="fr-FR" sz="1200" dirty="0" err="1">
                <a:solidFill>
                  <a:srgbClr val="267F99"/>
                </a:solidFill>
                <a:latin typeface="Consolas" panose="020B0609020204030204" pitchFamily="49" charset="0"/>
              </a:rPr>
              <a:t>AddQueuedCookiesToResponse</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class</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Illuminate</a:t>
            </a:r>
            <a:r>
              <a:rPr lang="fr-FR" sz="1200" dirty="0">
                <a:solidFill>
                  <a:srgbClr val="000000"/>
                </a:solidFill>
                <a:latin typeface="Consolas" panose="020B0609020204030204" pitchFamily="49" charset="0"/>
              </a:rPr>
              <a:t>\Session\Middleware\</a:t>
            </a:r>
            <a:r>
              <a:rPr lang="fr-FR" sz="1200" dirty="0" err="1">
                <a:solidFill>
                  <a:srgbClr val="267F99"/>
                </a:solidFill>
                <a:latin typeface="Consolas" panose="020B0609020204030204" pitchFamily="49" charset="0"/>
              </a:rPr>
              <a:t>StartSession</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class</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Illuminate</a:t>
            </a:r>
            <a:r>
              <a:rPr lang="fr-FR" sz="1200" dirty="0">
                <a:solidFill>
                  <a:srgbClr val="000000"/>
                </a:solidFill>
                <a:latin typeface="Consolas" panose="020B0609020204030204" pitchFamily="49" charset="0"/>
              </a:rPr>
              <a:t>\</a:t>
            </a:r>
            <a:r>
              <a:rPr lang="fr-FR" sz="1200" dirty="0" err="1">
                <a:solidFill>
                  <a:srgbClr val="000000"/>
                </a:solidFill>
                <a:latin typeface="Consolas" panose="020B0609020204030204" pitchFamily="49" charset="0"/>
              </a:rPr>
              <a:t>View</a:t>
            </a:r>
            <a:r>
              <a:rPr lang="fr-FR" sz="1200" dirty="0">
                <a:solidFill>
                  <a:srgbClr val="000000"/>
                </a:solidFill>
                <a:latin typeface="Consolas" panose="020B0609020204030204" pitchFamily="49" charset="0"/>
              </a:rPr>
              <a:t>\Middleware\</a:t>
            </a:r>
            <a:r>
              <a:rPr lang="fr-FR" sz="1200" dirty="0" err="1">
                <a:solidFill>
                  <a:srgbClr val="267F99"/>
                </a:solidFill>
                <a:latin typeface="Consolas" panose="020B0609020204030204" pitchFamily="49" charset="0"/>
              </a:rPr>
              <a:t>ShareErrorsFromSession</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class</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Illuminate</a:t>
            </a:r>
            <a:r>
              <a:rPr lang="fr-FR" sz="1200" dirty="0">
                <a:solidFill>
                  <a:srgbClr val="000000"/>
                </a:solidFill>
                <a:latin typeface="Consolas" panose="020B0609020204030204" pitchFamily="49" charset="0"/>
              </a:rPr>
              <a:t>\</a:t>
            </a:r>
            <a:r>
              <a:rPr lang="fr-FR" sz="1200" dirty="0" err="1">
                <a:solidFill>
                  <a:srgbClr val="000000"/>
                </a:solidFill>
                <a:latin typeface="Consolas" panose="020B0609020204030204" pitchFamily="49" charset="0"/>
              </a:rPr>
              <a:t>Foundation</a:t>
            </a:r>
            <a:r>
              <a:rPr lang="fr-FR" sz="1200" dirty="0">
                <a:solidFill>
                  <a:srgbClr val="000000"/>
                </a:solidFill>
                <a:latin typeface="Consolas" panose="020B0609020204030204" pitchFamily="49" charset="0"/>
              </a:rPr>
              <a:t>\Http\Middleware\</a:t>
            </a:r>
            <a:r>
              <a:rPr lang="fr-FR" sz="1200" dirty="0" err="1">
                <a:solidFill>
                  <a:srgbClr val="267F99"/>
                </a:solidFill>
                <a:latin typeface="Consolas" panose="020B0609020204030204" pitchFamily="49" charset="0"/>
              </a:rPr>
              <a:t>ValidateCsrfToken</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class</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Illuminate</a:t>
            </a:r>
            <a:r>
              <a:rPr lang="fr-FR" sz="1200" dirty="0">
                <a:solidFill>
                  <a:srgbClr val="000000"/>
                </a:solidFill>
                <a:latin typeface="Consolas" panose="020B0609020204030204" pitchFamily="49" charset="0"/>
              </a:rPr>
              <a:t>\</a:t>
            </a:r>
            <a:r>
              <a:rPr lang="fr-FR" sz="1200" dirty="0" err="1">
                <a:solidFill>
                  <a:srgbClr val="000000"/>
                </a:solidFill>
                <a:latin typeface="Consolas" panose="020B0609020204030204" pitchFamily="49" charset="0"/>
              </a:rPr>
              <a:t>Routing</a:t>
            </a:r>
            <a:r>
              <a:rPr lang="fr-FR" sz="1200" dirty="0">
                <a:solidFill>
                  <a:srgbClr val="000000"/>
                </a:solidFill>
                <a:latin typeface="Consolas" panose="020B0609020204030204" pitchFamily="49" charset="0"/>
              </a:rPr>
              <a:t>\Middleware\</a:t>
            </a:r>
            <a:r>
              <a:rPr lang="fr-FR" sz="1200" dirty="0" err="1">
                <a:solidFill>
                  <a:srgbClr val="267F99"/>
                </a:solidFill>
                <a:latin typeface="Consolas" panose="020B0609020204030204" pitchFamily="49" charset="0"/>
              </a:rPr>
              <a:t>SubstituteBindings</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class</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a:solidFill>
                  <a:srgbClr val="0000FF"/>
                </a:solidFill>
                <a:latin typeface="Consolas" panose="020B0609020204030204" pitchFamily="49" charset="0"/>
              </a:rPr>
              <a:t>$</a:t>
            </a:r>
            <a:r>
              <a:rPr lang="fr-FR" sz="1200" dirty="0" err="1">
                <a:solidFill>
                  <a:srgbClr val="0000FF"/>
                </a:solidFill>
                <a:latin typeface="Consolas" panose="020B0609020204030204" pitchFamily="49" charset="0"/>
              </a:rPr>
              <a:t>this</a:t>
            </a:r>
            <a:r>
              <a:rPr lang="fr-FR" sz="1200" dirty="0">
                <a:solidFill>
                  <a:srgbClr val="000000"/>
                </a:solidFill>
                <a:latin typeface="Consolas" panose="020B0609020204030204" pitchFamily="49" charset="0"/>
              </a:rPr>
              <a:t>-&gt;</a:t>
            </a:r>
            <a:r>
              <a:rPr lang="fr-FR" sz="1200" dirty="0" err="1">
                <a:solidFill>
                  <a:srgbClr val="001080"/>
                </a:solidFill>
                <a:latin typeface="Consolas" panose="020B0609020204030204" pitchFamily="49" charset="0"/>
              </a:rPr>
              <a:t>authenticatedSessions</a:t>
            </a:r>
            <a:r>
              <a:rPr lang="fr-FR" sz="1200" dirty="0">
                <a:solidFill>
                  <a:srgbClr val="000000"/>
                </a:solidFill>
                <a:latin typeface="Consolas" panose="020B0609020204030204" pitchFamily="49" charset="0"/>
              </a:rPr>
              <a:t> ? </a:t>
            </a:r>
            <a:r>
              <a:rPr lang="fr-FR" sz="1200" dirty="0">
                <a:solidFill>
                  <a:srgbClr val="A31515"/>
                </a:solidFill>
                <a:latin typeface="Consolas" panose="020B0609020204030204" pitchFamily="49" charset="0"/>
              </a:rPr>
              <a:t>'</a:t>
            </a:r>
            <a:r>
              <a:rPr lang="fr-FR" sz="1200" dirty="0" err="1">
                <a:solidFill>
                  <a:srgbClr val="A31515"/>
                </a:solidFill>
                <a:latin typeface="Consolas" panose="020B0609020204030204" pitchFamily="49" charset="0"/>
              </a:rPr>
              <a:t>auth.session</a:t>
            </a:r>
            <a:r>
              <a:rPr lang="fr-FR" sz="1200" dirty="0">
                <a:solidFill>
                  <a:srgbClr val="A31515"/>
                </a:solidFill>
                <a:latin typeface="Consolas" panose="020B0609020204030204" pitchFamily="49" charset="0"/>
              </a:rPr>
              <a:t>'</a:t>
            </a:r>
            <a:r>
              <a:rPr lang="fr-FR" sz="1200" dirty="0">
                <a:solidFill>
                  <a:srgbClr val="000000"/>
                </a:solidFill>
                <a:latin typeface="Consolas" panose="020B0609020204030204" pitchFamily="49" charset="0"/>
              </a:rPr>
              <a:t> : </a:t>
            </a:r>
            <a:r>
              <a:rPr lang="fr-FR" sz="1200" dirty="0" err="1">
                <a:solidFill>
                  <a:srgbClr val="0000FF"/>
                </a:solidFill>
                <a:latin typeface="Consolas" panose="020B0609020204030204" pitchFamily="49" charset="0"/>
              </a:rPr>
              <a:t>null</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p>
          <a:p>
            <a:r>
              <a:rPr lang="fr-FR" sz="1200" dirty="0">
                <a:solidFill>
                  <a:srgbClr val="000000"/>
                </a:solidFill>
                <a:latin typeface="Consolas" panose="020B0609020204030204" pitchFamily="49" charset="0"/>
              </a:rPr>
              <a:t>            </a:t>
            </a:r>
            <a:r>
              <a:rPr lang="fr-FR" sz="1200" dirty="0">
                <a:solidFill>
                  <a:srgbClr val="A31515"/>
                </a:solidFill>
                <a:latin typeface="Consolas" panose="020B0609020204030204" pitchFamily="49" charset="0"/>
              </a:rPr>
              <a:t>'api'</a:t>
            </a:r>
            <a:r>
              <a:rPr lang="fr-FR" sz="1200" dirty="0">
                <a:solidFill>
                  <a:srgbClr val="000000"/>
                </a:solidFill>
                <a:latin typeface="Consolas" panose="020B0609020204030204" pitchFamily="49" charset="0"/>
              </a:rPr>
              <a:t> =&gt; </a:t>
            </a:r>
            <a:r>
              <a:rPr lang="fr-FR" sz="1200" dirty="0" err="1">
                <a:solidFill>
                  <a:srgbClr val="795E26"/>
                </a:solidFill>
                <a:latin typeface="Consolas" panose="020B0609020204030204" pitchFamily="49" charset="0"/>
              </a:rPr>
              <a:t>array_values</a:t>
            </a:r>
            <a:r>
              <a:rPr lang="fr-FR" sz="1200" dirty="0">
                <a:solidFill>
                  <a:srgbClr val="000000"/>
                </a:solidFill>
                <a:latin typeface="Consolas" panose="020B0609020204030204" pitchFamily="49" charset="0"/>
              </a:rPr>
              <a:t>(</a:t>
            </a:r>
            <a:r>
              <a:rPr lang="fr-FR" sz="1200" dirty="0" err="1">
                <a:solidFill>
                  <a:srgbClr val="795E26"/>
                </a:solidFill>
                <a:latin typeface="Consolas" panose="020B0609020204030204" pitchFamily="49" charset="0"/>
              </a:rPr>
              <a:t>array_filter</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a:solidFill>
                  <a:srgbClr val="0000FF"/>
                </a:solidFill>
                <a:latin typeface="Consolas" panose="020B0609020204030204" pitchFamily="49" charset="0"/>
              </a:rPr>
              <a:t>$</a:t>
            </a:r>
            <a:r>
              <a:rPr lang="fr-FR" sz="1200" dirty="0" err="1">
                <a:solidFill>
                  <a:srgbClr val="0000FF"/>
                </a:solidFill>
                <a:latin typeface="Consolas" panose="020B0609020204030204" pitchFamily="49" charset="0"/>
              </a:rPr>
              <a:t>this</a:t>
            </a:r>
            <a:r>
              <a:rPr lang="fr-FR" sz="1200" dirty="0">
                <a:solidFill>
                  <a:srgbClr val="000000"/>
                </a:solidFill>
                <a:latin typeface="Consolas" panose="020B0609020204030204" pitchFamily="49" charset="0"/>
              </a:rPr>
              <a:t>-&gt;</a:t>
            </a:r>
            <a:r>
              <a:rPr lang="fr-FR" sz="1200" dirty="0" err="1">
                <a:solidFill>
                  <a:srgbClr val="001080"/>
                </a:solidFill>
                <a:latin typeface="Consolas" panose="020B0609020204030204" pitchFamily="49" charset="0"/>
              </a:rPr>
              <a:t>statefulApi</a:t>
            </a:r>
            <a:r>
              <a:rPr lang="fr-FR" sz="1200" dirty="0">
                <a:solidFill>
                  <a:srgbClr val="000000"/>
                </a:solidFill>
                <a:latin typeface="Consolas" panose="020B0609020204030204" pitchFamily="49" charset="0"/>
              </a:rPr>
              <a:t> ? \</a:t>
            </a:r>
            <a:r>
              <a:rPr lang="fr-FR" sz="1200" dirty="0" err="1">
                <a:solidFill>
                  <a:srgbClr val="000000"/>
                </a:solidFill>
                <a:latin typeface="Consolas" panose="020B0609020204030204" pitchFamily="49" charset="0"/>
              </a:rPr>
              <a:t>Laravel</a:t>
            </a:r>
            <a:r>
              <a:rPr lang="fr-FR" sz="1200" dirty="0">
                <a:solidFill>
                  <a:srgbClr val="000000"/>
                </a:solidFill>
                <a:latin typeface="Consolas" panose="020B0609020204030204" pitchFamily="49" charset="0"/>
              </a:rPr>
              <a:t>\</a:t>
            </a:r>
            <a:r>
              <a:rPr lang="fr-FR" sz="1200" dirty="0" err="1">
                <a:solidFill>
                  <a:srgbClr val="000000"/>
                </a:solidFill>
                <a:latin typeface="Consolas" panose="020B0609020204030204" pitchFamily="49" charset="0"/>
              </a:rPr>
              <a:t>Sanctum</a:t>
            </a:r>
            <a:r>
              <a:rPr lang="fr-FR" sz="1200" dirty="0">
                <a:solidFill>
                  <a:srgbClr val="000000"/>
                </a:solidFill>
                <a:latin typeface="Consolas" panose="020B0609020204030204" pitchFamily="49" charset="0"/>
              </a:rPr>
              <a:t>\Http\Middleware\</a:t>
            </a:r>
            <a:r>
              <a:rPr lang="fr-FR" sz="1200" dirty="0" err="1">
                <a:solidFill>
                  <a:srgbClr val="267F99"/>
                </a:solidFill>
                <a:latin typeface="Consolas" panose="020B0609020204030204" pitchFamily="49" charset="0"/>
              </a:rPr>
              <a:t>EnsureFrontendRequestsAreStateful</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class</a:t>
            </a:r>
            <a:r>
              <a:rPr lang="fr-FR" sz="1200" dirty="0">
                <a:solidFill>
                  <a:srgbClr val="000000"/>
                </a:solidFill>
                <a:latin typeface="Consolas" panose="020B0609020204030204" pitchFamily="49" charset="0"/>
              </a:rPr>
              <a:t> : </a:t>
            </a:r>
            <a:r>
              <a:rPr lang="fr-FR" sz="1200" dirty="0" err="1">
                <a:solidFill>
                  <a:srgbClr val="0000FF"/>
                </a:solidFill>
                <a:latin typeface="Consolas" panose="020B0609020204030204" pitchFamily="49" charset="0"/>
              </a:rPr>
              <a:t>null</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a:solidFill>
                  <a:srgbClr val="0000FF"/>
                </a:solidFill>
                <a:latin typeface="Consolas" panose="020B0609020204030204" pitchFamily="49" charset="0"/>
              </a:rPr>
              <a:t>$</a:t>
            </a:r>
            <a:r>
              <a:rPr lang="fr-FR" sz="1200" dirty="0" err="1">
                <a:solidFill>
                  <a:srgbClr val="0000FF"/>
                </a:solidFill>
                <a:latin typeface="Consolas" panose="020B0609020204030204" pitchFamily="49" charset="0"/>
              </a:rPr>
              <a:t>this</a:t>
            </a:r>
            <a:r>
              <a:rPr lang="fr-FR" sz="1200" dirty="0">
                <a:solidFill>
                  <a:srgbClr val="000000"/>
                </a:solidFill>
                <a:latin typeface="Consolas" panose="020B0609020204030204" pitchFamily="49" charset="0"/>
              </a:rPr>
              <a:t>-&gt;</a:t>
            </a:r>
            <a:r>
              <a:rPr lang="fr-FR" sz="1200" dirty="0" err="1">
                <a:solidFill>
                  <a:srgbClr val="001080"/>
                </a:solidFill>
                <a:latin typeface="Consolas" panose="020B0609020204030204" pitchFamily="49" charset="0"/>
              </a:rPr>
              <a:t>apiLimiter</a:t>
            </a:r>
            <a:r>
              <a:rPr lang="fr-FR" sz="1200" dirty="0">
                <a:solidFill>
                  <a:srgbClr val="000000"/>
                </a:solidFill>
                <a:latin typeface="Consolas" panose="020B0609020204030204" pitchFamily="49" charset="0"/>
              </a:rPr>
              <a:t> ? </a:t>
            </a:r>
            <a:r>
              <a:rPr lang="fr-FR" sz="1200" dirty="0">
                <a:solidFill>
                  <a:srgbClr val="A31515"/>
                </a:solidFill>
                <a:latin typeface="Consolas" panose="020B0609020204030204" pitchFamily="49" charset="0"/>
              </a:rPr>
              <a:t>'</a:t>
            </a:r>
            <a:r>
              <a:rPr lang="fr-FR" sz="1200" dirty="0" err="1">
                <a:solidFill>
                  <a:srgbClr val="A31515"/>
                </a:solidFill>
                <a:latin typeface="Consolas" panose="020B0609020204030204" pitchFamily="49" charset="0"/>
              </a:rPr>
              <a:t>throttle</a:t>
            </a:r>
            <a:r>
              <a:rPr lang="fr-FR" sz="1200" dirty="0">
                <a:solidFill>
                  <a:srgbClr val="A31515"/>
                </a:solidFill>
                <a:latin typeface="Consolas" panose="020B0609020204030204" pitchFamily="49" charset="0"/>
              </a:rPr>
              <a:t>:'</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a:t>
            </a:r>
            <a:r>
              <a:rPr lang="fr-FR" sz="1200" dirty="0" err="1">
                <a:solidFill>
                  <a:srgbClr val="0000FF"/>
                </a:solidFill>
                <a:latin typeface="Consolas" panose="020B0609020204030204" pitchFamily="49" charset="0"/>
              </a:rPr>
              <a:t>this</a:t>
            </a:r>
            <a:r>
              <a:rPr lang="fr-FR" sz="1200" dirty="0">
                <a:solidFill>
                  <a:srgbClr val="000000"/>
                </a:solidFill>
                <a:latin typeface="Consolas" panose="020B0609020204030204" pitchFamily="49" charset="0"/>
              </a:rPr>
              <a:t>-&gt;</a:t>
            </a:r>
            <a:r>
              <a:rPr lang="fr-FR" sz="1200" dirty="0" err="1">
                <a:solidFill>
                  <a:srgbClr val="001080"/>
                </a:solidFill>
                <a:latin typeface="Consolas" panose="020B0609020204030204" pitchFamily="49" charset="0"/>
              </a:rPr>
              <a:t>apiLimiter</a:t>
            </a:r>
            <a:r>
              <a:rPr lang="fr-FR" sz="1200" dirty="0">
                <a:solidFill>
                  <a:srgbClr val="000000"/>
                </a:solidFill>
                <a:latin typeface="Consolas" panose="020B0609020204030204" pitchFamily="49" charset="0"/>
              </a:rPr>
              <a:t> : </a:t>
            </a:r>
            <a:r>
              <a:rPr lang="fr-FR" sz="1200" dirty="0" err="1">
                <a:solidFill>
                  <a:srgbClr val="0000FF"/>
                </a:solidFill>
                <a:latin typeface="Consolas" panose="020B0609020204030204" pitchFamily="49" charset="0"/>
              </a:rPr>
              <a:t>null</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Illuminate</a:t>
            </a:r>
            <a:r>
              <a:rPr lang="fr-FR" sz="1200" dirty="0">
                <a:solidFill>
                  <a:srgbClr val="000000"/>
                </a:solidFill>
                <a:latin typeface="Consolas" panose="020B0609020204030204" pitchFamily="49" charset="0"/>
              </a:rPr>
              <a:t>\</a:t>
            </a:r>
            <a:r>
              <a:rPr lang="fr-FR" sz="1200" dirty="0" err="1">
                <a:solidFill>
                  <a:srgbClr val="000000"/>
                </a:solidFill>
                <a:latin typeface="Consolas" panose="020B0609020204030204" pitchFamily="49" charset="0"/>
              </a:rPr>
              <a:t>Routing</a:t>
            </a:r>
            <a:r>
              <a:rPr lang="fr-FR" sz="1200" dirty="0">
                <a:solidFill>
                  <a:srgbClr val="000000"/>
                </a:solidFill>
                <a:latin typeface="Consolas" panose="020B0609020204030204" pitchFamily="49" charset="0"/>
              </a:rPr>
              <a:t>\Middleware\</a:t>
            </a:r>
            <a:r>
              <a:rPr lang="fr-FR" sz="1200" dirty="0" err="1">
                <a:solidFill>
                  <a:srgbClr val="267F99"/>
                </a:solidFill>
                <a:latin typeface="Consolas" panose="020B0609020204030204" pitchFamily="49" charset="0"/>
              </a:rPr>
              <a:t>SubstituteBindings</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class</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p>
          <a:p>
            <a:r>
              <a:rPr lang="fr-FR" sz="1200" dirty="0">
                <a:solidFill>
                  <a:srgbClr val="000000"/>
                </a:solidFill>
                <a:latin typeface="Consolas" panose="020B0609020204030204" pitchFamily="49" charset="0"/>
              </a:rPr>
              <a:t>        ];</a:t>
            </a:r>
          </a:p>
        </p:txBody>
      </p:sp>
    </p:spTree>
    <p:extLst>
      <p:ext uri="{BB962C8B-B14F-4D97-AF65-F5344CB8AC3E}">
        <p14:creationId xmlns:p14="http://schemas.microsoft.com/office/powerpoint/2010/main" val="1248591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sz="2600" dirty="0">
                <a:solidFill>
                  <a:srgbClr val="00B0F0"/>
                </a:solidFill>
              </a:rPr>
              <a:t>Utilisation des Middleware </a:t>
            </a:r>
            <a:endParaRPr lang="fr-FR" sz="1900" b="1" dirty="0">
              <a:solidFill>
                <a:schemeClr val="tx1"/>
              </a:solidFill>
            </a:endParaRPr>
          </a:p>
          <a:p>
            <a:pPr lvl="2">
              <a:buFont typeface="Wingdings" panose="05000000000000000000" pitchFamily="2" charset="2"/>
              <a:buChar char="ü"/>
            </a:pPr>
            <a:r>
              <a:rPr lang="fr-FR" sz="2000" dirty="0">
                <a:solidFill>
                  <a:srgbClr val="00B0F0"/>
                </a:solidFill>
                <a:latin typeface="Times New Roman" panose="02020603050405020304" pitchFamily="18" charset="0"/>
                <a:cs typeface="Times New Roman" panose="02020603050405020304" pitchFamily="18" charset="0"/>
              </a:rPr>
              <a:t>Global Middleware :</a:t>
            </a:r>
            <a:endParaRPr lang="fr-FR" sz="2000" dirty="0">
              <a:latin typeface="Times New Roman" panose="02020603050405020304" pitchFamily="18" charset="0"/>
              <a:cs typeface="Times New Roman" panose="02020603050405020304" pitchFamily="18" charset="0"/>
            </a:endParaRPr>
          </a:p>
          <a:p>
            <a:pPr marL="1371600" lvl="3" indent="0">
              <a:buNone/>
            </a:pPr>
            <a:r>
              <a:rPr lang="fr-FR" dirty="0">
                <a:latin typeface="Times New Roman" panose="02020603050405020304" pitchFamily="18" charset="0"/>
                <a:cs typeface="Times New Roman" panose="02020603050405020304" pitchFamily="18" charset="0"/>
              </a:rPr>
              <a:t>Un middleware qui permet de protéger tout le site si une protection général pour toute l’application.</a:t>
            </a: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3EE56451-2B5F-4AD7-BFA0-899BFC7F5049}"/>
              </a:ext>
            </a:extLst>
          </p:cNvPr>
          <p:cNvSpPr/>
          <p:nvPr/>
        </p:nvSpPr>
        <p:spPr>
          <a:xfrm>
            <a:off x="575556" y="4077072"/>
            <a:ext cx="7992888" cy="8640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$kernel</a:t>
            </a:r>
            <a:r>
              <a:rPr lang="fr-FR" sz="1600" dirty="0">
                <a:solidFill>
                  <a:srgbClr val="000000"/>
                </a:solidFill>
                <a:latin typeface="Consolas" panose="020B0609020204030204" pitchFamily="49" charset="0"/>
              </a:rPr>
              <a:t>-&gt;</a:t>
            </a:r>
            <a:r>
              <a:rPr lang="fr-FR" sz="1600" dirty="0" err="1">
                <a:solidFill>
                  <a:srgbClr val="795E26"/>
                </a:solidFill>
                <a:latin typeface="Consolas" panose="020B0609020204030204" pitchFamily="49" charset="0"/>
              </a:rPr>
              <a:t>setGlobalMiddleware</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$middleware</a:t>
            </a:r>
            <a:r>
              <a:rPr lang="fr-FR" sz="1600" dirty="0">
                <a:solidFill>
                  <a:srgbClr val="000000"/>
                </a:solidFill>
                <a:latin typeface="Consolas" panose="020B0609020204030204" pitchFamily="49" charset="0"/>
              </a:rPr>
              <a:t>-&gt;</a:t>
            </a:r>
            <a:r>
              <a:rPr lang="fr-FR" sz="1600" dirty="0" err="1">
                <a:solidFill>
                  <a:srgbClr val="795E26"/>
                </a:solidFill>
                <a:latin typeface="Consolas" panose="020B0609020204030204" pitchFamily="49" charset="0"/>
              </a:rPr>
              <a:t>getGlobalMiddleware</a:t>
            </a:r>
            <a:r>
              <a:rPr lang="fr-FR" sz="16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152670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198876"/>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000" b="1" dirty="0">
                <a:solidFill>
                  <a:srgbClr val="002060"/>
                </a:solidFill>
                <a:latin typeface="Times New Roman" panose="02020603050405020304" pitchFamily="18" charset="0"/>
                <a:cs typeface="Times New Roman" panose="02020603050405020304" pitchFamily="18" charset="0"/>
              </a:rPr>
              <a:t>Programmer avec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Utilisation des Middleware </a:t>
            </a:r>
            <a:endParaRPr lang="fr-FR" sz="2000" b="1" dirty="0">
              <a:solidFill>
                <a:schemeClr val="tx1"/>
              </a:solidFill>
            </a:endParaRPr>
          </a:p>
          <a:p>
            <a:pPr lvl="2">
              <a:buFont typeface="Wingdings" panose="05000000000000000000" pitchFamily="2" charset="2"/>
              <a:buChar char="ü"/>
            </a:pPr>
            <a:r>
              <a:rPr lang="fr-FR" sz="2000" dirty="0">
                <a:solidFill>
                  <a:srgbClr val="00B0F0"/>
                </a:solidFill>
                <a:latin typeface="Times New Roman" panose="02020603050405020304" pitchFamily="18" charset="0"/>
                <a:cs typeface="Times New Roman" panose="02020603050405020304" pitchFamily="18" charset="0"/>
              </a:rPr>
              <a:t>Global Middleware </a:t>
            </a:r>
            <a:r>
              <a:rPr lang="fr-FR" sz="1600" dirty="0">
                <a:solidFill>
                  <a:srgbClr val="00B0F0"/>
                </a:solidFill>
                <a:latin typeface="Times New Roman" panose="02020603050405020304" pitchFamily="18" charset="0"/>
                <a:cs typeface="Times New Roman" panose="02020603050405020304" pitchFamily="18" charset="0"/>
              </a:rPr>
              <a:t>:</a:t>
            </a:r>
            <a:endParaRPr lang="fr-FR" sz="1600" dirty="0">
              <a:latin typeface="Times New Roman" panose="02020603050405020304" pitchFamily="18" charset="0"/>
              <a:cs typeface="Times New Roman" panose="02020603050405020304" pitchFamily="18" charset="0"/>
            </a:endParaRPr>
          </a:p>
          <a:p>
            <a:pPr marL="1371600" lvl="3" indent="0">
              <a:buNone/>
            </a:pPr>
            <a:endParaRPr lang="fr-FR" sz="2400" dirty="0">
              <a:latin typeface="Times New Roman" panose="02020603050405020304" pitchFamily="18" charset="0"/>
              <a:cs typeface="Times New Roman" panose="02020603050405020304" pitchFamily="18" charset="0"/>
            </a:endParaRPr>
          </a:p>
          <a:p>
            <a:pPr marL="0" lvl="0" indent="0">
              <a:buNone/>
            </a:pPr>
            <a:endParaRPr lang="fr-FR" sz="2000" dirty="0">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000" b="1" dirty="0">
              <a:solidFill>
                <a:srgbClr val="C000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98341BBF-0590-47D8-BA38-759287503B0B}"/>
              </a:ext>
            </a:extLst>
          </p:cNvPr>
          <p:cNvSpPr/>
          <p:nvPr/>
        </p:nvSpPr>
        <p:spPr>
          <a:xfrm>
            <a:off x="575556" y="2852936"/>
            <a:ext cx="7992888" cy="352839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1400" dirty="0">
                <a:solidFill>
                  <a:srgbClr val="0000FF"/>
                </a:solidFill>
                <a:latin typeface="Consolas" panose="020B0609020204030204" pitchFamily="49" charset="0"/>
              </a:rPr>
              <a:t>public</a:t>
            </a:r>
            <a:r>
              <a:rPr lang="fr-FR" sz="1400" dirty="0">
                <a:solidFill>
                  <a:srgbClr val="000000"/>
                </a:solidFill>
                <a:latin typeface="Consolas" panose="020B0609020204030204" pitchFamily="49" charset="0"/>
              </a:rPr>
              <a:t> </a:t>
            </a:r>
            <a:r>
              <a:rPr lang="fr-FR" sz="1400" dirty="0" err="1">
                <a:solidFill>
                  <a:srgbClr val="0000FF"/>
                </a:solidFill>
                <a:latin typeface="Consolas" panose="020B0609020204030204" pitchFamily="49" charset="0"/>
              </a:rPr>
              <a:t>function</a:t>
            </a:r>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getGlobalMiddleware</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p>
          <a:p>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$middleware</a:t>
            </a:r>
            <a:r>
              <a:rPr lang="fr-FR" sz="1400" dirty="0">
                <a:solidFill>
                  <a:srgbClr val="000000"/>
                </a:solidFill>
                <a:latin typeface="Consolas" panose="020B0609020204030204" pitchFamily="49" charset="0"/>
              </a:rPr>
              <a:t> = </a:t>
            </a:r>
            <a:r>
              <a:rPr lang="fr-FR" sz="1400" dirty="0">
                <a:solidFill>
                  <a:srgbClr val="0000FF"/>
                </a:solidFill>
                <a:latin typeface="Consolas" panose="020B0609020204030204" pitchFamily="49" charset="0"/>
              </a:rPr>
              <a:t>$</a:t>
            </a:r>
            <a:r>
              <a:rPr lang="fr-FR" sz="1400" dirty="0" err="1">
                <a:solidFill>
                  <a:srgbClr val="0000FF"/>
                </a:solidFill>
                <a:latin typeface="Consolas" panose="020B0609020204030204" pitchFamily="49" charset="0"/>
              </a:rPr>
              <a:t>this</a:t>
            </a:r>
            <a:r>
              <a:rPr lang="fr-FR" sz="1400" dirty="0">
                <a:solidFill>
                  <a:srgbClr val="000000"/>
                </a:solidFill>
                <a:latin typeface="Consolas" panose="020B0609020204030204" pitchFamily="49" charset="0"/>
              </a:rPr>
              <a:t>-&gt;</a:t>
            </a:r>
            <a:r>
              <a:rPr lang="fr-FR" sz="1400" dirty="0">
                <a:solidFill>
                  <a:srgbClr val="001080"/>
                </a:solidFill>
                <a:latin typeface="Consolas" panose="020B0609020204030204" pitchFamily="49" charset="0"/>
              </a:rPr>
              <a:t>global</a:t>
            </a:r>
            <a:r>
              <a:rPr lang="fr-FR" sz="1400" dirty="0">
                <a:solidFill>
                  <a:srgbClr val="000000"/>
                </a:solidFill>
                <a:latin typeface="Consolas" panose="020B0609020204030204" pitchFamily="49" charset="0"/>
              </a:rPr>
              <a:t> ?: </a:t>
            </a:r>
            <a:r>
              <a:rPr lang="fr-FR" sz="1400" dirty="0" err="1">
                <a:solidFill>
                  <a:srgbClr val="795E26"/>
                </a:solidFill>
                <a:latin typeface="Consolas" panose="020B0609020204030204" pitchFamily="49" charset="0"/>
              </a:rPr>
              <a:t>array_values</a:t>
            </a:r>
            <a:r>
              <a:rPr lang="fr-FR" sz="1400" dirty="0">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array_filter</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0000"/>
                </a:solidFill>
                <a:latin typeface="Consolas" panose="020B0609020204030204" pitchFamily="49" charset="0"/>
              </a:rPr>
              <a:t>Illuminate</a:t>
            </a:r>
            <a:r>
              <a:rPr lang="fr-FR" sz="1400" dirty="0">
                <a:solidFill>
                  <a:srgbClr val="000000"/>
                </a:solidFill>
                <a:latin typeface="Consolas" panose="020B0609020204030204" pitchFamily="49" charset="0"/>
              </a:rPr>
              <a:t>\</a:t>
            </a:r>
            <a:r>
              <a:rPr lang="fr-FR" sz="1400" dirty="0" err="1">
                <a:solidFill>
                  <a:srgbClr val="000000"/>
                </a:solidFill>
                <a:latin typeface="Consolas" panose="020B0609020204030204" pitchFamily="49" charset="0"/>
              </a:rPr>
              <a:t>Foundation</a:t>
            </a:r>
            <a:r>
              <a:rPr lang="fr-FR" sz="1400" dirty="0">
                <a:solidFill>
                  <a:srgbClr val="000000"/>
                </a:solidFill>
                <a:latin typeface="Consolas" panose="020B0609020204030204" pitchFamily="49" charset="0"/>
              </a:rPr>
              <a:t>\Http\Middleware\</a:t>
            </a:r>
            <a:r>
              <a:rPr lang="fr-FR" sz="1400" dirty="0" err="1">
                <a:solidFill>
                  <a:srgbClr val="267F99"/>
                </a:solidFill>
                <a:latin typeface="Consolas" panose="020B0609020204030204" pitchFamily="49" charset="0"/>
              </a:rPr>
              <a:t>InvokeDeferredCallbacks</a:t>
            </a:r>
            <a:r>
              <a:rPr lang="fr-FR" sz="1400" dirty="0">
                <a:solidFill>
                  <a:srgbClr val="000000"/>
                </a:solidFill>
                <a:latin typeface="Consolas" panose="020B0609020204030204" pitchFamily="49" charset="0"/>
              </a:rPr>
              <a:t>::</a:t>
            </a:r>
            <a:r>
              <a:rPr lang="fr-FR" sz="1400" dirty="0">
                <a:solidFill>
                  <a:srgbClr val="0000FF"/>
                </a:solidFill>
                <a:latin typeface="Consolas" panose="020B0609020204030204" pitchFamily="49" charset="0"/>
              </a:rPr>
              <a:t>class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a:solidFill>
                  <a:srgbClr val="0000FF"/>
                </a:solidFill>
                <a:latin typeface="Consolas" panose="020B0609020204030204" pitchFamily="49" charset="0"/>
              </a:rPr>
              <a:t>$</a:t>
            </a:r>
            <a:r>
              <a:rPr lang="fr-FR" sz="1400" dirty="0" err="1">
                <a:solidFill>
                  <a:srgbClr val="0000FF"/>
                </a:solidFill>
                <a:latin typeface="Consolas" panose="020B0609020204030204" pitchFamily="49" charset="0"/>
              </a:rPr>
              <a:t>this</a:t>
            </a:r>
            <a:r>
              <a:rPr lang="fr-FR" sz="1400" dirty="0">
                <a:solidFill>
                  <a:srgbClr val="000000"/>
                </a:solidFill>
                <a:latin typeface="Consolas" panose="020B0609020204030204" pitchFamily="49" charset="0"/>
              </a:rPr>
              <a:t>-&gt;</a:t>
            </a:r>
            <a:r>
              <a:rPr lang="fr-FR" sz="1400" dirty="0" err="1">
                <a:solidFill>
                  <a:srgbClr val="001080"/>
                </a:solidFill>
                <a:latin typeface="Consolas" panose="020B0609020204030204" pitchFamily="49" charset="0"/>
              </a:rPr>
              <a:t>trustHosts</a:t>
            </a:r>
            <a:r>
              <a:rPr lang="fr-FR" sz="1400" dirty="0">
                <a:solidFill>
                  <a:srgbClr val="000000"/>
                </a:solidFill>
                <a:latin typeface="Consolas" panose="020B0609020204030204" pitchFamily="49" charset="0"/>
              </a:rPr>
              <a:t> ? \</a:t>
            </a:r>
            <a:r>
              <a:rPr lang="fr-FR" sz="1400" dirty="0" err="1">
                <a:solidFill>
                  <a:srgbClr val="000000"/>
                </a:solidFill>
                <a:latin typeface="Consolas" panose="020B0609020204030204" pitchFamily="49" charset="0"/>
              </a:rPr>
              <a:t>Illuminate</a:t>
            </a:r>
            <a:r>
              <a:rPr lang="fr-FR" sz="1400" dirty="0">
                <a:solidFill>
                  <a:srgbClr val="000000"/>
                </a:solidFill>
                <a:latin typeface="Consolas" panose="020B0609020204030204" pitchFamily="49" charset="0"/>
              </a:rPr>
              <a:t>\Http\Middleware\</a:t>
            </a:r>
            <a:r>
              <a:rPr lang="fr-FR" sz="1400" dirty="0" err="1">
                <a:solidFill>
                  <a:srgbClr val="267F99"/>
                </a:solidFill>
                <a:latin typeface="Consolas" panose="020B0609020204030204" pitchFamily="49" charset="0"/>
              </a:rPr>
              <a:t>TrustHosts</a:t>
            </a:r>
            <a:r>
              <a:rPr lang="fr-FR" sz="1400" dirty="0">
                <a:solidFill>
                  <a:srgbClr val="000000"/>
                </a:solidFill>
                <a:latin typeface="Consolas" panose="020B0609020204030204" pitchFamily="49" charset="0"/>
              </a:rPr>
              <a:t>::</a:t>
            </a:r>
            <a:r>
              <a:rPr lang="fr-FR" sz="1400" dirty="0">
                <a:solidFill>
                  <a:srgbClr val="0000FF"/>
                </a:solidFill>
                <a:latin typeface="Consolas" panose="020B0609020204030204" pitchFamily="49" charset="0"/>
              </a:rPr>
              <a:t>class</a:t>
            </a:r>
            <a:r>
              <a:rPr lang="fr-FR" sz="1400" dirty="0">
                <a:solidFill>
                  <a:srgbClr val="000000"/>
                </a:solidFill>
                <a:latin typeface="Consolas" panose="020B0609020204030204" pitchFamily="49" charset="0"/>
              </a:rPr>
              <a:t> : </a:t>
            </a:r>
            <a:r>
              <a:rPr lang="fr-FR" sz="1400" dirty="0" err="1">
                <a:solidFill>
                  <a:srgbClr val="0000FF"/>
                </a:solidFill>
                <a:latin typeface="Consolas" panose="020B0609020204030204" pitchFamily="49" charset="0"/>
              </a:rPr>
              <a:t>null</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0000"/>
                </a:solidFill>
                <a:latin typeface="Consolas" panose="020B0609020204030204" pitchFamily="49" charset="0"/>
              </a:rPr>
              <a:t>Illuminate</a:t>
            </a:r>
            <a:r>
              <a:rPr lang="fr-FR" sz="1400" dirty="0">
                <a:solidFill>
                  <a:srgbClr val="000000"/>
                </a:solidFill>
                <a:latin typeface="Consolas" panose="020B0609020204030204" pitchFamily="49" charset="0"/>
              </a:rPr>
              <a:t>\Http\Middleware\</a:t>
            </a:r>
            <a:r>
              <a:rPr lang="fr-FR" sz="1400" dirty="0" err="1">
                <a:solidFill>
                  <a:srgbClr val="267F99"/>
                </a:solidFill>
                <a:latin typeface="Consolas" panose="020B0609020204030204" pitchFamily="49" charset="0"/>
              </a:rPr>
              <a:t>TrustProxies</a:t>
            </a:r>
            <a:r>
              <a:rPr lang="fr-FR" sz="1400" dirty="0">
                <a:solidFill>
                  <a:srgbClr val="000000"/>
                </a:solidFill>
                <a:latin typeface="Consolas" panose="020B0609020204030204" pitchFamily="49" charset="0"/>
              </a:rPr>
              <a:t>::</a:t>
            </a:r>
            <a:r>
              <a:rPr lang="fr-FR" sz="1400" dirty="0">
                <a:solidFill>
                  <a:srgbClr val="0000FF"/>
                </a:solidFill>
                <a:latin typeface="Consolas" panose="020B0609020204030204" pitchFamily="49" charset="0"/>
              </a:rPr>
              <a:t>class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0000"/>
                </a:solidFill>
                <a:latin typeface="Consolas" panose="020B0609020204030204" pitchFamily="49" charset="0"/>
              </a:rPr>
              <a:t>Illuminate</a:t>
            </a:r>
            <a:r>
              <a:rPr lang="fr-FR" sz="1400" dirty="0">
                <a:solidFill>
                  <a:srgbClr val="000000"/>
                </a:solidFill>
                <a:latin typeface="Consolas" panose="020B0609020204030204" pitchFamily="49" charset="0"/>
              </a:rPr>
              <a:t>\Http\Middleware\</a:t>
            </a:r>
            <a:r>
              <a:rPr lang="fr-FR" sz="1400" dirty="0" err="1">
                <a:solidFill>
                  <a:srgbClr val="267F99"/>
                </a:solidFill>
                <a:latin typeface="Consolas" panose="020B0609020204030204" pitchFamily="49" charset="0"/>
              </a:rPr>
              <a:t>HandleCors</a:t>
            </a:r>
            <a:r>
              <a:rPr lang="fr-FR" sz="1400" dirty="0">
                <a:solidFill>
                  <a:srgbClr val="000000"/>
                </a:solidFill>
                <a:latin typeface="Consolas" panose="020B0609020204030204" pitchFamily="49" charset="0"/>
              </a:rPr>
              <a:t>::</a:t>
            </a:r>
            <a:r>
              <a:rPr lang="fr-FR" sz="1400" dirty="0">
                <a:solidFill>
                  <a:srgbClr val="0000FF"/>
                </a:solidFill>
                <a:latin typeface="Consolas" panose="020B0609020204030204" pitchFamily="49" charset="0"/>
              </a:rPr>
              <a:t>class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a:t>
            </a:r>
            <a:r>
              <a:rPr lang="fr-FR" sz="1400" dirty="0" err="1">
                <a:solidFill>
                  <a:srgbClr val="000000"/>
                </a:solidFill>
                <a:latin typeface="Consolas" panose="020B0609020204030204" pitchFamily="49" charset="0"/>
              </a:rPr>
              <a:t>Illuminate</a:t>
            </a:r>
            <a:r>
              <a:rPr lang="fr-FR" sz="1400" dirty="0">
                <a:solidFill>
                  <a:srgbClr val="000000"/>
                </a:solidFill>
                <a:latin typeface="Consolas" panose="020B0609020204030204" pitchFamily="49" charset="0"/>
              </a:rPr>
              <a:t>\</a:t>
            </a:r>
            <a:r>
              <a:rPr lang="fr-FR" sz="1400" dirty="0" err="1">
                <a:solidFill>
                  <a:srgbClr val="000000"/>
                </a:solidFill>
                <a:latin typeface="Consolas" panose="020B0609020204030204" pitchFamily="49" charset="0"/>
              </a:rPr>
              <a:t>Foundation</a:t>
            </a:r>
            <a:r>
              <a:rPr lang="fr-FR" sz="1400" dirty="0">
                <a:solidFill>
                  <a:srgbClr val="000000"/>
                </a:solidFill>
                <a:latin typeface="Consolas" panose="020B0609020204030204" pitchFamily="49" charset="0"/>
              </a:rPr>
              <a:t>\Http\Middleware\</a:t>
            </a:r>
            <a:r>
              <a:rPr lang="fr-FR" sz="1400" dirty="0" err="1">
                <a:solidFill>
                  <a:srgbClr val="267F99"/>
                </a:solidFill>
                <a:latin typeface="Consolas" panose="020B0609020204030204" pitchFamily="49" charset="0"/>
              </a:rPr>
              <a:t>PreventRequestsDuringMaintenance</a:t>
            </a:r>
            <a:r>
              <a:rPr lang="fr-FR" sz="1400" dirty="0">
                <a:solidFill>
                  <a:srgbClr val="000000"/>
                </a:solidFill>
                <a:latin typeface="Consolas" panose="020B0609020204030204" pitchFamily="49" charset="0"/>
              </a:rPr>
              <a:t>::</a:t>
            </a:r>
            <a:r>
              <a:rPr lang="fr-FR" sz="1400" dirty="0">
                <a:solidFill>
                  <a:srgbClr val="0000FF"/>
                </a:solidFill>
                <a:latin typeface="Consolas" panose="020B0609020204030204" pitchFamily="49" charset="0"/>
              </a:rPr>
              <a:t>class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0000"/>
                </a:solidFill>
                <a:latin typeface="Consolas" panose="020B0609020204030204" pitchFamily="49" charset="0"/>
              </a:rPr>
              <a:t>Illuminate</a:t>
            </a:r>
            <a:r>
              <a:rPr lang="fr-FR" sz="1400" dirty="0">
                <a:solidFill>
                  <a:srgbClr val="000000"/>
                </a:solidFill>
                <a:latin typeface="Consolas" panose="020B0609020204030204" pitchFamily="49" charset="0"/>
              </a:rPr>
              <a:t>\Http\Middleware\</a:t>
            </a:r>
            <a:r>
              <a:rPr lang="fr-FR" sz="1400" dirty="0" err="1">
                <a:solidFill>
                  <a:srgbClr val="267F99"/>
                </a:solidFill>
                <a:latin typeface="Consolas" panose="020B0609020204030204" pitchFamily="49" charset="0"/>
              </a:rPr>
              <a:t>ValidatePostSize</a:t>
            </a:r>
            <a:r>
              <a:rPr lang="fr-FR" sz="1400" dirty="0">
                <a:solidFill>
                  <a:srgbClr val="000000"/>
                </a:solidFill>
                <a:latin typeface="Consolas" panose="020B0609020204030204" pitchFamily="49" charset="0"/>
              </a:rPr>
              <a:t>::</a:t>
            </a:r>
            <a:r>
              <a:rPr lang="fr-FR" sz="1400" dirty="0">
                <a:solidFill>
                  <a:srgbClr val="0000FF"/>
                </a:solidFill>
                <a:latin typeface="Consolas" panose="020B0609020204030204" pitchFamily="49" charset="0"/>
              </a:rPr>
              <a:t>class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0000"/>
                </a:solidFill>
                <a:latin typeface="Consolas" panose="020B0609020204030204" pitchFamily="49" charset="0"/>
              </a:rPr>
              <a:t>Illuminate</a:t>
            </a:r>
            <a:r>
              <a:rPr lang="fr-FR" sz="1400" dirty="0">
                <a:solidFill>
                  <a:srgbClr val="000000"/>
                </a:solidFill>
                <a:latin typeface="Consolas" panose="020B0609020204030204" pitchFamily="49" charset="0"/>
              </a:rPr>
              <a:t>\</a:t>
            </a:r>
            <a:r>
              <a:rPr lang="fr-FR" sz="1400" dirty="0" err="1">
                <a:solidFill>
                  <a:srgbClr val="000000"/>
                </a:solidFill>
                <a:latin typeface="Consolas" panose="020B0609020204030204" pitchFamily="49" charset="0"/>
              </a:rPr>
              <a:t>Foundation</a:t>
            </a:r>
            <a:r>
              <a:rPr lang="fr-FR" sz="1400" dirty="0">
                <a:solidFill>
                  <a:srgbClr val="000000"/>
                </a:solidFill>
                <a:latin typeface="Consolas" panose="020B0609020204030204" pitchFamily="49" charset="0"/>
              </a:rPr>
              <a:t>\Http\Middleware\</a:t>
            </a:r>
            <a:r>
              <a:rPr lang="fr-FR" sz="1400" dirty="0" err="1">
                <a:solidFill>
                  <a:srgbClr val="267F99"/>
                </a:solidFill>
                <a:latin typeface="Consolas" panose="020B0609020204030204" pitchFamily="49" charset="0"/>
              </a:rPr>
              <a:t>TrimStrings</a:t>
            </a:r>
            <a:r>
              <a:rPr lang="fr-FR" sz="1400" dirty="0">
                <a:solidFill>
                  <a:srgbClr val="000000"/>
                </a:solidFill>
                <a:latin typeface="Consolas" panose="020B0609020204030204" pitchFamily="49" charset="0"/>
              </a:rPr>
              <a:t>::</a:t>
            </a:r>
            <a:r>
              <a:rPr lang="fr-FR" sz="1400" dirty="0">
                <a:solidFill>
                  <a:srgbClr val="0000FF"/>
                </a:solidFill>
                <a:latin typeface="Consolas" panose="020B0609020204030204" pitchFamily="49" charset="0"/>
              </a:rPr>
              <a:t>class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0000"/>
                </a:solidFill>
                <a:latin typeface="Consolas" panose="020B0609020204030204" pitchFamily="49" charset="0"/>
              </a:rPr>
              <a:t>Illuminate</a:t>
            </a:r>
            <a:r>
              <a:rPr lang="fr-FR" sz="1400" dirty="0">
                <a:solidFill>
                  <a:srgbClr val="000000"/>
                </a:solidFill>
                <a:latin typeface="Consolas" panose="020B0609020204030204" pitchFamily="49" charset="0"/>
              </a:rPr>
              <a:t>\</a:t>
            </a:r>
            <a:r>
              <a:rPr lang="fr-FR" sz="1400" dirty="0" err="1">
                <a:solidFill>
                  <a:srgbClr val="000000"/>
                </a:solidFill>
                <a:latin typeface="Consolas" panose="020B0609020204030204" pitchFamily="49" charset="0"/>
              </a:rPr>
              <a:t>Foundation</a:t>
            </a:r>
            <a:r>
              <a:rPr lang="fr-FR" sz="1400" dirty="0">
                <a:solidFill>
                  <a:srgbClr val="000000"/>
                </a:solidFill>
                <a:latin typeface="Consolas" panose="020B0609020204030204" pitchFamily="49" charset="0"/>
              </a:rPr>
              <a:t>\Http\Middleware\</a:t>
            </a:r>
            <a:r>
              <a:rPr lang="fr-FR" sz="1400" dirty="0" err="1">
                <a:solidFill>
                  <a:srgbClr val="267F99"/>
                </a:solidFill>
                <a:latin typeface="Consolas" panose="020B0609020204030204" pitchFamily="49" charset="0"/>
              </a:rPr>
              <a:t>ConvertEmptyStringsToNull</a:t>
            </a:r>
            <a:r>
              <a:rPr lang="fr-FR" sz="1400" dirty="0">
                <a:solidFill>
                  <a:srgbClr val="000000"/>
                </a:solidFill>
                <a:latin typeface="Consolas" panose="020B0609020204030204" pitchFamily="49" charset="0"/>
              </a:rPr>
              <a:t>::</a:t>
            </a:r>
            <a:r>
              <a:rPr lang="fr-FR" sz="1400" dirty="0">
                <a:solidFill>
                  <a:srgbClr val="0000FF"/>
                </a:solidFill>
                <a:latin typeface="Consolas" panose="020B0609020204030204" pitchFamily="49" charset="0"/>
              </a:rPr>
              <a:t>class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\App\Http\Middleware\</a:t>
            </a:r>
            <a:r>
              <a:rPr lang="fr-FR" sz="1400" dirty="0" err="1">
                <a:solidFill>
                  <a:srgbClr val="267F99"/>
                </a:solidFill>
                <a:latin typeface="Consolas" panose="020B0609020204030204" pitchFamily="49" charset="0"/>
              </a:rPr>
              <a:t>TestMiddleware</a:t>
            </a:r>
            <a:r>
              <a:rPr lang="fr-FR" sz="1400" dirty="0">
                <a:solidFill>
                  <a:srgbClr val="000000"/>
                </a:solidFill>
                <a:latin typeface="Consolas" panose="020B0609020204030204" pitchFamily="49" charset="0"/>
              </a:rPr>
              <a:t>::</a:t>
            </a:r>
            <a:r>
              <a:rPr lang="fr-FR" sz="1400" dirty="0">
                <a:solidFill>
                  <a:srgbClr val="0000FF"/>
                </a:solidFill>
                <a:latin typeface="Consolas" panose="020B0609020204030204" pitchFamily="49" charset="0"/>
              </a:rPr>
              <a:t>class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p>
        </p:txBody>
      </p:sp>
    </p:spTree>
    <p:extLst>
      <p:ext uri="{BB962C8B-B14F-4D97-AF65-F5344CB8AC3E}">
        <p14:creationId xmlns:p14="http://schemas.microsoft.com/office/powerpoint/2010/main" val="367677132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1713</TotalTime>
  <Words>2204</Words>
  <Application>Microsoft Office PowerPoint</Application>
  <PresentationFormat>Affichage à l'écran (4:3)</PresentationFormat>
  <Paragraphs>288</Paragraphs>
  <Slides>20</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20</vt:i4>
      </vt:variant>
    </vt:vector>
  </HeadingPairs>
  <TitlesOfParts>
    <vt:vector size="27" baseType="lpstr">
      <vt:lpstr>Angsana New</vt:lpstr>
      <vt:lpstr>Arial</vt:lpstr>
      <vt:lpstr>Calibri</vt:lpstr>
      <vt:lpstr>Consolas</vt:lpstr>
      <vt:lpstr>Times New Roman</vt:lpstr>
      <vt:lpstr>Wingdings</vt:lpstr>
      <vt:lpstr>Thème Office</vt:lpstr>
      <vt:lpstr>Présentation PowerPoint</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DOT NET Langage VB.NET Réalisé par M. Hamid Belyazidi Année Scolaire 2011/2012 </dc:title>
  <dc:creator>Belyazidi</dc:creator>
  <cp:lastModifiedBy>HAMID BELYAZIDI</cp:lastModifiedBy>
  <cp:revision>225</cp:revision>
  <dcterms:created xsi:type="dcterms:W3CDTF">2011-10-01T12:57:10Z</dcterms:created>
  <dcterms:modified xsi:type="dcterms:W3CDTF">2025-09-22T16:00:40Z</dcterms:modified>
</cp:coreProperties>
</file>