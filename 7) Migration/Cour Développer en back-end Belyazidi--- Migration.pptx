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2" r:id="rId4"/>
    <p:sldId id="283" r:id="rId5"/>
    <p:sldId id="284" r:id="rId6"/>
    <p:sldId id="285" r:id="rId7"/>
    <p:sldId id="286" r:id="rId8"/>
    <p:sldId id="290" r:id="rId9"/>
    <p:sldId id="287" r:id="rId10"/>
    <p:sldId id="288" r:id="rId11"/>
    <p:sldId id="291" r:id="rId12"/>
    <p:sldId id="298" r:id="rId13"/>
    <p:sldId id="292" r:id="rId14"/>
    <p:sldId id="295" r:id="rId15"/>
    <p:sldId id="294" r:id="rId16"/>
    <p:sldId id="296" r:id="rId17"/>
    <p:sldId id="293" r:id="rId18"/>
    <p:sldId id="297" r:id="rId1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20/12/2025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20/12/2025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2F70E237-ED0E-05CE-D8B6-5E47E3F40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48770"/>
            <a:ext cx="9144000" cy="5143500"/>
          </a:xfrm>
          <a:prstGeom prst="rect">
            <a:avLst/>
          </a:prstGeom>
        </p:spPr>
      </p:pic>
      <p:sp>
        <p:nvSpPr>
          <p:cNvPr id="12" name="Rectangle : coins arrondis 11">
            <a:extLst>
              <a:ext uri="{FF2B5EF4-FFF2-40B4-BE49-F238E27FC236}">
                <a16:creationId xmlns:a16="http://schemas.microsoft.com/office/drawing/2014/main" id="{83837E31-76B9-4358-BD34-E36AC93E87F7}"/>
              </a:ext>
            </a:extLst>
          </p:cNvPr>
          <p:cNvSpPr/>
          <p:nvPr/>
        </p:nvSpPr>
        <p:spPr>
          <a:xfrm>
            <a:off x="1904591" y="750640"/>
            <a:ext cx="5472608" cy="694527"/>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804248" y="6287016"/>
            <a:ext cx="2146742" cy="369332"/>
          </a:xfrm>
          <a:prstGeom prst="rect">
            <a:avLst/>
          </a:prstGeom>
        </p:spPr>
        <p:txBody>
          <a:bodyPr wrap="none">
            <a:spAutoFit/>
          </a:bodyPr>
          <a:lstStyle/>
          <a:p>
            <a:pPr algn="ctr"/>
            <a:r>
              <a:rPr lang="fr-FR" i="1" dirty="0">
                <a:latin typeface="Angsana New" pitchFamily="18" charset="-34"/>
                <a:cs typeface="Angsana New" pitchFamily="18" charset="-34"/>
              </a:rPr>
              <a:t>Réalisé par M. Hamid </a:t>
            </a:r>
            <a:r>
              <a:rPr lang="fr-FR" i="1" dirty="0" err="1">
                <a:latin typeface="Angsana New" pitchFamily="18" charset="-34"/>
                <a:cs typeface="Angsana New" pitchFamily="18" charset="-34"/>
              </a:rPr>
              <a:t>Belyazidi</a:t>
            </a:r>
            <a:endParaRPr lang="fr-FR" i="1" dirty="0">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976599" y="842251"/>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B46F5AEB-5EF8-495E-97C3-D51D6A6A9F31}"/>
              </a:ext>
            </a:extLst>
          </p:cNvPr>
          <p:cNvSpPr/>
          <p:nvPr/>
        </p:nvSpPr>
        <p:spPr>
          <a:xfrm>
            <a:off x="1259632" y="5451518"/>
            <a:ext cx="4320480" cy="954107"/>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2800" dirty="0"/>
              <a:t>Base de données  </a:t>
            </a:r>
          </a:p>
          <a:p>
            <a:pPr algn="ctr"/>
            <a:r>
              <a:rPr lang="fr-FR" sz="2800" dirty="0"/>
              <a:t>Migration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8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200" b="1" dirty="0">
              <a:solidFill>
                <a:srgbClr val="00B050"/>
              </a:solidFill>
              <a:latin typeface="Times New Roman" panose="02020603050405020304" pitchFamily="18" charset="0"/>
              <a:cs typeface="Times New Roman" panose="02020603050405020304" pitchFamily="18" charset="0"/>
            </a:endParaRP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Mise en route</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Générateur de requêtes (</a:t>
            </a:r>
            <a:r>
              <a:rPr lang="fr-FR" sz="2000" dirty="0" err="1">
                <a:latin typeface="Times New Roman" panose="02020603050405020304" pitchFamily="18" charset="0"/>
                <a:cs typeface="Times New Roman" panose="02020603050405020304" pitchFamily="18" charset="0"/>
              </a:rPr>
              <a:t>Query</a:t>
            </a:r>
            <a:r>
              <a:rPr lang="fr-FR" sz="2000" dirty="0">
                <a:latin typeface="Times New Roman" panose="02020603050405020304" pitchFamily="18" charset="0"/>
                <a:cs typeface="Times New Roman" panose="02020603050405020304" pitchFamily="18" charset="0"/>
              </a:rPr>
              <a:t> Builder)</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Pagination de la base de données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Gestion de migration (génération, structure, exécution, manipulation des tables, colonnes, </a:t>
            </a:r>
            <a:r>
              <a:rPr lang="fr-FR" sz="2000" dirty="0" err="1">
                <a:latin typeface="Times New Roman" panose="02020603050405020304" pitchFamily="18" charset="0"/>
                <a:cs typeface="Times New Roman" panose="02020603050405020304" pitchFamily="18" charset="0"/>
              </a:rPr>
              <a:t>indexeset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events</a:t>
            </a:r>
            <a:r>
              <a:rPr lang="fr-FR" sz="2000" dirty="0">
                <a:latin typeface="Times New Roman" panose="02020603050405020304" pitchFamily="18" charset="0"/>
                <a:cs typeface="Times New Roman" panose="02020603050405020304" pitchFamily="18" charset="0"/>
              </a:rPr>
              <a:t>)</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Création de Seeders (utilisation des modèles </a:t>
            </a:r>
            <a:r>
              <a:rPr lang="fr-FR" sz="2000" dirty="0" err="1">
                <a:latin typeface="Times New Roman" panose="02020603050405020304" pitchFamily="18" charset="0"/>
                <a:cs typeface="Times New Roman" panose="02020603050405020304" pitchFamily="18" charset="0"/>
              </a:rPr>
              <a:t>factories</a:t>
            </a:r>
            <a:r>
              <a:rPr lang="fr-FR" sz="2000" dirty="0">
                <a:latin typeface="Times New Roman" panose="02020603050405020304" pitchFamily="18" charset="0"/>
                <a:cs typeface="Times New Roman" panose="02020603050405020304" pitchFamily="18" charset="0"/>
              </a:rPr>
              <a:t>, appels de seeders additionnels,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désactivation d’événements de modèles)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Insertion des données d’un formulaire dans une base de données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Utilisation de Redis</a:t>
            </a: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0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4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400" dirty="0">
                <a:solidFill>
                  <a:srgbClr val="C00000"/>
                </a:solidFill>
                <a:latin typeface="Times New Roman" panose="02020603050405020304" pitchFamily="18" charset="0"/>
                <a:cs typeface="Times New Roman" panose="02020603050405020304" pitchFamily="18" charset="0"/>
              </a:rPr>
              <a:t>Introduction</a:t>
            </a: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	Une migration permet de créer et de mettre à jour un schéma de base de données. Autrement dit, vous pouvez créer des tables, des colonnes dans ces tables, en supprimer, créer des index… Tout ce qui concerne la maintenance de vos tables peut être pris en charge par cet outil. Vous avez ainsi un suivi de vos modifications</a:t>
            </a:r>
            <a:r>
              <a:rPr lang="fr-FR"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La migration Laravel est comme un outil de gestion de version de DATABASE.</a:t>
            </a:r>
          </a:p>
          <a:p>
            <a:pPr lvl="1"/>
            <a:endParaRPr lang="fr-FR" dirty="0">
              <a:solidFill>
                <a:srgbClr val="00B0F0"/>
              </a:solidFill>
            </a:endParaRPr>
          </a:p>
        </p:txBody>
      </p:sp>
    </p:spTree>
    <p:extLst>
      <p:ext uri="{BB962C8B-B14F-4D97-AF65-F5344CB8AC3E}">
        <p14:creationId xmlns:p14="http://schemas.microsoft.com/office/powerpoint/2010/main" val="3010774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200" dirty="0">
                <a:solidFill>
                  <a:srgbClr val="C00000"/>
                </a:solidFill>
                <a:latin typeface="Times New Roman" panose="02020603050405020304" pitchFamily="18" charset="0"/>
                <a:cs typeface="Times New Roman" panose="02020603050405020304" pitchFamily="18" charset="0"/>
              </a:rPr>
              <a:t>La configuration de la base</a:t>
            </a: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Laravel permet de gérer les bases de type  </a:t>
            </a:r>
            <a:r>
              <a:rPr lang="fr-FR" sz="2200" b="1" dirty="0">
                <a:solidFill>
                  <a:schemeClr val="tx1"/>
                </a:solidFill>
                <a:latin typeface="Times New Roman" panose="02020603050405020304" pitchFamily="18" charset="0"/>
                <a:cs typeface="Times New Roman" panose="02020603050405020304" pitchFamily="18" charset="0"/>
              </a:rPr>
              <a:t>MySQL</a:t>
            </a:r>
            <a:r>
              <a:rPr lang="fr-FR" sz="2200" dirty="0">
                <a:solidFill>
                  <a:schemeClr val="tx1"/>
                </a:solidFill>
                <a:latin typeface="Times New Roman" panose="02020603050405020304" pitchFamily="18" charset="0"/>
                <a:cs typeface="Times New Roman" panose="02020603050405020304" pitchFamily="18" charset="0"/>
              </a:rPr>
              <a:t>, </a:t>
            </a:r>
            <a:r>
              <a:rPr lang="fr-FR" sz="2200" b="1" dirty="0">
                <a:solidFill>
                  <a:schemeClr val="tx1"/>
                </a:solidFill>
                <a:latin typeface="Times New Roman" panose="02020603050405020304" pitchFamily="18" charset="0"/>
                <a:cs typeface="Times New Roman" panose="02020603050405020304" pitchFamily="18" charset="0"/>
              </a:rPr>
              <a:t>Postgres</a:t>
            </a:r>
            <a:r>
              <a:rPr lang="fr-FR" sz="2200" dirty="0">
                <a:solidFill>
                  <a:schemeClr val="tx1"/>
                </a:solidFill>
                <a:latin typeface="Times New Roman" panose="02020603050405020304" pitchFamily="18" charset="0"/>
                <a:cs typeface="Times New Roman" panose="02020603050405020304" pitchFamily="18" charset="0"/>
              </a:rPr>
              <a:t>, </a:t>
            </a:r>
            <a:r>
              <a:rPr lang="fr-FR" sz="2200" b="1" dirty="0">
                <a:solidFill>
                  <a:schemeClr val="tx1"/>
                </a:solidFill>
                <a:latin typeface="Times New Roman" panose="02020603050405020304" pitchFamily="18" charset="0"/>
                <a:cs typeface="Times New Roman" panose="02020603050405020304" pitchFamily="18" charset="0"/>
              </a:rPr>
              <a:t>SQLite</a:t>
            </a:r>
            <a:r>
              <a:rPr lang="fr-FR" sz="2200" dirty="0">
                <a:solidFill>
                  <a:schemeClr val="tx1"/>
                </a:solidFill>
                <a:latin typeface="Times New Roman" panose="02020603050405020304" pitchFamily="18" charset="0"/>
                <a:cs typeface="Times New Roman" panose="02020603050405020304" pitchFamily="18" charset="0"/>
              </a:rPr>
              <a:t> et </a:t>
            </a:r>
            <a:r>
              <a:rPr lang="fr-FR" sz="2200" b="1" dirty="0">
                <a:solidFill>
                  <a:schemeClr val="tx1"/>
                </a:solidFill>
                <a:latin typeface="Times New Roman" panose="02020603050405020304" pitchFamily="18" charset="0"/>
                <a:cs typeface="Times New Roman" panose="02020603050405020304" pitchFamily="18" charset="0"/>
              </a:rPr>
              <a:t>SQL Server</a:t>
            </a:r>
            <a:r>
              <a:rPr lang="fr-FR" sz="22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Il faut indiquer où se trouve votre base, son nom, le nom de l’utilisateur, le mot de passe dans le fichier de configuration </a:t>
            </a:r>
            <a:r>
              <a:rPr lang="fr-FR" sz="2200" b="1" dirty="0">
                <a:solidFill>
                  <a:schemeClr val="tx1"/>
                </a:solidFill>
                <a:latin typeface="Times New Roman" panose="02020603050405020304" pitchFamily="18" charset="0"/>
                <a:cs typeface="Times New Roman" panose="02020603050405020304" pitchFamily="18" charset="0"/>
              </a:rPr>
              <a:t>.env </a:t>
            </a:r>
            <a:r>
              <a:rPr lang="fr-FR" sz="2200" dirty="0">
                <a:solidFill>
                  <a:schemeClr val="tx1"/>
                </a:solidFill>
                <a:latin typeface="Times New Roman" panose="02020603050405020304" pitchFamily="18" charset="0"/>
                <a:cs typeface="Times New Roman" panose="02020603050405020304" pitchFamily="18" charset="0"/>
              </a:rPr>
              <a:t>:</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Ici nous avons les valeurs par défaut à l’installation de Laravel. Il faudra évidemment modifier ces valeurs selon votre contexte de développement et définir surtout le nom de la base, le nom de l’utilisateur et le mot de passe. Pour une installation de </a:t>
            </a:r>
            <a:r>
              <a:rPr lang="fr-FR" sz="2200" b="1" dirty="0">
                <a:solidFill>
                  <a:schemeClr val="tx1"/>
                </a:solidFill>
                <a:latin typeface="Times New Roman" panose="02020603050405020304" pitchFamily="18" charset="0"/>
                <a:cs typeface="Times New Roman" panose="02020603050405020304" pitchFamily="18" charset="0"/>
              </a:rPr>
              <a:t>MySQL</a:t>
            </a:r>
            <a:r>
              <a:rPr lang="fr-FR" sz="2200" dirty="0">
                <a:solidFill>
                  <a:schemeClr val="tx1"/>
                </a:solidFill>
                <a:latin typeface="Times New Roman" panose="02020603050405020304" pitchFamily="18" charset="0"/>
                <a:cs typeface="Times New Roman" panose="02020603050405020304" pitchFamily="18" charset="0"/>
              </a:rPr>
              <a:t> en local en général l’utilisateur est </a:t>
            </a:r>
            <a:r>
              <a:rPr lang="fr-FR" sz="2200" b="1" dirty="0">
                <a:solidFill>
                  <a:schemeClr val="tx1"/>
                </a:solidFill>
                <a:latin typeface="Times New Roman" panose="02020603050405020304" pitchFamily="18" charset="0"/>
                <a:cs typeface="Times New Roman" panose="02020603050405020304" pitchFamily="18" charset="0"/>
              </a:rPr>
              <a:t>root</a:t>
            </a:r>
            <a:r>
              <a:rPr lang="fr-FR" sz="2200" dirty="0">
                <a:solidFill>
                  <a:schemeClr val="tx1"/>
                </a:solidFill>
                <a:latin typeface="Times New Roman" panose="02020603050405020304" pitchFamily="18" charset="0"/>
                <a:cs typeface="Times New Roman" panose="02020603050405020304" pitchFamily="18" charset="0"/>
              </a:rPr>
              <a:t> et on n’a pas de mot de passe.</a:t>
            </a:r>
          </a:p>
        </p:txBody>
      </p:sp>
      <p:sp>
        <p:nvSpPr>
          <p:cNvPr id="5" name="Rectangle : coins arrondis 4">
            <a:extLst>
              <a:ext uri="{FF2B5EF4-FFF2-40B4-BE49-F238E27FC236}">
                <a16:creationId xmlns:a16="http://schemas.microsoft.com/office/drawing/2014/main" id="{E015D6D3-29F3-4A34-B63D-A8991B99415E}"/>
              </a:ext>
            </a:extLst>
          </p:cNvPr>
          <p:cNvSpPr/>
          <p:nvPr/>
        </p:nvSpPr>
        <p:spPr>
          <a:xfrm>
            <a:off x="971600" y="3717032"/>
            <a:ext cx="7416824" cy="126754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200" dirty="0">
                <a:solidFill>
                  <a:srgbClr val="2B333A"/>
                </a:solidFill>
                <a:latin typeface="inherit"/>
              </a:rPr>
              <a:t>DB_CONNECTION=</a:t>
            </a:r>
            <a:r>
              <a:rPr lang="fr-FR" sz="1200" dirty="0" err="1">
                <a:solidFill>
                  <a:srgbClr val="2B333A"/>
                </a:solidFill>
                <a:latin typeface="inherit"/>
              </a:rPr>
              <a:t>mysql</a:t>
            </a:r>
            <a:r>
              <a:rPr lang="fr-FR" sz="1200" dirty="0">
                <a:solidFill>
                  <a:srgbClr val="2B333A"/>
                </a:solidFill>
                <a:latin typeface="inherit"/>
              </a:rPr>
              <a:t> </a:t>
            </a:r>
            <a:endParaRPr lang="fr-FR" sz="1200" dirty="0">
              <a:solidFill>
                <a:srgbClr val="9C9EA0"/>
              </a:solidFill>
              <a:latin typeface="Source Code Pro"/>
            </a:endParaRPr>
          </a:p>
          <a:p>
            <a:r>
              <a:rPr lang="fr-FR" sz="1200" dirty="0">
                <a:solidFill>
                  <a:srgbClr val="2B333A"/>
                </a:solidFill>
                <a:latin typeface="inherit"/>
              </a:rPr>
              <a:t>DB_HOST=</a:t>
            </a:r>
            <a:r>
              <a:rPr lang="fr-FR" sz="1200" dirty="0">
                <a:solidFill>
                  <a:srgbClr val="9B0D5C"/>
                </a:solidFill>
                <a:latin typeface="inherit"/>
              </a:rPr>
              <a:t>127.0</a:t>
            </a:r>
            <a:r>
              <a:rPr lang="fr-FR" sz="1200" dirty="0">
                <a:solidFill>
                  <a:srgbClr val="2B333A"/>
                </a:solidFill>
                <a:latin typeface="inherit"/>
              </a:rPr>
              <a:t>.</a:t>
            </a:r>
            <a:r>
              <a:rPr lang="fr-FR" sz="1200" dirty="0">
                <a:solidFill>
                  <a:srgbClr val="9B0D5C"/>
                </a:solidFill>
                <a:latin typeface="inherit"/>
              </a:rPr>
              <a:t>0.1</a:t>
            </a:r>
            <a:r>
              <a:rPr lang="fr-FR" sz="1200" dirty="0">
                <a:solidFill>
                  <a:srgbClr val="2B333A"/>
                </a:solidFill>
                <a:latin typeface="inherit"/>
              </a:rPr>
              <a:t> </a:t>
            </a:r>
            <a:endParaRPr lang="fr-FR" sz="1200" dirty="0">
              <a:solidFill>
                <a:srgbClr val="9C9EA0"/>
              </a:solidFill>
              <a:latin typeface="Source Code Pro"/>
            </a:endParaRPr>
          </a:p>
          <a:p>
            <a:r>
              <a:rPr lang="fr-FR" sz="1200" dirty="0">
                <a:solidFill>
                  <a:srgbClr val="2B333A"/>
                </a:solidFill>
                <a:latin typeface="inherit"/>
              </a:rPr>
              <a:t>DB_PORT=</a:t>
            </a:r>
            <a:r>
              <a:rPr lang="fr-FR" sz="1200" dirty="0">
                <a:solidFill>
                  <a:srgbClr val="9B0D5C"/>
                </a:solidFill>
                <a:latin typeface="inherit"/>
              </a:rPr>
              <a:t>3306</a:t>
            </a:r>
            <a:r>
              <a:rPr lang="fr-FR" sz="1200" dirty="0">
                <a:solidFill>
                  <a:srgbClr val="2B333A"/>
                </a:solidFill>
                <a:latin typeface="inherit"/>
              </a:rPr>
              <a:t> </a:t>
            </a:r>
            <a:endParaRPr lang="fr-FR" sz="1200" dirty="0">
              <a:solidFill>
                <a:srgbClr val="9C9EA0"/>
              </a:solidFill>
              <a:latin typeface="Source Code Pro"/>
            </a:endParaRPr>
          </a:p>
          <a:p>
            <a:r>
              <a:rPr lang="fr-FR" sz="1200" dirty="0">
                <a:solidFill>
                  <a:srgbClr val="2B333A"/>
                </a:solidFill>
                <a:latin typeface="inherit"/>
              </a:rPr>
              <a:t>DB_DATABASE=laravel </a:t>
            </a:r>
            <a:endParaRPr lang="fr-FR" sz="1200" dirty="0">
              <a:solidFill>
                <a:srgbClr val="9C9EA0"/>
              </a:solidFill>
              <a:latin typeface="Source Code Pro"/>
            </a:endParaRPr>
          </a:p>
          <a:p>
            <a:r>
              <a:rPr lang="fr-FR" sz="1200" dirty="0">
                <a:solidFill>
                  <a:srgbClr val="2B333A"/>
                </a:solidFill>
                <a:latin typeface="inherit"/>
              </a:rPr>
              <a:t>DB_USERNAME=root </a:t>
            </a:r>
            <a:endParaRPr lang="fr-FR" sz="1200" dirty="0">
              <a:solidFill>
                <a:srgbClr val="9C9EA0"/>
              </a:solidFill>
              <a:latin typeface="Source Code Pro"/>
            </a:endParaRPr>
          </a:p>
          <a:p>
            <a:r>
              <a:rPr lang="fr-FR" sz="1200" dirty="0">
                <a:solidFill>
                  <a:srgbClr val="2B333A"/>
                </a:solidFill>
                <a:latin typeface="inherit"/>
              </a:rPr>
              <a:t>DB_PASSWORD=</a:t>
            </a:r>
            <a:endParaRPr lang="fr-FR" sz="1200" dirty="0">
              <a:solidFill>
                <a:srgbClr val="9C9EA0"/>
              </a:solidFill>
              <a:latin typeface="Source Code Pro"/>
            </a:endParaRPr>
          </a:p>
        </p:txBody>
      </p:sp>
    </p:spTree>
    <p:extLst>
      <p:ext uri="{BB962C8B-B14F-4D97-AF65-F5344CB8AC3E}">
        <p14:creationId xmlns:p14="http://schemas.microsoft.com/office/powerpoint/2010/main" val="3478297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200" dirty="0">
                <a:solidFill>
                  <a:srgbClr val="C00000"/>
                </a:solidFill>
                <a:latin typeface="Times New Roman" panose="02020603050405020304" pitchFamily="18" charset="0"/>
                <a:cs typeface="Times New Roman" panose="02020603050405020304" pitchFamily="18" charset="0"/>
              </a:rPr>
              <a:t>Installation</a:t>
            </a: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Si vous regardez dans le dossier database/migrations il y a déjà 4 migrations présentes :</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200" b="1" dirty="0">
                <a:solidFill>
                  <a:schemeClr val="tx1"/>
                </a:solidFill>
                <a:latin typeface="Times New Roman" panose="02020603050405020304" pitchFamily="18" charset="0"/>
                <a:cs typeface="Times New Roman" panose="02020603050405020304" pitchFamily="18" charset="0"/>
              </a:rPr>
              <a:t>table users :</a:t>
            </a:r>
            <a:r>
              <a:rPr lang="fr-FR" sz="2200" dirty="0">
                <a:solidFill>
                  <a:schemeClr val="tx1"/>
                </a:solidFill>
                <a:latin typeface="Times New Roman" panose="02020603050405020304" pitchFamily="18" charset="0"/>
                <a:cs typeface="Times New Roman" panose="02020603050405020304" pitchFamily="18" charset="0"/>
              </a:rPr>
              <a:t> c’est une migration de base pour créer une table des utilisateurs,</a:t>
            </a:r>
          </a:p>
          <a:p>
            <a:pPr marL="400050" lvl="1" indent="0">
              <a:buNone/>
            </a:pPr>
            <a:r>
              <a:rPr lang="fr-FR" sz="2200" b="1" dirty="0">
                <a:solidFill>
                  <a:schemeClr val="tx1"/>
                </a:solidFill>
                <a:latin typeface="Times New Roman" panose="02020603050405020304" pitchFamily="18" charset="0"/>
                <a:cs typeface="Times New Roman" panose="02020603050405020304" pitchFamily="18" charset="0"/>
              </a:rPr>
              <a:t>table password_resets : </a:t>
            </a:r>
            <a:r>
              <a:rPr lang="fr-FR" sz="2200" dirty="0">
                <a:solidFill>
                  <a:schemeClr val="tx1"/>
                </a:solidFill>
                <a:latin typeface="Times New Roman" panose="02020603050405020304" pitchFamily="18" charset="0"/>
                <a:cs typeface="Times New Roman" panose="02020603050405020304" pitchFamily="18" charset="0"/>
              </a:rPr>
              <a:t>c’est une migration liée à la précédente qui permet de gérer le renouvellement des mots de passe en toute sécurité, </a:t>
            </a:r>
            <a:r>
              <a:rPr lang="fr-FR" sz="2200" b="1" dirty="0">
                <a:solidFill>
                  <a:schemeClr val="tx1"/>
                </a:solidFill>
                <a:latin typeface="Times New Roman" panose="02020603050405020304" pitchFamily="18" charset="0"/>
                <a:cs typeface="Times New Roman" panose="02020603050405020304" pitchFamily="18" charset="0"/>
              </a:rPr>
              <a:t>table </a:t>
            </a:r>
            <a:r>
              <a:rPr lang="fr-FR" sz="2200" b="1" dirty="0" err="1">
                <a:solidFill>
                  <a:schemeClr val="tx1"/>
                </a:solidFill>
                <a:latin typeface="Times New Roman" panose="02020603050405020304" pitchFamily="18" charset="0"/>
                <a:cs typeface="Times New Roman" panose="02020603050405020304" pitchFamily="18" charset="0"/>
              </a:rPr>
              <a:t>failed_jobs</a:t>
            </a:r>
            <a:r>
              <a:rPr lang="fr-FR" sz="2200" b="1" dirty="0">
                <a:solidFill>
                  <a:schemeClr val="tx1"/>
                </a:solidFill>
                <a:latin typeface="Times New Roman" panose="02020603050405020304" pitchFamily="18" charset="0"/>
                <a:cs typeface="Times New Roman" panose="02020603050405020304" pitchFamily="18" charset="0"/>
              </a:rPr>
              <a:t> : </a:t>
            </a:r>
            <a:r>
              <a:rPr lang="fr-FR" sz="2200" dirty="0">
                <a:solidFill>
                  <a:schemeClr val="tx1"/>
                </a:solidFill>
                <a:latin typeface="Times New Roman" panose="02020603050405020304" pitchFamily="18" charset="0"/>
                <a:cs typeface="Times New Roman" panose="02020603050405020304" pitchFamily="18" charset="0"/>
              </a:rPr>
              <a:t>une migration qui concerne les queues,</a:t>
            </a:r>
          </a:p>
          <a:p>
            <a:pPr marL="400050" lvl="1" indent="0">
              <a:buNone/>
            </a:pPr>
            <a:r>
              <a:rPr lang="fr-FR" sz="2200" b="1" dirty="0">
                <a:solidFill>
                  <a:schemeClr val="tx1"/>
                </a:solidFill>
                <a:latin typeface="Times New Roman" panose="02020603050405020304" pitchFamily="18" charset="0"/>
                <a:cs typeface="Times New Roman" panose="02020603050405020304" pitchFamily="18" charset="0"/>
              </a:rPr>
              <a:t>table </a:t>
            </a:r>
            <a:r>
              <a:rPr lang="fr-FR" sz="2200" b="1" dirty="0" err="1">
                <a:solidFill>
                  <a:schemeClr val="tx1"/>
                </a:solidFill>
                <a:latin typeface="Times New Roman" panose="02020603050405020304" pitchFamily="18" charset="0"/>
                <a:cs typeface="Times New Roman" panose="02020603050405020304" pitchFamily="18" charset="0"/>
              </a:rPr>
              <a:t>personal_access_tokens</a:t>
            </a:r>
            <a:r>
              <a:rPr lang="fr-FR" sz="2200" b="1" dirty="0">
                <a:solidFill>
                  <a:schemeClr val="tx1"/>
                </a:solidFill>
                <a:latin typeface="Times New Roman" panose="02020603050405020304" pitchFamily="18" charset="0"/>
                <a:cs typeface="Times New Roman" panose="02020603050405020304" pitchFamily="18" charset="0"/>
              </a:rPr>
              <a:t> </a:t>
            </a:r>
            <a:r>
              <a:rPr lang="fr-FR" sz="2200" dirty="0">
                <a:solidFill>
                  <a:schemeClr val="tx1"/>
                </a:solidFill>
                <a:latin typeface="Times New Roman" panose="02020603050405020304" pitchFamily="18" charset="0"/>
                <a:cs typeface="Times New Roman" panose="02020603050405020304" pitchFamily="18" charset="0"/>
              </a:rPr>
              <a:t>concerne les api.</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0C2F24A6-2813-4A6D-BB94-7DC896F25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3086160"/>
            <a:ext cx="5156366" cy="1449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4017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70310" y="1268760"/>
            <a:ext cx="8229600" cy="5472608"/>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0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Exécution de migrations</a:t>
            </a:r>
          </a:p>
          <a:p>
            <a:pPr>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lancer les migrations on utilise la commande </a:t>
            </a:r>
            <a:r>
              <a:rPr lang="fr-FR" sz="2000" b="1" dirty="0">
                <a:solidFill>
                  <a:schemeClr val="tx1"/>
                </a:solidFill>
                <a:latin typeface="Times New Roman" panose="02020603050405020304" pitchFamily="18" charset="0"/>
                <a:cs typeface="Times New Roman" panose="02020603050405020304" pitchFamily="18" charset="0"/>
              </a:rPr>
              <a:t>migrate</a:t>
            </a:r>
            <a:r>
              <a:rPr lang="fr-FR" sz="2000" dirty="0">
                <a:solidFill>
                  <a:schemeClr val="tx1"/>
                </a:solidFill>
                <a:latin typeface="Times New Roman" panose="02020603050405020304" pitchFamily="18" charset="0"/>
                <a:cs typeface="Times New Roman" panose="02020603050405020304" pitchFamily="18" charset="0"/>
              </a:rPr>
              <a:t> :</a:t>
            </a: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Annuler la dernière migration, nous avons la commande</a:t>
            </a: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Annuler la migration jusqu’à </a:t>
            </a:r>
            <a:r>
              <a:rPr lang="fr-FR" sz="2000" b="1" dirty="0">
                <a:solidFill>
                  <a:srgbClr val="C00000"/>
                </a:solidFill>
                <a:latin typeface="Times New Roman" panose="02020603050405020304" pitchFamily="18" charset="0"/>
                <a:cs typeface="Times New Roman" panose="02020603050405020304" pitchFamily="18" charset="0"/>
              </a:rPr>
              <a:t>n</a:t>
            </a:r>
            <a:r>
              <a:rPr lang="fr-FR" sz="2000" dirty="0">
                <a:solidFill>
                  <a:schemeClr val="tx1"/>
                </a:solidFill>
                <a:latin typeface="Times New Roman" panose="02020603050405020304" pitchFamily="18" charset="0"/>
                <a:cs typeface="Times New Roman" panose="02020603050405020304" pitchFamily="18" charset="0"/>
              </a:rPr>
              <a:t> étapes en commençant par la plus récente.</a:t>
            </a: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Annuler toutes les opérations on utilise la commande</a:t>
            </a:r>
          </a:p>
          <a:p>
            <a:pPr>
              <a:buFont typeface="Wingdings" panose="05000000000000000000" pitchFamily="2" charset="2"/>
              <a:buChar char="ü"/>
            </a:pPr>
            <a:endParaRPr lang="fr-FR"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Afficher l’état des migrations on utilise la commande</a:t>
            </a:r>
          </a:p>
          <a:p>
            <a:pPr>
              <a:buFont typeface="Wingdings" panose="05000000000000000000" pitchFamily="2" charset="2"/>
              <a:buChar char="ü"/>
            </a:pPr>
            <a:endParaRPr lang="fr-FR" sz="2000" dirty="0">
              <a:solidFill>
                <a:schemeClr val="tx1"/>
              </a:solidFill>
              <a:latin typeface="Times New Roman" panose="02020603050405020304" pitchFamily="18" charset="0"/>
              <a:cs typeface="Times New Roman" panose="02020603050405020304" pitchFamily="18" charset="0"/>
            </a:endParaRP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fr-FR" sz="1800" i="1" dirty="0">
                <a:solidFill>
                  <a:srgbClr val="C00000"/>
                </a:solidFill>
                <a:latin typeface="Times New Roman" panose="02020603050405020304" pitchFamily="18" charset="0"/>
                <a:cs typeface="Times New Roman" panose="02020603050405020304" pitchFamily="18" charset="0"/>
              </a:rPr>
              <a:t>Les méthodes </a:t>
            </a:r>
            <a:r>
              <a:rPr lang="fr-FR" sz="1800" b="1" i="1" dirty="0">
                <a:solidFill>
                  <a:srgbClr val="C00000"/>
                </a:solidFill>
                <a:latin typeface="Times New Roman" panose="02020603050405020304" pitchFamily="18" charset="0"/>
                <a:cs typeface="Times New Roman" panose="02020603050405020304" pitchFamily="18" charset="0"/>
              </a:rPr>
              <a:t>down</a:t>
            </a:r>
            <a:r>
              <a:rPr lang="fr-FR" sz="1800" i="1" dirty="0">
                <a:solidFill>
                  <a:srgbClr val="C00000"/>
                </a:solidFill>
                <a:latin typeface="Times New Roman" panose="02020603050405020304" pitchFamily="18" charset="0"/>
                <a:cs typeface="Times New Roman" panose="02020603050405020304" pitchFamily="18" charset="0"/>
              </a:rPr>
              <a:t> des migrations sont exécutées et les tables sont supprimées</a:t>
            </a:r>
            <a:r>
              <a:rPr lang="fr-FR" sz="1800" i="1" dirty="0">
                <a:solidFill>
                  <a:schemeClr val="tx1"/>
                </a:solidFill>
                <a:latin typeface="Times New Roman" panose="02020603050405020304" pitchFamily="18" charset="0"/>
                <a:cs typeface="Times New Roman" panose="02020603050405020304" pitchFamily="18" charset="0"/>
              </a:rPr>
              <a:t>.</a:t>
            </a: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0" indent="0">
              <a:buNone/>
            </a:pPr>
            <a:endParaRPr lang="fr-FR" sz="18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7A53D717-FCF3-4766-9E10-C78BD25E9987}"/>
              </a:ext>
            </a:extLst>
          </p:cNvPr>
          <p:cNvSpPr/>
          <p:nvPr/>
        </p:nvSpPr>
        <p:spPr>
          <a:xfrm>
            <a:off x="911018" y="2980006"/>
            <a:ext cx="7416824" cy="36241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migrate</a:t>
            </a:r>
          </a:p>
        </p:txBody>
      </p:sp>
      <p:sp>
        <p:nvSpPr>
          <p:cNvPr id="7" name="Rectangle : coins arrondis 6">
            <a:extLst>
              <a:ext uri="{FF2B5EF4-FFF2-40B4-BE49-F238E27FC236}">
                <a16:creationId xmlns:a16="http://schemas.microsoft.com/office/drawing/2014/main" id="{E5437857-E109-463B-8F90-58D5EFB1ED28}"/>
              </a:ext>
            </a:extLst>
          </p:cNvPr>
          <p:cNvSpPr/>
          <p:nvPr/>
        </p:nvSpPr>
        <p:spPr>
          <a:xfrm>
            <a:off x="911018" y="3573053"/>
            <a:ext cx="7416824" cy="36241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a:t>
            </a:r>
            <a:r>
              <a:rPr lang="fr-FR" sz="2000" dirty="0" err="1">
                <a:solidFill>
                  <a:srgbClr val="0070C0"/>
                </a:solidFill>
                <a:latin typeface="Source Code Pro"/>
              </a:rPr>
              <a:t>migrate:rollback</a:t>
            </a:r>
            <a:endParaRPr lang="fr-FR" sz="2000" dirty="0">
              <a:solidFill>
                <a:srgbClr val="0070C0"/>
              </a:solidFill>
              <a:latin typeface="Source Code Pro"/>
            </a:endParaRPr>
          </a:p>
        </p:txBody>
      </p:sp>
      <p:sp>
        <p:nvSpPr>
          <p:cNvPr id="8" name="Rectangle : coins arrondis 7">
            <a:extLst>
              <a:ext uri="{FF2B5EF4-FFF2-40B4-BE49-F238E27FC236}">
                <a16:creationId xmlns:a16="http://schemas.microsoft.com/office/drawing/2014/main" id="{5DABA8F5-E2C7-4E4D-A3D7-83C24E30B9ED}"/>
              </a:ext>
            </a:extLst>
          </p:cNvPr>
          <p:cNvSpPr/>
          <p:nvPr/>
        </p:nvSpPr>
        <p:spPr>
          <a:xfrm>
            <a:off x="911018" y="4264945"/>
            <a:ext cx="7416824" cy="36241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a:t>
            </a:r>
            <a:r>
              <a:rPr lang="fr-FR" sz="2000" dirty="0" err="1">
                <a:solidFill>
                  <a:srgbClr val="0070C0"/>
                </a:solidFill>
                <a:latin typeface="Source Code Pro"/>
              </a:rPr>
              <a:t>migrate:rollback</a:t>
            </a:r>
            <a:r>
              <a:rPr lang="fr-FR" sz="2000" dirty="0">
                <a:solidFill>
                  <a:srgbClr val="0070C0"/>
                </a:solidFill>
                <a:latin typeface="Source Code Pro"/>
              </a:rPr>
              <a:t> --</a:t>
            </a:r>
            <a:r>
              <a:rPr lang="fr-FR" sz="2000" dirty="0" err="1">
                <a:solidFill>
                  <a:srgbClr val="0070C0"/>
                </a:solidFill>
                <a:latin typeface="Source Code Pro"/>
              </a:rPr>
              <a:t>step</a:t>
            </a:r>
            <a:r>
              <a:rPr lang="fr-FR" sz="2000" dirty="0">
                <a:solidFill>
                  <a:srgbClr val="0070C0"/>
                </a:solidFill>
                <a:latin typeface="Source Code Pro"/>
              </a:rPr>
              <a:t>=</a:t>
            </a:r>
            <a:r>
              <a:rPr lang="fr-FR" sz="2000" dirty="0">
                <a:solidFill>
                  <a:srgbClr val="C00000"/>
                </a:solidFill>
                <a:latin typeface="Source Code Pro"/>
              </a:rPr>
              <a:t>n</a:t>
            </a:r>
          </a:p>
        </p:txBody>
      </p:sp>
      <p:sp>
        <p:nvSpPr>
          <p:cNvPr id="10" name="Rectangle : coins arrondis 9">
            <a:extLst>
              <a:ext uri="{FF2B5EF4-FFF2-40B4-BE49-F238E27FC236}">
                <a16:creationId xmlns:a16="http://schemas.microsoft.com/office/drawing/2014/main" id="{1A644D59-374F-4760-B302-1925976B4372}"/>
              </a:ext>
            </a:extLst>
          </p:cNvPr>
          <p:cNvSpPr/>
          <p:nvPr/>
        </p:nvSpPr>
        <p:spPr>
          <a:xfrm>
            <a:off x="928643" y="4961846"/>
            <a:ext cx="7416824" cy="36241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a:t>
            </a:r>
            <a:r>
              <a:rPr lang="fr-FR" sz="2000" dirty="0" err="1">
                <a:solidFill>
                  <a:srgbClr val="0070C0"/>
                </a:solidFill>
                <a:latin typeface="Source Code Pro"/>
              </a:rPr>
              <a:t>migrate:reset</a:t>
            </a:r>
            <a:endParaRPr lang="fr-FR" sz="2000" b="1" dirty="0">
              <a:solidFill>
                <a:srgbClr val="C00000"/>
              </a:solidFill>
              <a:latin typeface="Source Code Pro"/>
            </a:endParaRPr>
          </a:p>
        </p:txBody>
      </p:sp>
      <p:sp>
        <p:nvSpPr>
          <p:cNvPr id="9" name="Rectangle : coins arrondis 8">
            <a:extLst>
              <a:ext uri="{FF2B5EF4-FFF2-40B4-BE49-F238E27FC236}">
                <a16:creationId xmlns:a16="http://schemas.microsoft.com/office/drawing/2014/main" id="{7F58D363-3FA9-4142-96D1-693952A02297}"/>
              </a:ext>
            </a:extLst>
          </p:cNvPr>
          <p:cNvSpPr/>
          <p:nvPr/>
        </p:nvSpPr>
        <p:spPr>
          <a:xfrm>
            <a:off x="911018" y="5653738"/>
            <a:ext cx="7416824" cy="36241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a:t>
            </a:r>
            <a:r>
              <a:rPr lang="fr-FR" sz="2000" dirty="0" err="1">
                <a:solidFill>
                  <a:srgbClr val="0070C0"/>
                </a:solidFill>
                <a:latin typeface="Source Code Pro"/>
              </a:rPr>
              <a:t>migrate:status</a:t>
            </a:r>
            <a:endParaRPr lang="fr-FR" sz="2000" dirty="0">
              <a:solidFill>
                <a:srgbClr val="0070C0"/>
              </a:solidFill>
              <a:latin typeface="Source Code Pro"/>
            </a:endParaRPr>
          </a:p>
        </p:txBody>
      </p:sp>
    </p:spTree>
    <p:extLst>
      <p:ext uri="{BB962C8B-B14F-4D97-AF65-F5344CB8AC3E}">
        <p14:creationId xmlns:p14="http://schemas.microsoft.com/office/powerpoint/2010/main" val="1821792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70310" y="1268760"/>
            <a:ext cx="8229600" cy="5472608"/>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2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2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200" dirty="0">
                <a:solidFill>
                  <a:srgbClr val="C00000"/>
                </a:solidFill>
                <a:latin typeface="Times New Roman" panose="02020603050405020304" pitchFamily="18" charset="0"/>
                <a:cs typeface="Times New Roman" panose="02020603050405020304" pitchFamily="18" charset="0"/>
              </a:rPr>
              <a:t>Exécution de migrations</a:t>
            </a:r>
            <a:endParaRPr lang="fr-FR" sz="22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Annuler toutes vos migrations, puis exécutera la commande migrate. </a:t>
            </a:r>
          </a:p>
          <a:p>
            <a:pPr marL="0" indent="0">
              <a:buNone/>
            </a:pPr>
            <a:r>
              <a:rPr lang="fr-FR" sz="2000" dirty="0">
                <a:solidFill>
                  <a:schemeClr val="tx1"/>
                </a:solidFill>
                <a:latin typeface="Times New Roman" panose="02020603050405020304" pitchFamily="18" charset="0"/>
                <a:cs typeface="Times New Roman" panose="02020603050405020304" pitchFamily="18" charset="0"/>
              </a:rPr>
              <a:t>Cette commande recrée efficacement l'intégralité de votre base de données :</a:t>
            </a: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Annuler et migrer à nouveau un nombre limité de migrations. </a:t>
            </a:r>
          </a:p>
          <a:p>
            <a:pPr>
              <a:buFont typeface="Wingdings" panose="05000000000000000000" pitchFamily="2" charset="2"/>
              <a:buChar char="ü"/>
            </a:pPr>
            <a:endParaRPr lang="fr-FR" sz="2000" dirty="0">
              <a:solidFill>
                <a:schemeClr val="tx1"/>
              </a:solidFill>
              <a:latin typeface="Times New Roman" panose="02020603050405020304" pitchFamily="18" charset="0"/>
              <a:cs typeface="Times New Roman" panose="02020603050405020304" pitchFamily="18" charset="0"/>
            </a:endParaRP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Pour éviter d’avoir à coder la méthode </a:t>
            </a:r>
            <a:r>
              <a:rPr lang="fr-FR" sz="2000" b="1" dirty="0">
                <a:solidFill>
                  <a:schemeClr val="tx1"/>
                </a:solidFill>
                <a:latin typeface="Times New Roman" panose="02020603050405020304" pitchFamily="18" charset="0"/>
                <a:cs typeface="Times New Roman" panose="02020603050405020304" pitchFamily="18" charset="0"/>
              </a:rPr>
              <a:t>down</a:t>
            </a:r>
            <a:r>
              <a:rPr lang="fr-FR" sz="2000" dirty="0">
                <a:solidFill>
                  <a:schemeClr val="tx1"/>
                </a:solidFill>
                <a:latin typeface="Times New Roman" panose="02020603050405020304" pitchFamily="18" charset="0"/>
                <a:cs typeface="Times New Roman" panose="02020603050405020304" pitchFamily="18" charset="0"/>
              </a:rPr>
              <a:t> on a la commande </a:t>
            </a:r>
            <a:r>
              <a:rPr lang="fr-FR" sz="2000" b="1" dirty="0" err="1">
                <a:solidFill>
                  <a:schemeClr val="tx1"/>
                </a:solidFill>
                <a:latin typeface="Times New Roman" panose="02020603050405020304" pitchFamily="18" charset="0"/>
                <a:cs typeface="Times New Roman" panose="02020603050405020304" pitchFamily="18" charset="0"/>
              </a:rPr>
              <a:t>fresh</a:t>
            </a:r>
            <a:r>
              <a:rPr lang="fr-FR" sz="2000" dirty="0">
                <a:solidFill>
                  <a:schemeClr val="tx1"/>
                </a:solidFill>
                <a:latin typeface="Times New Roman" panose="02020603050405020304" pitchFamily="18" charset="0"/>
                <a:cs typeface="Times New Roman" panose="02020603050405020304" pitchFamily="18" charset="0"/>
              </a:rPr>
              <a:t> qui supprime automatiquement les tables concernées :</a:t>
            </a:r>
          </a:p>
          <a:p>
            <a:pPr marL="0" indent="0">
              <a:buNone/>
            </a:pPr>
            <a:r>
              <a:rPr lang="fr-FR" sz="2000" dirty="0">
                <a:solidFill>
                  <a:schemeClr val="tx1"/>
                </a:solidFill>
                <a:latin typeface="Times New Roman" panose="02020603050405020304" pitchFamily="18" charset="0"/>
                <a:cs typeface="Times New Roman" panose="02020603050405020304" pitchFamily="18" charset="0"/>
              </a:rPr>
              <a:t> Supprimera toutes les tables de la base de données, puis exécutera la commande migrate  :</a:t>
            </a: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0"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0" indent="0">
              <a:buNone/>
            </a:pPr>
            <a:r>
              <a:rPr lang="fr-FR" sz="2000" i="1" dirty="0">
                <a:solidFill>
                  <a:srgbClr val="C00000"/>
                </a:solidFill>
                <a:latin typeface="Times New Roman" panose="02020603050405020304" pitchFamily="18" charset="0"/>
                <a:cs typeface="Times New Roman" panose="02020603050405020304" pitchFamily="18" charset="0"/>
              </a:rPr>
              <a:t>NB : </a:t>
            </a:r>
            <a:r>
              <a:rPr lang="fr-FR" sz="2000" i="1" dirty="0" err="1">
                <a:solidFill>
                  <a:srgbClr val="C00000"/>
                </a:solidFill>
                <a:latin typeface="Times New Roman" panose="02020603050405020304" pitchFamily="18" charset="0"/>
                <a:cs typeface="Times New Roman" panose="02020603050405020304" pitchFamily="18" charset="0"/>
              </a:rPr>
              <a:t>refresh</a:t>
            </a:r>
            <a:r>
              <a:rPr lang="fr-FR" sz="2000" i="1" dirty="0">
                <a:solidFill>
                  <a:srgbClr val="C00000"/>
                </a:solidFill>
                <a:latin typeface="Times New Roman" panose="02020603050405020304" pitchFamily="18" charset="0"/>
                <a:cs typeface="Times New Roman" panose="02020603050405020304" pitchFamily="18" charset="0"/>
              </a:rPr>
              <a:t>=(rollback all + </a:t>
            </a:r>
            <a:r>
              <a:rPr lang="fr-FR" sz="2000" i="1" dirty="0" err="1">
                <a:solidFill>
                  <a:srgbClr val="C00000"/>
                </a:solidFill>
                <a:latin typeface="Times New Roman" panose="02020603050405020304" pitchFamily="18" charset="0"/>
                <a:cs typeface="Times New Roman" panose="02020603050405020304" pitchFamily="18" charset="0"/>
              </a:rPr>
              <a:t>migrate</a:t>
            </a:r>
            <a:r>
              <a:rPr lang="fr-FR" sz="2000" i="1">
                <a:solidFill>
                  <a:srgbClr val="C00000"/>
                </a:solidFill>
                <a:latin typeface="Times New Roman" panose="02020603050405020304" pitchFamily="18" charset="0"/>
                <a:cs typeface="Times New Roman" panose="02020603050405020304" pitchFamily="18" charset="0"/>
              </a:rPr>
              <a:t>)  </a:t>
            </a:r>
            <a:r>
              <a:rPr lang="fr-FR" sz="2000" i="1" dirty="0">
                <a:solidFill>
                  <a:srgbClr val="C00000"/>
                </a:solidFill>
                <a:latin typeface="Times New Roman" panose="02020603050405020304" pitchFamily="18" charset="0"/>
                <a:cs typeface="Times New Roman" panose="02020603050405020304" pitchFamily="18" charset="0"/>
              </a:rPr>
              <a:t>	</a:t>
            </a:r>
            <a:r>
              <a:rPr lang="fr-FR" sz="2000" i="1" dirty="0" err="1">
                <a:solidFill>
                  <a:srgbClr val="C00000"/>
                </a:solidFill>
                <a:latin typeface="Times New Roman" panose="02020603050405020304" pitchFamily="18" charset="0"/>
                <a:cs typeface="Times New Roman" panose="02020603050405020304" pitchFamily="18" charset="0"/>
              </a:rPr>
              <a:t>fresh</a:t>
            </a:r>
            <a:r>
              <a:rPr lang="fr-FR" sz="2000" i="1" dirty="0">
                <a:solidFill>
                  <a:srgbClr val="C00000"/>
                </a:solidFill>
                <a:latin typeface="Times New Roman" panose="02020603050405020304" pitchFamily="18" charset="0"/>
                <a:cs typeface="Times New Roman" panose="02020603050405020304" pitchFamily="18" charset="0"/>
              </a:rPr>
              <a:t>=(drop all + </a:t>
            </a:r>
            <a:r>
              <a:rPr lang="fr-FR" sz="2000" i="1" dirty="0" err="1">
                <a:solidFill>
                  <a:srgbClr val="C00000"/>
                </a:solidFill>
                <a:latin typeface="Times New Roman" panose="02020603050405020304" pitchFamily="18" charset="0"/>
                <a:cs typeface="Times New Roman" panose="02020603050405020304" pitchFamily="18" charset="0"/>
              </a:rPr>
              <a:t>migrate</a:t>
            </a:r>
            <a:r>
              <a:rPr lang="fr-FR" sz="2000" i="1" dirty="0">
                <a:solidFill>
                  <a:srgbClr val="C00000"/>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endParaRPr lang="fr-FR" sz="1800" dirty="0">
              <a:solidFill>
                <a:schemeClr val="tx1"/>
              </a:solidFill>
              <a:latin typeface="Times New Roman" panose="02020603050405020304" pitchFamily="18" charset="0"/>
              <a:cs typeface="Times New Roman" panose="02020603050405020304" pitchFamily="18" charset="0"/>
            </a:endParaRPr>
          </a:p>
        </p:txBody>
      </p:sp>
      <p:sp>
        <p:nvSpPr>
          <p:cNvPr id="10" name="Rectangle : coins arrondis 9">
            <a:extLst>
              <a:ext uri="{FF2B5EF4-FFF2-40B4-BE49-F238E27FC236}">
                <a16:creationId xmlns:a16="http://schemas.microsoft.com/office/drawing/2014/main" id="{1A644D59-374F-4760-B302-1925976B4372}"/>
              </a:ext>
            </a:extLst>
          </p:cNvPr>
          <p:cNvSpPr/>
          <p:nvPr/>
        </p:nvSpPr>
        <p:spPr>
          <a:xfrm>
            <a:off x="876698" y="3104963"/>
            <a:ext cx="7416824" cy="381743"/>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a:t>
            </a:r>
            <a:r>
              <a:rPr lang="fr-FR" sz="2000" dirty="0" err="1">
                <a:solidFill>
                  <a:srgbClr val="0070C0"/>
                </a:solidFill>
                <a:latin typeface="Source Code Pro"/>
              </a:rPr>
              <a:t>migrate:refresh</a:t>
            </a:r>
            <a:endParaRPr lang="fr-FR" sz="2000" b="1" dirty="0">
              <a:solidFill>
                <a:srgbClr val="C00000"/>
              </a:solidFill>
              <a:latin typeface="Source Code Pro"/>
            </a:endParaRPr>
          </a:p>
        </p:txBody>
      </p:sp>
      <p:sp>
        <p:nvSpPr>
          <p:cNvPr id="11" name="Rectangle : coins arrondis 10">
            <a:extLst>
              <a:ext uri="{FF2B5EF4-FFF2-40B4-BE49-F238E27FC236}">
                <a16:creationId xmlns:a16="http://schemas.microsoft.com/office/drawing/2014/main" id="{BBDE71AB-299A-4AA8-9332-A9BDD8B7CA26}"/>
              </a:ext>
            </a:extLst>
          </p:cNvPr>
          <p:cNvSpPr/>
          <p:nvPr/>
        </p:nvSpPr>
        <p:spPr>
          <a:xfrm>
            <a:off x="880255" y="5601954"/>
            <a:ext cx="7416824" cy="41933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a:t>
            </a:r>
            <a:r>
              <a:rPr lang="fr-FR" sz="2000" dirty="0" err="1">
                <a:solidFill>
                  <a:srgbClr val="0070C0"/>
                </a:solidFill>
                <a:latin typeface="Source Code Pro"/>
              </a:rPr>
              <a:t>migrate:fresh</a:t>
            </a:r>
            <a:endParaRPr lang="fr-FR" sz="2000" b="1" dirty="0">
              <a:solidFill>
                <a:srgbClr val="C00000"/>
              </a:solidFill>
              <a:latin typeface="Source Code Pro"/>
            </a:endParaRPr>
          </a:p>
        </p:txBody>
      </p:sp>
      <p:sp>
        <p:nvSpPr>
          <p:cNvPr id="7" name="Rectangle : coins arrondis 6">
            <a:extLst>
              <a:ext uri="{FF2B5EF4-FFF2-40B4-BE49-F238E27FC236}">
                <a16:creationId xmlns:a16="http://schemas.microsoft.com/office/drawing/2014/main" id="{7FC16263-DC2D-4CFA-8B79-18541869E2A3}"/>
              </a:ext>
            </a:extLst>
          </p:cNvPr>
          <p:cNvSpPr/>
          <p:nvPr/>
        </p:nvSpPr>
        <p:spPr>
          <a:xfrm>
            <a:off x="863588" y="3983360"/>
            <a:ext cx="7416824" cy="38174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a:t>
            </a:r>
            <a:r>
              <a:rPr lang="fr-FR" sz="2000" dirty="0" err="1">
                <a:solidFill>
                  <a:srgbClr val="0070C0"/>
                </a:solidFill>
                <a:latin typeface="Source Code Pro"/>
              </a:rPr>
              <a:t>migrate:refresh</a:t>
            </a:r>
            <a:r>
              <a:rPr lang="fr-FR" sz="2000" dirty="0">
                <a:solidFill>
                  <a:srgbClr val="0070C0"/>
                </a:solidFill>
                <a:latin typeface="Source Code Pro"/>
              </a:rPr>
              <a:t> –</a:t>
            </a:r>
            <a:r>
              <a:rPr lang="fr-FR" sz="2000" dirty="0" err="1">
                <a:solidFill>
                  <a:srgbClr val="0070C0"/>
                </a:solidFill>
                <a:latin typeface="Source Code Pro"/>
              </a:rPr>
              <a:t>step</a:t>
            </a:r>
            <a:r>
              <a:rPr lang="fr-FR" sz="2000" dirty="0">
                <a:solidFill>
                  <a:srgbClr val="0070C0"/>
                </a:solidFill>
                <a:latin typeface="Source Code Pro"/>
              </a:rPr>
              <a:t>=n</a:t>
            </a:r>
            <a:endParaRPr lang="fr-FR" sz="2000" b="1" dirty="0">
              <a:solidFill>
                <a:srgbClr val="C00000"/>
              </a:solidFill>
              <a:latin typeface="Source Code Pro"/>
            </a:endParaRPr>
          </a:p>
        </p:txBody>
      </p:sp>
    </p:spTree>
    <p:extLst>
      <p:ext uri="{BB962C8B-B14F-4D97-AF65-F5344CB8AC3E}">
        <p14:creationId xmlns:p14="http://schemas.microsoft.com/office/powerpoint/2010/main" val="4100271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200" dirty="0">
                <a:solidFill>
                  <a:srgbClr val="C00000"/>
                </a:solidFill>
                <a:latin typeface="Times New Roman" panose="02020603050405020304" pitchFamily="18" charset="0"/>
                <a:cs typeface="Times New Roman" panose="02020603050405020304" pitchFamily="18" charset="0"/>
              </a:rPr>
              <a:t>Créer une migration</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Pour générer une migration, vous devez exécuter une commande</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Cela générera un fichier dans le dossier </a:t>
            </a:r>
            <a:r>
              <a:rPr lang="fr-FR" sz="2000" b="1" dirty="0">
                <a:solidFill>
                  <a:schemeClr val="tx1"/>
                </a:solidFill>
                <a:latin typeface="Times New Roman" panose="02020603050405020304" pitchFamily="18" charset="0"/>
                <a:cs typeface="Times New Roman" panose="02020603050405020304" pitchFamily="18" charset="0"/>
              </a:rPr>
              <a:t>database\migrations</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Le fichier consiste en une nouvelle classe étendant la classe de migration de LARAVEL.</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On dispose dans cette classe de deux fonctions :</a:t>
            </a:r>
          </a:p>
          <a:p>
            <a:pPr marL="400050" lvl="1" indent="0">
              <a:buNone/>
            </a:pPr>
            <a:r>
              <a:rPr lang="fr-FR" sz="2000" b="1" dirty="0">
                <a:solidFill>
                  <a:schemeClr val="tx1"/>
                </a:solidFill>
                <a:latin typeface="Times New Roman" panose="02020603050405020304" pitchFamily="18" charset="0"/>
                <a:cs typeface="Times New Roman" panose="02020603050405020304" pitchFamily="18" charset="0"/>
              </a:rPr>
              <a:t>up</a:t>
            </a:r>
            <a:r>
              <a:rPr lang="fr-FR" sz="2000" dirty="0">
                <a:solidFill>
                  <a:schemeClr val="tx1"/>
                </a:solidFill>
                <a:latin typeface="Times New Roman" panose="02020603050405020304" pitchFamily="18" charset="0"/>
                <a:cs typeface="Times New Roman" panose="02020603050405020304" pitchFamily="18" charset="0"/>
              </a:rPr>
              <a:t> : ici on a le code de création de la table et de ses colonnes</a:t>
            </a:r>
          </a:p>
          <a:p>
            <a:pPr marL="400050" lvl="1" indent="0">
              <a:buNone/>
            </a:pPr>
            <a:r>
              <a:rPr lang="fr-FR" sz="2000" b="1" dirty="0">
                <a:solidFill>
                  <a:schemeClr val="tx1"/>
                </a:solidFill>
                <a:latin typeface="Times New Roman" panose="02020603050405020304" pitchFamily="18" charset="0"/>
                <a:cs typeface="Times New Roman" panose="02020603050405020304" pitchFamily="18" charset="0"/>
              </a:rPr>
              <a:t>down </a:t>
            </a:r>
            <a:r>
              <a:rPr lang="fr-FR" sz="2000" dirty="0">
                <a:solidFill>
                  <a:schemeClr val="tx1"/>
                </a:solidFill>
                <a:latin typeface="Times New Roman" panose="02020603050405020304" pitchFamily="18" charset="0"/>
                <a:cs typeface="Times New Roman" panose="02020603050405020304" pitchFamily="18" charset="0"/>
              </a:rPr>
              <a:t>: ici on a le code de suppression de la table</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863588" y="3263926"/>
            <a:ext cx="7416824" cy="59712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dirty="0">
                <a:solidFill>
                  <a:srgbClr val="0070C0"/>
                </a:solidFill>
                <a:latin typeface="Source Code Pro"/>
              </a:rPr>
              <a:t>php artisan make:migration </a:t>
            </a:r>
            <a:r>
              <a:rPr lang="en-US" dirty="0" err="1">
                <a:solidFill>
                  <a:srgbClr val="0070C0"/>
                </a:solidFill>
                <a:latin typeface="Source Code Pro"/>
              </a:rPr>
              <a:t>create_</a:t>
            </a:r>
            <a:r>
              <a:rPr lang="en-US" dirty="0" err="1">
                <a:solidFill>
                  <a:srgbClr val="00B050"/>
                </a:solidFill>
                <a:latin typeface="Source Code Pro"/>
              </a:rPr>
              <a:t>stagiaires</a:t>
            </a:r>
            <a:r>
              <a:rPr lang="en-US" dirty="0" err="1">
                <a:solidFill>
                  <a:srgbClr val="0070C0"/>
                </a:solidFill>
                <a:latin typeface="Source Code Pro"/>
              </a:rPr>
              <a:t>_table</a:t>
            </a:r>
            <a:endParaRPr lang="fr-FR" dirty="0">
              <a:solidFill>
                <a:srgbClr val="0070C0"/>
              </a:solidFill>
              <a:latin typeface="Source Code Pro"/>
            </a:endParaRPr>
          </a:p>
        </p:txBody>
      </p:sp>
    </p:spTree>
    <p:extLst>
      <p:ext uri="{BB962C8B-B14F-4D97-AF65-F5344CB8AC3E}">
        <p14:creationId xmlns:p14="http://schemas.microsoft.com/office/powerpoint/2010/main" val="3015917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Les fonctions (</a:t>
            </a:r>
            <a:r>
              <a:rPr lang="fr-FR" sz="2000" b="1" dirty="0">
                <a:solidFill>
                  <a:srgbClr val="00B050"/>
                </a:solidFill>
                <a:latin typeface="Times New Roman" panose="02020603050405020304" pitchFamily="18" charset="0"/>
                <a:cs typeface="Times New Roman" panose="02020603050405020304" pitchFamily="18" charset="0"/>
              </a:rPr>
              <a:t>up et down</a:t>
            </a:r>
            <a:r>
              <a:rPr lang="fr-FR" sz="2000" dirty="0">
                <a:solidFill>
                  <a:srgbClr val="C00000"/>
                </a:solidFill>
                <a:latin typeface="Times New Roman" panose="02020603050405020304" pitchFamily="18" charset="0"/>
                <a:cs typeface="Times New Roman" panose="02020603050405020304" pitchFamily="18" charset="0"/>
              </a:rPr>
              <a:t>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Cela générera un fichier dans le dossier </a:t>
            </a:r>
            <a:r>
              <a:rPr lang="fr-FR" sz="2000" b="1" dirty="0">
                <a:solidFill>
                  <a:schemeClr val="tx1"/>
                </a:solidFill>
                <a:latin typeface="Times New Roman" panose="02020603050405020304" pitchFamily="18" charset="0"/>
                <a:cs typeface="Times New Roman" panose="02020603050405020304" pitchFamily="18" charset="0"/>
              </a:rPr>
              <a:t>database\migrations</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611560" y="2852936"/>
            <a:ext cx="7920880" cy="252028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up</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err="1">
                <a:solidFill>
                  <a:srgbClr val="AA3731"/>
                </a:solidFill>
                <a:latin typeface="Consolas" panose="020B0609020204030204" pitchFamily="49" charset="0"/>
              </a:rPr>
              <a:t>create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Blueprint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id</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a:t>
            </a:r>
            <a:r>
              <a:rPr lang="en-US" sz="1600" dirty="0">
                <a:solidFill>
                  <a:srgbClr val="7A3E9D"/>
                </a:solidFill>
                <a:latin typeface="Consolas" panose="020B0609020204030204" pitchFamily="49" charset="0"/>
              </a:rPr>
              <a:t>table</a:t>
            </a:r>
            <a:r>
              <a:rPr lang="en-US" sz="1600" dirty="0">
                <a:solidFill>
                  <a:srgbClr val="777777"/>
                </a:solidFill>
                <a:latin typeface="Consolas" panose="020B0609020204030204" pitchFamily="49" charset="0"/>
              </a:rPr>
              <a:t>-&gt;</a:t>
            </a:r>
            <a:r>
              <a:rPr lang="en-US" sz="1600" b="1" dirty="0">
                <a:solidFill>
                  <a:srgbClr val="AA3731"/>
                </a:solidFill>
                <a:latin typeface="Consolas" panose="020B0609020204030204" pitchFamily="49" charset="0"/>
              </a:rPr>
              <a:t>string</a:t>
            </a:r>
            <a:r>
              <a:rPr lang="en-US" sz="1600" dirty="0">
                <a:solidFill>
                  <a:srgbClr val="777777"/>
                </a:solidFill>
                <a:latin typeface="Consolas" panose="020B0609020204030204" pitchFamily="49" charset="0"/>
              </a:rPr>
              <a:t>(‘</a:t>
            </a:r>
            <a:r>
              <a:rPr lang="en-US" sz="1600" dirty="0">
                <a:solidFill>
                  <a:srgbClr val="448C27"/>
                </a:solidFill>
                <a:latin typeface="Consolas" panose="020B0609020204030204" pitchFamily="49" charset="0"/>
              </a:rPr>
              <a:t>nom</a:t>
            </a:r>
            <a:r>
              <a:rPr lang="en-US"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string</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prenom</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9C5D27"/>
                </a:solidFill>
                <a:latin typeface="Consolas" panose="020B0609020204030204" pitchFamily="49" charset="0"/>
              </a:rPr>
              <a:t>50</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777777"/>
                </a:solidFill>
                <a:latin typeface="Consolas" panose="020B0609020204030204" pitchFamily="49" charset="0"/>
              </a:rPr>
              <a:t>           </a:t>
            </a:r>
            <a:r>
              <a:rPr lang="fr-FR" sz="1600" i="1" dirty="0">
                <a:solidFill>
                  <a:srgbClr val="AAAAAA"/>
                </a:solidFill>
                <a:latin typeface="Consolas" panose="020B0609020204030204" pitchFamily="49" charset="0"/>
              </a:rPr>
              <a:t> //$table-&gt;</a:t>
            </a:r>
            <a:r>
              <a:rPr lang="fr-FR" sz="1600" i="1" dirty="0" err="1">
                <a:solidFill>
                  <a:srgbClr val="AAAAAA"/>
                </a:solidFill>
                <a:latin typeface="Consolas" panose="020B0609020204030204" pitchFamily="49" charset="0"/>
              </a:rPr>
              <a:t>boolean</a:t>
            </a:r>
            <a:r>
              <a:rPr lang="fr-FR" sz="1600" i="1" dirty="0">
                <a:solidFill>
                  <a:srgbClr val="AAAAAA"/>
                </a:solidFill>
                <a:latin typeface="Consolas" panose="020B0609020204030204" pitchFamily="49" charset="0"/>
              </a:rPr>
              <a:t>('</a:t>
            </a:r>
            <a:r>
              <a:rPr lang="fr-FR" sz="1600" i="1" dirty="0" err="1">
                <a:solidFill>
                  <a:srgbClr val="AAAAAA"/>
                </a:solidFill>
                <a:latin typeface="Consolas" panose="020B0609020204030204" pitchFamily="49" charset="0"/>
              </a:rPr>
              <a:t>etat</a:t>
            </a:r>
            <a:r>
              <a:rPr lang="fr-FR" sz="1600" i="1" dirty="0">
                <a:solidFill>
                  <a:srgbClr val="AAAAAA"/>
                </a:solidFill>
                <a:latin typeface="Consolas" panose="020B0609020204030204" pitchFamily="49" charset="0"/>
              </a:rPr>
              <a:t>')-&gt;default(0);</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timestamps</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
        <p:nvSpPr>
          <p:cNvPr id="7" name="Rectangle : coins arrondis 6">
            <a:extLst>
              <a:ext uri="{FF2B5EF4-FFF2-40B4-BE49-F238E27FC236}">
                <a16:creationId xmlns:a16="http://schemas.microsoft.com/office/drawing/2014/main" id="{59C58AED-0D06-4718-9F07-B41C0263579C}"/>
              </a:ext>
            </a:extLst>
          </p:cNvPr>
          <p:cNvSpPr/>
          <p:nvPr/>
        </p:nvSpPr>
        <p:spPr>
          <a:xfrm>
            <a:off x="611560" y="5598622"/>
            <a:ext cx="7920880" cy="102733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600" dirty="0">
                <a:solidFill>
                  <a:srgbClr val="4B69C6"/>
                </a:solidFill>
                <a:latin typeface="Consolas" panose="020B0609020204030204" pitchFamily="49" charset="0"/>
              </a:rPr>
              <a:t>public</a:t>
            </a:r>
            <a:r>
              <a:rPr lang="en-US" sz="1600" dirty="0">
                <a:solidFill>
                  <a:srgbClr val="333333"/>
                </a:solidFill>
                <a:latin typeface="Consolas" panose="020B0609020204030204" pitchFamily="49" charset="0"/>
              </a:rPr>
              <a:t> </a:t>
            </a:r>
            <a:r>
              <a:rPr lang="en-US" sz="1600" dirty="0">
                <a:solidFill>
                  <a:srgbClr val="7A3E9D"/>
                </a:solidFill>
                <a:latin typeface="Consolas" panose="020B0609020204030204" pitchFamily="49" charset="0"/>
              </a:rPr>
              <a:t>function</a:t>
            </a:r>
            <a:r>
              <a:rPr lang="en-US" sz="1600" dirty="0">
                <a:solidFill>
                  <a:srgbClr val="333333"/>
                </a:solidFill>
                <a:latin typeface="Consolas" panose="020B0609020204030204" pitchFamily="49" charset="0"/>
              </a:rPr>
              <a:t> </a:t>
            </a:r>
            <a:r>
              <a:rPr lang="en-US" sz="1600" b="1" dirty="0">
                <a:solidFill>
                  <a:srgbClr val="AA3731"/>
                </a:solidFill>
                <a:latin typeface="Consolas" panose="020B0609020204030204" pitchFamily="49" charset="0"/>
              </a:rPr>
              <a:t>down</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b="1" dirty="0">
                <a:solidFill>
                  <a:srgbClr val="7A3E9D"/>
                </a:solidFill>
                <a:latin typeface="Consolas" panose="020B0609020204030204" pitchFamily="49" charset="0"/>
              </a:rPr>
              <a:t>Schema</a:t>
            </a:r>
            <a:r>
              <a:rPr lang="en-US" sz="1600" dirty="0">
                <a:solidFill>
                  <a:srgbClr val="777777"/>
                </a:solidFill>
                <a:latin typeface="Consolas" panose="020B0609020204030204" pitchFamily="49" charset="0"/>
              </a:rPr>
              <a:t>::</a:t>
            </a:r>
            <a:r>
              <a:rPr lang="en-US" sz="1600" b="1" dirty="0" err="1">
                <a:solidFill>
                  <a:srgbClr val="AA3731"/>
                </a:solidFill>
                <a:latin typeface="Consolas" panose="020B0609020204030204" pitchFamily="49" charset="0"/>
              </a:rPr>
              <a:t>dropIfExists</a:t>
            </a:r>
            <a:r>
              <a:rPr lang="en-US" sz="1600" dirty="0">
                <a:solidFill>
                  <a:srgbClr val="777777"/>
                </a:solidFill>
                <a:latin typeface="Consolas" panose="020B0609020204030204" pitchFamily="49" charset="0"/>
              </a:rPr>
              <a:t>(‘</a:t>
            </a:r>
            <a:r>
              <a:rPr lang="en-US" sz="1600" dirty="0">
                <a:solidFill>
                  <a:srgbClr val="448C27"/>
                </a:solidFill>
                <a:latin typeface="Consolas" panose="020B0609020204030204" pitchFamily="49" charset="0"/>
              </a:rPr>
              <a:t>stagiaires</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326908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Ajouter une colonne à une table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677151" y="2802291"/>
            <a:ext cx="7848872" cy="4263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dirty="0">
                <a:solidFill>
                  <a:srgbClr val="0070C0"/>
                </a:solidFill>
                <a:latin typeface="Source Code Pro"/>
              </a:rPr>
              <a:t>php artisan make:migration </a:t>
            </a:r>
            <a:r>
              <a:rPr lang="en-US" dirty="0" err="1">
                <a:solidFill>
                  <a:srgbClr val="0070C0"/>
                </a:solidFill>
                <a:latin typeface="Source Code Pro"/>
              </a:rPr>
              <a:t>add_</a:t>
            </a:r>
            <a:r>
              <a:rPr lang="en-US" dirty="0" err="1">
                <a:solidFill>
                  <a:srgbClr val="00B050"/>
                </a:solidFill>
                <a:latin typeface="Source Code Pro"/>
              </a:rPr>
              <a:t>age</a:t>
            </a:r>
            <a:r>
              <a:rPr lang="en-US" dirty="0" err="1">
                <a:solidFill>
                  <a:srgbClr val="0070C0"/>
                </a:solidFill>
                <a:latin typeface="Source Code Pro"/>
              </a:rPr>
              <a:t>_to_</a:t>
            </a:r>
            <a:r>
              <a:rPr lang="en-US" dirty="0" err="1">
                <a:solidFill>
                  <a:srgbClr val="00B050"/>
                </a:solidFill>
                <a:latin typeface="Source Code Pro"/>
              </a:rPr>
              <a:t>stagiaires</a:t>
            </a:r>
            <a:endParaRPr lang="fr-FR" dirty="0">
              <a:solidFill>
                <a:srgbClr val="0070C0"/>
              </a:solidFill>
              <a:latin typeface="Source Code Pro"/>
            </a:endParaRPr>
          </a:p>
        </p:txBody>
      </p:sp>
      <p:sp>
        <p:nvSpPr>
          <p:cNvPr id="7" name="Rectangle : coins arrondis 6">
            <a:extLst>
              <a:ext uri="{FF2B5EF4-FFF2-40B4-BE49-F238E27FC236}">
                <a16:creationId xmlns:a16="http://schemas.microsoft.com/office/drawing/2014/main" id="{28C39A6A-842E-4784-BD3A-8144077CE7D9}"/>
              </a:ext>
            </a:extLst>
          </p:cNvPr>
          <p:cNvSpPr/>
          <p:nvPr/>
        </p:nvSpPr>
        <p:spPr>
          <a:xfrm>
            <a:off x="677151" y="3342383"/>
            <a:ext cx="7848872" cy="167079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up</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a:solidFill>
                  <a:srgbClr val="AA3731"/>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Blueprint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integer</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age</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after</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prenom</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
        <p:nvSpPr>
          <p:cNvPr id="8" name="Rectangle : coins arrondis 7">
            <a:extLst>
              <a:ext uri="{FF2B5EF4-FFF2-40B4-BE49-F238E27FC236}">
                <a16:creationId xmlns:a16="http://schemas.microsoft.com/office/drawing/2014/main" id="{DB07452D-1E36-485E-8156-FCB5C5D0DF16}"/>
              </a:ext>
            </a:extLst>
          </p:cNvPr>
          <p:cNvSpPr/>
          <p:nvPr/>
        </p:nvSpPr>
        <p:spPr>
          <a:xfrm>
            <a:off x="677151" y="5126968"/>
            <a:ext cx="7848872" cy="153767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333333"/>
                </a:solidFill>
                <a:latin typeface="Consolas" panose="020B0609020204030204" pitchFamily="49" charset="0"/>
              </a:rPr>
              <a:t> </a:t>
            </a:r>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down</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a:solidFill>
                  <a:srgbClr val="AA3731"/>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Blueprint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dropColumn</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age</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1507666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Supprimer une colonne à une table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677151" y="2802291"/>
            <a:ext cx="7848872" cy="4263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dirty="0">
                <a:solidFill>
                  <a:srgbClr val="0070C0"/>
                </a:solidFill>
                <a:latin typeface="Source Code Pro"/>
              </a:rPr>
              <a:t>php artisan </a:t>
            </a:r>
            <a:r>
              <a:rPr lang="en-US" dirty="0" err="1">
                <a:solidFill>
                  <a:srgbClr val="0070C0"/>
                </a:solidFill>
                <a:latin typeface="Source Code Pro"/>
              </a:rPr>
              <a:t>make:migration</a:t>
            </a:r>
            <a:r>
              <a:rPr lang="en-US" dirty="0">
                <a:solidFill>
                  <a:srgbClr val="0070C0"/>
                </a:solidFill>
                <a:latin typeface="Source Code Pro"/>
              </a:rPr>
              <a:t> </a:t>
            </a:r>
            <a:r>
              <a:rPr lang="en-US" dirty="0" err="1">
                <a:solidFill>
                  <a:srgbClr val="0070C0"/>
                </a:solidFill>
                <a:latin typeface="Source Code Pro"/>
              </a:rPr>
              <a:t>remove_</a:t>
            </a:r>
            <a:r>
              <a:rPr lang="en-US" dirty="0" err="1">
                <a:solidFill>
                  <a:srgbClr val="00B050"/>
                </a:solidFill>
                <a:latin typeface="Source Code Pro"/>
              </a:rPr>
              <a:t>prenom</a:t>
            </a:r>
            <a:r>
              <a:rPr lang="en-US" dirty="0" err="1">
                <a:solidFill>
                  <a:srgbClr val="0070C0"/>
                </a:solidFill>
                <a:latin typeface="Source Code Pro"/>
              </a:rPr>
              <a:t>_to_</a:t>
            </a:r>
            <a:r>
              <a:rPr lang="en-US" dirty="0" err="1">
                <a:solidFill>
                  <a:srgbClr val="00B050"/>
                </a:solidFill>
                <a:latin typeface="Source Code Pro"/>
              </a:rPr>
              <a:t>stagiaires</a:t>
            </a:r>
            <a:endParaRPr lang="fr-FR" dirty="0">
              <a:solidFill>
                <a:srgbClr val="0070C0"/>
              </a:solidFill>
              <a:latin typeface="Source Code Pro"/>
            </a:endParaRPr>
          </a:p>
        </p:txBody>
      </p:sp>
      <p:sp>
        <p:nvSpPr>
          <p:cNvPr id="7" name="Rectangle : coins arrondis 6">
            <a:extLst>
              <a:ext uri="{FF2B5EF4-FFF2-40B4-BE49-F238E27FC236}">
                <a16:creationId xmlns:a16="http://schemas.microsoft.com/office/drawing/2014/main" id="{28C39A6A-842E-4784-BD3A-8144077CE7D9}"/>
              </a:ext>
            </a:extLst>
          </p:cNvPr>
          <p:cNvSpPr/>
          <p:nvPr/>
        </p:nvSpPr>
        <p:spPr>
          <a:xfrm>
            <a:off x="677151" y="3342383"/>
            <a:ext cx="7848872" cy="167079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up</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a:solidFill>
                  <a:srgbClr val="AA3731"/>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Blueprint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dropColum</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prenom</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
        <p:nvSpPr>
          <p:cNvPr id="8" name="Rectangle : coins arrondis 7">
            <a:extLst>
              <a:ext uri="{FF2B5EF4-FFF2-40B4-BE49-F238E27FC236}">
                <a16:creationId xmlns:a16="http://schemas.microsoft.com/office/drawing/2014/main" id="{DB07452D-1E36-485E-8156-FCB5C5D0DF16}"/>
              </a:ext>
            </a:extLst>
          </p:cNvPr>
          <p:cNvSpPr/>
          <p:nvPr/>
        </p:nvSpPr>
        <p:spPr>
          <a:xfrm>
            <a:off x="677151" y="5126968"/>
            <a:ext cx="7848872" cy="153767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333333"/>
                </a:solidFill>
                <a:latin typeface="Consolas" panose="020B0609020204030204" pitchFamily="49" charset="0"/>
              </a:rPr>
              <a:t> </a:t>
            </a:r>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down</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a:solidFill>
                  <a:srgbClr val="AA3731"/>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Blueprint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string</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prenom</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afler</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‘nom’</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1972738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Créer des clés étrangères à l'aide de migrations</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b="1" dirty="0">
                <a:solidFill>
                  <a:schemeClr val="tx1"/>
                </a:solidFill>
                <a:latin typeface="Times New Roman" panose="02020603050405020304" pitchFamily="18" charset="0"/>
                <a:cs typeface="Times New Roman" panose="02020603050405020304" pitchFamily="18" charset="0"/>
              </a:rPr>
              <a:t>Model logique de Donnée :</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pic>
        <p:nvPicPr>
          <p:cNvPr id="19" name="Image 18">
            <a:extLst>
              <a:ext uri="{FF2B5EF4-FFF2-40B4-BE49-F238E27FC236}">
                <a16:creationId xmlns:a16="http://schemas.microsoft.com/office/drawing/2014/main" id="{026F3A5A-66DD-4017-83F7-80ADA6A95670}"/>
              </a:ext>
            </a:extLst>
          </p:cNvPr>
          <p:cNvPicPr>
            <a:picLocks noChangeAspect="1"/>
          </p:cNvPicPr>
          <p:nvPr/>
        </p:nvPicPr>
        <p:blipFill>
          <a:blip r:embed="rId2"/>
          <a:stretch>
            <a:fillRect/>
          </a:stretch>
        </p:blipFill>
        <p:spPr>
          <a:xfrm>
            <a:off x="791580" y="3356992"/>
            <a:ext cx="7560840" cy="2811688"/>
          </a:xfrm>
          <a:prstGeom prst="rect">
            <a:avLst/>
          </a:prstGeom>
        </p:spPr>
      </p:pic>
    </p:spTree>
    <p:extLst>
      <p:ext uri="{BB962C8B-B14F-4D97-AF65-F5344CB8AC3E}">
        <p14:creationId xmlns:p14="http://schemas.microsoft.com/office/powerpoint/2010/main" val="2107387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Créer des clés étrangères à l'aide de migrations</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b="1" dirty="0">
                <a:solidFill>
                  <a:schemeClr val="tx1"/>
                </a:solidFill>
                <a:latin typeface="Times New Roman" panose="02020603050405020304" pitchFamily="18" charset="0"/>
                <a:cs typeface="Times New Roman" panose="02020603050405020304" pitchFamily="18" charset="0"/>
              </a:rPr>
              <a:t>La table </a:t>
            </a:r>
            <a:r>
              <a:rPr lang="fr-FR" sz="2000" b="1" dirty="0" err="1">
                <a:solidFill>
                  <a:schemeClr val="tx1"/>
                </a:solidFill>
                <a:latin typeface="Times New Roman" panose="02020603050405020304" pitchFamily="18" charset="0"/>
                <a:cs typeface="Times New Roman" panose="02020603050405020304" pitchFamily="18" charset="0"/>
              </a:rPr>
              <a:t>categories</a:t>
            </a:r>
            <a:endParaRPr lang="fr-FR" sz="2000" b="1"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611560" y="3233393"/>
            <a:ext cx="7920880" cy="2859903"/>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up</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err="1">
                <a:solidFill>
                  <a:srgbClr val="AA3731"/>
                </a:solidFill>
                <a:latin typeface="Consolas" panose="020B0609020204030204" pitchFamily="49" charset="0"/>
              </a:rPr>
              <a:t>create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categories</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Blueprint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id</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string</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name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unique</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string</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slug</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unique</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timestamps</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br>
              <a:rPr lang="fr-FR" sz="1600" dirty="0">
                <a:solidFill>
                  <a:srgbClr val="333333"/>
                </a:solidFill>
                <a:latin typeface="Consolas" panose="020B0609020204030204" pitchFamily="49" charset="0"/>
              </a:rPr>
            </a:b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486829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Créer des clés étrangères à l'aide de migrations</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b="1" dirty="0">
                <a:solidFill>
                  <a:schemeClr val="tx1"/>
                </a:solidFill>
                <a:latin typeface="Times New Roman" panose="02020603050405020304" pitchFamily="18" charset="0"/>
                <a:cs typeface="Times New Roman" panose="02020603050405020304" pitchFamily="18" charset="0"/>
              </a:rPr>
              <a:t>La table films ( 1 </a:t>
            </a:r>
            <a:r>
              <a:rPr lang="fr-FR" sz="2000" b="1" baseline="30000" dirty="0">
                <a:solidFill>
                  <a:schemeClr val="tx1"/>
                </a:solidFill>
                <a:latin typeface="Times New Roman" panose="02020603050405020304" pitchFamily="18" charset="0"/>
                <a:cs typeface="Times New Roman" panose="02020603050405020304" pitchFamily="18" charset="0"/>
              </a:rPr>
              <a:t>ère</a:t>
            </a:r>
            <a:r>
              <a:rPr lang="fr-FR" sz="2000" b="1" dirty="0">
                <a:solidFill>
                  <a:schemeClr val="tx1"/>
                </a:solidFill>
                <a:latin typeface="Times New Roman" panose="02020603050405020304" pitchFamily="18" charset="0"/>
                <a:cs typeface="Times New Roman" panose="02020603050405020304" pitchFamily="18" charset="0"/>
              </a:rPr>
              <a:t> façon ) </a:t>
            </a: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7" name="Rectangle : coins arrondis 6">
            <a:extLst>
              <a:ext uri="{FF2B5EF4-FFF2-40B4-BE49-F238E27FC236}">
                <a16:creationId xmlns:a16="http://schemas.microsoft.com/office/drawing/2014/main" id="{77508A5A-C851-4C9A-9432-5E704EC44E4F}"/>
              </a:ext>
            </a:extLst>
          </p:cNvPr>
          <p:cNvSpPr/>
          <p:nvPr/>
        </p:nvSpPr>
        <p:spPr>
          <a:xfrm>
            <a:off x="611560" y="3218518"/>
            <a:ext cx="7920880" cy="33123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up</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b="1"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err="1">
                <a:solidFill>
                  <a:srgbClr val="AA3731"/>
                </a:solidFill>
                <a:latin typeface="Consolas" panose="020B0609020204030204" pitchFamily="49" charset="0"/>
              </a:rPr>
              <a:t>disableForeignKeyConstraints</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b="1" dirty="0">
                <a:solidFill>
                  <a:srgbClr val="7A3E9D"/>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err="1">
                <a:solidFill>
                  <a:srgbClr val="AA3731"/>
                </a:solidFill>
                <a:latin typeface="Consolas" panose="020B0609020204030204" pitchFamily="49" charset="0"/>
              </a:rPr>
              <a:t>create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films'</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Blueprint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id</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en-US" sz="1600" dirty="0">
                <a:solidFill>
                  <a:srgbClr val="777777"/>
                </a:solidFill>
                <a:latin typeface="Consolas" panose="020B0609020204030204" pitchFamily="49" charset="0"/>
              </a:rPr>
              <a:t>         $</a:t>
            </a:r>
            <a:r>
              <a:rPr lang="en-US" sz="1600" dirty="0">
                <a:solidFill>
                  <a:srgbClr val="7A3E9D"/>
                </a:solidFill>
                <a:latin typeface="Consolas" panose="020B0609020204030204" pitchFamily="49" charset="0"/>
              </a:rPr>
              <a:t>table</a:t>
            </a:r>
            <a:r>
              <a:rPr lang="en-US" sz="1600" dirty="0">
                <a:solidFill>
                  <a:srgbClr val="777777"/>
                </a:solidFill>
                <a:latin typeface="Consolas" panose="020B0609020204030204" pitchFamily="49" charset="0"/>
              </a:rPr>
              <a:t>-&gt;</a:t>
            </a:r>
            <a:r>
              <a:rPr lang="en-US" sz="1600" b="1" dirty="0">
                <a:solidFill>
                  <a:srgbClr val="AA3731"/>
                </a:solidFill>
                <a:latin typeface="Consolas" panose="020B0609020204030204" pitchFamily="49" charset="0"/>
              </a:rPr>
              <a:t>foreign</a:t>
            </a:r>
            <a:r>
              <a:rPr lang="en-US" sz="1600" dirty="0">
                <a:solidFill>
                  <a:srgbClr val="777777"/>
                </a:solidFill>
                <a:latin typeface="Consolas" panose="020B0609020204030204" pitchFamily="49" charset="0"/>
              </a:rPr>
              <a:t>('</a:t>
            </a:r>
            <a:r>
              <a:rPr lang="en-US" sz="1600" dirty="0" err="1">
                <a:solidFill>
                  <a:srgbClr val="448C27"/>
                </a:solidFill>
                <a:latin typeface="Consolas" panose="020B0609020204030204" pitchFamily="49" charset="0"/>
              </a:rPr>
              <a:t>category_id</a:t>
            </a:r>
            <a:r>
              <a:rPr lang="en-US" sz="1600" dirty="0">
                <a:solidFill>
                  <a:srgbClr val="777777"/>
                </a:solidFill>
                <a:latin typeface="Consolas" panose="020B0609020204030204" pitchFamily="49" charset="0"/>
              </a:rPr>
              <a:t>')-&gt;</a:t>
            </a:r>
            <a:r>
              <a:rPr lang="en-US" sz="1600" b="1" dirty="0">
                <a:solidFill>
                  <a:srgbClr val="AA3731"/>
                </a:solidFill>
                <a:latin typeface="Consolas" panose="020B0609020204030204" pitchFamily="49" charset="0"/>
              </a:rPr>
              <a:t>references</a:t>
            </a:r>
            <a:r>
              <a:rPr lang="en-US" sz="1600" dirty="0">
                <a:solidFill>
                  <a:srgbClr val="777777"/>
                </a:solidFill>
                <a:latin typeface="Consolas" panose="020B0609020204030204" pitchFamily="49" charset="0"/>
              </a:rPr>
              <a:t>('</a:t>
            </a:r>
            <a:r>
              <a:rPr lang="en-US" sz="1600" dirty="0">
                <a:solidFill>
                  <a:srgbClr val="448C27"/>
                </a:solidFill>
                <a:latin typeface="Consolas" panose="020B0609020204030204" pitchFamily="49" charset="0"/>
              </a:rPr>
              <a:t>id</a:t>
            </a:r>
            <a:r>
              <a:rPr lang="en-US" sz="1600" dirty="0">
                <a:solidFill>
                  <a:srgbClr val="777777"/>
                </a:solidFill>
                <a:latin typeface="Consolas" panose="020B0609020204030204" pitchFamily="49" charset="0"/>
              </a:rPr>
              <a:t>’)</a:t>
            </a:r>
          </a:p>
          <a:p>
            <a:r>
              <a:rPr lang="en-US" sz="1600" dirty="0">
                <a:solidFill>
                  <a:srgbClr val="777777"/>
                </a:solidFill>
                <a:latin typeface="Consolas" panose="020B0609020204030204" pitchFamily="49" charset="0"/>
              </a:rPr>
              <a:t>                                           -&gt;</a:t>
            </a:r>
            <a:r>
              <a:rPr lang="en-US" sz="1600" b="1" dirty="0">
                <a:solidFill>
                  <a:srgbClr val="AA3731"/>
                </a:solidFill>
                <a:latin typeface="Consolas" panose="020B0609020204030204" pitchFamily="49" charset="0"/>
              </a:rPr>
              <a:t>on</a:t>
            </a:r>
            <a:r>
              <a:rPr lang="en-US" sz="1600" dirty="0">
                <a:solidFill>
                  <a:srgbClr val="777777"/>
                </a:solidFill>
                <a:latin typeface="Consolas" panose="020B0609020204030204" pitchFamily="49" charset="0"/>
              </a:rPr>
              <a:t>('</a:t>
            </a:r>
            <a:r>
              <a:rPr lang="en-US" sz="1600" dirty="0">
                <a:solidFill>
                  <a:srgbClr val="448C27"/>
                </a:solidFill>
                <a:latin typeface="Consolas" panose="020B0609020204030204" pitchFamily="49" charset="0"/>
              </a:rPr>
              <a:t>categories</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pPr lvl="0"/>
            <a:r>
              <a:rPr lang="fr-FR" sz="1600" i="1" dirty="0">
                <a:solidFill>
                  <a:srgbClr val="AAAAAA"/>
                </a:solidFill>
                <a:latin typeface="Consolas" panose="020B0609020204030204" pitchFamily="49" charset="0"/>
              </a:rPr>
              <a:t>                                           //-&gt;</a:t>
            </a:r>
            <a:r>
              <a:rPr lang="fr-FR" sz="1600" i="1" dirty="0" err="1">
                <a:solidFill>
                  <a:srgbClr val="AAAAAA"/>
                </a:solidFill>
                <a:latin typeface="Consolas" panose="020B0609020204030204" pitchFamily="49" charset="0"/>
              </a:rPr>
              <a:t>cascadeOnDelete</a:t>
            </a:r>
            <a:r>
              <a:rPr lang="fr-FR" sz="1600" i="1" dirty="0">
                <a:solidFill>
                  <a:srgbClr val="AAAAAA"/>
                </a:solidFill>
                <a:latin typeface="Consolas" panose="020B0609020204030204" pitchFamily="49" charset="0"/>
              </a:rPr>
              <a:t>()</a:t>
            </a:r>
            <a:endParaRPr lang="fr-FR" sz="1600" dirty="0">
              <a:solidFill>
                <a:srgbClr val="333333"/>
              </a:solidFill>
              <a:latin typeface="Consolas" panose="020B0609020204030204" pitchFamily="49" charset="0"/>
            </a:endParaRPr>
          </a:p>
          <a:p>
            <a:pPr lvl="0"/>
            <a:r>
              <a:rPr lang="fr-FR" sz="1600" dirty="0">
                <a:solidFill>
                  <a:srgbClr val="777777"/>
                </a:solidFill>
                <a:latin typeface="Consolas" panose="020B0609020204030204" pitchFamily="49" charset="0"/>
              </a:rPr>
              <a:t>                                           </a:t>
            </a:r>
            <a:r>
              <a:rPr lang="fr-FR" sz="1600" i="1" dirty="0">
                <a:solidFill>
                  <a:srgbClr val="AAAAAA"/>
                </a:solidFill>
                <a:latin typeface="Consolas" panose="020B0609020204030204" pitchFamily="49" charset="0"/>
              </a:rPr>
              <a:t>//-&gt;</a:t>
            </a:r>
            <a:r>
              <a:rPr lang="fr-FR" sz="1600" i="1" dirty="0" err="1">
                <a:solidFill>
                  <a:srgbClr val="AAAAAA"/>
                </a:solidFill>
                <a:latin typeface="Consolas" panose="020B0609020204030204" pitchFamily="49" charset="0"/>
              </a:rPr>
              <a:t>cascadeOnUpdate</a:t>
            </a:r>
            <a:r>
              <a:rPr lang="fr-FR" sz="1600" i="1" dirty="0">
                <a:solidFill>
                  <a:srgbClr val="AAAAAA"/>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-&gt;</a:t>
            </a:r>
            <a:r>
              <a:rPr lang="en-US" sz="1600" b="1" dirty="0" err="1">
                <a:solidFill>
                  <a:srgbClr val="AA3731"/>
                </a:solidFill>
                <a:latin typeface="Consolas" panose="020B0609020204030204" pitchFamily="49" charset="0"/>
              </a:rPr>
              <a:t>onDelete</a:t>
            </a:r>
            <a:r>
              <a:rPr lang="en-US" sz="1600" dirty="0">
                <a:solidFill>
                  <a:srgbClr val="777777"/>
                </a:solidFill>
                <a:latin typeface="Consolas" panose="020B0609020204030204" pitchFamily="49" charset="0"/>
              </a:rPr>
              <a:t>('</a:t>
            </a:r>
            <a:r>
              <a:rPr lang="en-US" sz="1600" dirty="0">
                <a:solidFill>
                  <a:srgbClr val="448C27"/>
                </a:solidFill>
                <a:latin typeface="Consolas" panose="020B0609020204030204" pitchFamily="49" charset="0"/>
              </a:rPr>
              <a:t>restrict</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-&gt;</a:t>
            </a:r>
            <a:r>
              <a:rPr lang="en-US" sz="1600" b="1" dirty="0" err="1">
                <a:solidFill>
                  <a:srgbClr val="AA3731"/>
                </a:solidFill>
                <a:latin typeface="Consolas" panose="020B0609020204030204" pitchFamily="49" charset="0"/>
              </a:rPr>
              <a:t>onUpdate</a:t>
            </a:r>
            <a:r>
              <a:rPr lang="en-US" sz="1600" dirty="0">
                <a:solidFill>
                  <a:srgbClr val="777777"/>
                </a:solidFill>
                <a:latin typeface="Consolas" panose="020B0609020204030204" pitchFamily="49" charset="0"/>
              </a:rPr>
              <a:t>('</a:t>
            </a:r>
            <a:r>
              <a:rPr lang="en-US" sz="1600" dirty="0">
                <a:solidFill>
                  <a:srgbClr val="448C27"/>
                </a:solidFill>
                <a:latin typeface="Consolas" panose="020B0609020204030204" pitchFamily="49" charset="0"/>
              </a:rPr>
              <a:t>restrict</a:t>
            </a:r>
            <a:r>
              <a:rPr lang="en-US"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p>
          <a:p>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239290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Créer des clés étrangères à l'aide de migrations</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b="1" dirty="0">
                <a:solidFill>
                  <a:schemeClr val="tx1"/>
                </a:solidFill>
                <a:latin typeface="Times New Roman" panose="02020603050405020304" pitchFamily="18" charset="0"/>
                <a:cs typeface="Times New Roman" panose="02020603050405020304" pitchFamily="18" charset="0"/>
              </a:rPr>
              <a:t>La table films ( 2 </a:t>
            </a:r>
            <a:r>
              <a:rPr lang="fr-FR" sz="2000" b="1" baseline="30000" dirty="0">
                <a:solidFill>
                  <a:schemeClr val="tx1"/>
                </a:solidFill>
                <a:latin typeface="Times New Roman" panose="02020603050405020304" pitchFamily="18" charset="0"/>
                <a:cs typeface="Times New Roman" panose="02020603050405020304" pitchFamily="18" charset="0"/>
              </a:rPr>
              <a:t>-ème</a:t>
            </a:r>
            <a:r>
              <a:rPr lang="fr-FR" sz="2000" b="1" dirty="0">
                <a:solidFill>
                  <a:schemeClr val="tx1"/>
                </a:solidFill>
                <a:latin typeface="Times New Roman" panose="02020603050405020304" pitchFamily="18" charset="0"/>
                <a:cs typeface="Times New Roman" panose="02020603050405020304" pitchFamily="18" charset="0"/>
              </a:rPr>
              <a:t> façon ) </a:t>
            </a:r>
            <a:r>
              <a:rPr lang="fr-FR" sz="1800" i="1" dirty="0">
                <a:solidFill>
                  <a:schemeClr val="tx1"/>
                </a:solidFill>
                <a:latin typeface="Times New Roman" panose="02020603050405020304" pitchFamily="18" charset="0"/>
                <a:cs typeface="Times New Roman" panose="02020603050405020304" pitchFamily="18" charset="0"/>
              </a:rPr>
              <a:t>a partir de laravel 8 et plus</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750894" y="3233393"/>
            <a:ext cx="7920880" cy="329195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up</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err="1">
                <a:solidFill>
                  <a:srgbClr val="AA3731"/>
                </a:solidFill>
                <a:latin typeface="Consolas" panose="020B0609020204030204" pitchFamily="49" charset="0"/>
              </a:rPr>
              <a:t>disableForeignKeyConstraints</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err="1">
                <a:solidFill>
                  <a:srgbClr val="AA3731"/>
                </a:solidFill>
                <a:latin typeface="Consolas" panose="020B0609020204030204" pitchFamily="49" charset="0"/>
              </a:rPr>
              <a:t>create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films</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Blueprint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foreignId</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category_id</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constrained</a:t>
            </a:r>
            <a:r>
              <a:rPr lang="fr-FR" sz="1600" dirty="0">
                <a:solidFill>
                  <a:srgbClr val="777777"/>
                </a:solidFill>
                <a:latin typeface="Consolas" panose="020B0609020204030204" pitchFamily="49" charset="0"/>
              </a:rPr>
              <a:t>()</a:t>
            </a:r>
          </a:p>
          <a:p>
            <a:r>
              <a:rPr lang="fr-FR" sz="1600" i="1" dirty="0">
                <a:solidFill>
                  <a:srgbClr val="AAAAAA"/>
                </a:solidFill>
                <a:latin typeface="Consolas" panose="020B0609020204030204" pitchFamily="49" charset="0"/>
              </a:rPr>
              <a:t>                                        //-&gt;</a:t>
            </a:r>
            <a:r>
              <a:rPr lang="fr-FR" sz="1600" i="1" dirty="0" err="1">
                <a:solidFill>
                  <a:srgbClr val="AAAAAA"/>
                </a:solidFill>
                <a:latin typeface="Consolas" panose="020B0609020204030204" pitchFamily="49" charset="0"/>
              </a:rPr>
              <a:t>cascadeOnDelete</a:t>
            </a:r>
            <a:r>
              <a:rPr lang="fr-FR" sz="1600" i="1" dirty="0">
                <a:solidFill>
                  <a:srgbClr val="AAAAAA"/>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777777"/>
                </a:solidFill>
                <a:latin typeface="Consolas" panose="020B0609020204030204" pitchFamily="49" charset="0"/>
              </a:rPr>
              <a:t>                                        </a:t>
            </a:r>
            <a:r>
              <a:rPr lang="fr-FR" sz="1600" i="1" dirty="0">
                <a:solidFill>
                  <a:srgbClr val="AAAAAA"/>
                </a:solidFill>
                <a:latin typeface="Consolas" panose="020B0609020204030204" pitchFamily="49" charset="0"/>
              </a:rPr>
              <a:t>//-&gt;</a:t>
            </a:r>
            <a:r>
              <a:rPr lang="fr-FR" sz="1600" i="1" dirty="0" err="1">
                <a:solidFill>
                  <a:srgbClr val="AAAAAA"/>
                </a:solidFill>
                <a:latin typeface="Consolas" panose="020B0609020204030204" pitchFamily="49" charset="0"/>
              </a:rPr>
              <a:t>cascadeOnUpdate</a:t>
            </a:r>
            <a:r>
              <a:rPr lang="fr-FR" sz="1600" i="1" dirty="0">
                <a:solidFill>
                  <a:srgbClr val="AAAAAA"/>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onUpdate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restrict</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onDelete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restrict</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p>
          <a:p>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777777"/>
                </a:solidFill>
                <a:latin typeface="Consolas" panose="020B0609020204030204" pitchFamily="49" charset="0"/>
              </a:rPr>
              <a:t>}</a:t>
            </a:r>
            <a:br>
              <a:rPr lang="fr-FR" sz="1600" dirty="0">
                <a:solidFill>
                  <a:srgbClr val="333333"/>
                </a:solidFill>
                <a:latin typeface="Consolas" panose="020B0609020204030204" pitchFamily="49" charset="0"/>
              </a:rPr>
            </a:b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295975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Créer des clés étrangères à l'aide de migrations</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Dans la table films on déclare une clé étrangère nommée </a:t>
            </a:r>
            <a:r>
              <a:rPr lang="fr-FR" sz="2000" b="1" dirty="0" err="1">
                <a:solidFill>
                  <a:schemeClr val="tx1"/>
                </a:solidFill>
                <a:latin typeface="Times New Roman" panose="02020603050405020304" pitchFamily="18" charset="0"/>
                <a:cs typeface="Times New Roman" panose="02020603050405020304" pitchFamily="18" charset="0"/>
              </a:rPr>
              <a:t>category_id</a:t>
            </a:r>
            <a:r>
              <a:rPr lang="fr-FR" sz="2000" b="1" dirty="0">
                <a:solidFill>
                  <a:schemeClr val="tx1"/>
                </a:solidFill>
                <a:latin typeface="Times New Roman" panose="02020603050405020304" pitchFamily="18" charset="0"/>
                <a:cs typeface="Times New Roman" panose="02020603050405020304" pitchFamily="18" charset="0"/>
              </a:rPr>
              <a:t> </a:t>
            </a:r>
            <a:r>
              <a:rPr lang="fr-FR" sz="2000" dirty="0">
                <a:solidFill>
                  <a:schemeClr val="tx1"/>
                </a:solidFill>
                <a:latin typeface="Times New Roman" panose="02020603050405020304" pitchFamily="18" charset="0"/>
                <a:cs typeface="Times New Roman" panose="02020603050405020304" pitchFamily="18" charset="0"/>
              </a:rPr>
              <a:t>qui référence la colonne </a:t>
            </a:r>
            <a:r>
              <a:rPr lang="fr-FR" sz="2000" b="1" dirty="0">
                <a:solidFill>
                  <a:schemeClr val="tx1"/>
                </a:solidFill>
                <a:latin typeface="Times New Roman" panose="02020603050405020304" pitchFamily="18" charset="0"/>
                <a:cs typeface="Times New Roman" panose="02020603050405020304" pitchFamily="18" charset="0"/>
              </a:rPr>
              <a:t>id</a:t>
            </a:r>
            <a:r>
              <a:rPr lang="fr-FR" sz="2000" dirty="0">
                <a:solidFill>
                  <a:schemeClr val="tx1"/>
                </a:solidFill>
                <a:latin typeface="Times New Roman" panose="02020603050405020304" pitchFamily="18" charset="0"/>
                <a:cs typeface="Times New Roman" panose="02020603050405020304" pitchFamily="18" charset="0"/>
              </a:rPr>
              <a:t> dans la table </a:t>
            </a:r>
            <a:r>
              <a:rPr lang="fr-FR" sz="2000" b="1" dirty="0" err="1">
                <a:solidFill>
                  <a:schemeClr val="tx1"/>
                </a:solidFill>
                <a:latin typeface="Times New Roman" panose="02020603050405020304" pitchFamily="18" charset="0"/>
                <a:cs typeface="Times New Roman" panose="02020603050405020304" pitchFamily="18" charset="0"/>
              </a:rPr>
              <a:t>categories</a:t>
            </a:r>
            <a:r>
              <a:rPr lang="fr-FR" sz="2000" dirty="0">
                <a:solidFill>
                  <a:schemeClr val="tx1"/>
                </a:solidFill>
                <a:latin typeface="Times New Roman" panose="02020603050405020304" pitchFamily="18" charset="0"/>
                <a:cs typeface="Times New Roman" panose="02020603050405020304" pitchFamily="18" charset="0"/>
              </a:rPr>
              <a:t>. </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La méthode </a:t>
            </a:r>
            <a:r>
              <a:rPr lang="fr-FR" sz="2000" b="1" dirty="0" err="1">
                <a:solidFill>
                  <a:schemeClr val="tx1"/>
                </a:solidFill>
                <a:latin typeface="Times New Roman" panose="02020603050405020304" pitchFamily="18" charset="0"/>
                <a:cs typeface="Times New Roman" panose="02020603050405020304" pitchFamily="18" charset="0"/>
              </a:rPr>
              <a:t>foreignId</a:t>
            </a:r>
            <a:r>
              <a:rPr lang="fr-FR" sz="2000" dirty="0">
                <a:solidFill>
                  <a:schemeClr val="tx1"/>
                </a:solidFill>
                <a:latin typeface="Times New Roman" panose="02020603050405020304" pitchFamily="18" charset="0"/>
                <a:cs typeface="Times New Roman" panose="02020603050405020304" pitchFamily="18" charset="0"/>
              </a:rPr>
              <a:t> crée une colonne de type </a:t>
            </a:r>
            <a:r>
              <a:rPr lang="fr-FR" sz="2000" b="1" dirty="0">
                <a:solidFill>
                  <a:schemeClr val="tx1"/>
                </a:solidFill>
                <a:latin typeface="Times New Roman" panose="02020603050405020304" pitchFamily="18" charset="0"/>
                <a:cs typeface="Times New Roman" panose="02020603050405020304" pitchFamily="18" charset="0"/>
              </a:rPr>
              <a:t>UNSIGNED BIGINT</a:t>
            </a:r>
            <a:r>
              <a:rPr lang="fr-FR" sz="2000" dirty="0">
                <a:solidFill>
                  <a:schemeClr val="tx1"/>
                </a:solidFill>
                <a:latin typeface="Times New Roman" panose="02020603050405020304" pitchFamily="18" charset="0"/>
                <a:cs typeface="Times New Roman" panose="02020603050405020304" pitchFamily="18" charset="0"/>
              </a:rPr>
              <a:t>. La méthode </a:t>
            </a:r>
            <a:r>
              <a:rPr lang="fr-FR" sz="2000" b="1" dirty="0" err="1">
                <a:solidFill>
                  <a:schemeClr val="tx1"/>
                </a:solidFill>
                <a:latin typeface="Times New Roman" panose="02020603050405020304" pitchFamily="18" charset="0"/>
                <a:cs typeface="Times New Roman" panose="02020603050405020304" pitchFamily="18" charset="0"/>
              </a:rPr>
              <a:t>constrained</a:t>
            </a:r>
            <a:r>
              <a:rPr lang="fr-FR" sz="2000" dirty="0">
                <a:solidFill>
                  <a:schemeClr val="tx1"/>
                </a:solidFill>
                <a:latin typeface="Times New Roman" panose="02020603050405020304" pitchFamily="18" charset="0"/>
                <a:cs typeface="Times New Roman" panose="02020603050405020304" pitchFamily="18" charset="0"/>
              </a:rPr>
              <a:t> utilise les conventions de Laravel pour déterminer le nom de la table référencée, ici c’est </a:t>
            </a:r>
            <a:r>
              <a:rPr lang="fr-FR" sz="2000" b="1" dirty="0" err="1">
                <a:solidFill>
                  <a:schemeClr val="tx1"/>
                </a:solidFill>
                <a:latin typeface="Times New Roman" panose="02020603050405020304" pitchFamily="18" charset="0"/>
                <a:cs typeface="Times New Roman" panose="02020603050405020304" pitchFamily="18" charset="0"/>
              </a:rPr>
              <a:t>categories</a:t>
            </a:r>
            <a:r>
              <a:rPr lang="fr-FR" sz="20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En cas de suppression (</a:t>
            </a:r>
            <a:r>
              <a:rPr lang="fr-FR" sz="2000" b="1" dirty="0" err="1">
                <a:solidFill>
                  <a:schemeClr val="tx1"/>
                </a:solidFill>
                <a:latin typeface="Times New Roman" panose="02020603050405020304" pitchFamily="18" charset="0"/>
                <a:cs typeface="Times New Roman" panose="02020603050405020304" pitchFamily="18" charset="0"/>
              </a:rPr>
              <a:t>onDelete</a:t>
            </a:r>
            <a:r>
              <a:rPr lang="fr-FR" sz="2000" dirty="0">
                <a:solidFill>
                  <a:schemeClr val="tx1"/>
                </a:solidFill>
                <a:latin typeface="Times New Roman" panose="02020603050405020304" pitchFamily="18" charset="0"/>
                <a:cs typeface="Times New Roman" panose="02020603050405020304" pitchFamily="18" charset="0"/>
              </a:rPr>
              <a:t>) ou de modification (</a:t>
            </a:r>
            <a:r>
              <a:rPr lang="fr-FR" sz="2000" b="1" dirty="0" err="1">
                <a:solidFill>
                  <a:schemeClr val="tx1"/>
                </a:solidFill>
                <a:latin typeface="Times New Roman" panose="02020603050405020304" pitchFamily="18" charset="0"/>
                <a:cs typeface="Times New Roman" panose="02020603050405020304" pitchFamily="18" charset="0"/>
              </a:rPr>
              <a:t>onUpdate</a:t>
            </a:r>
            <a:r>
              <a:rPr lang="fr-FR" sz="2000" dirty="0">
                <a:solidFill>
                  <a:schemeClr val="tx1"/>
                </a:solidFill>
                <a:latin typeface="Times New Roman" panose="02020603050405020304" pitchFamily="18" charset="0"/>
                <a:cs typeface="Times New Roman" panose="02020603050405020304" pitchFamily="18" charset="0"/>
              </a:rPr>
              <a:t>) on a une restriction (</a:t>
            </a:r>
            <a:r>
              <a:rPr lang="fr-FR" sz="2000" b="1" dirty="0" err="1">
                <a:solidFill>
                  <a:schemeClr val="tx1"/>
                </a:solidFill>
                <a:latin typeface="Times New Roman" panose="02020603050405020304" pitchFamily="18" charset="0"/>
                <a:cs typeface="Times New Roman" panose="02020603050405020304" pitchFamily="18" charset="0"/>
              </a:rPr>
              <a:t>restrict</a:t>
            </a:r>
            <a:r>
              <a:rPr lang="fr-FR" sz="20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Une autre possibilité est </a:t>
            </a:r>
            <a:r>
              <a:rPr lang="fr-FR" sz="2000" b="1" dirty="0">
                <a:solidFill>
                  <a:schemeClr val="tx1"/>
                </a:solidFill>
                <a:latin typeface="Times New Roman" panose="02020603050405020304" pitchFamily="18" charset="0"/>
                <a:cs typeface="Times New Roman" panose="02020603050405020304" pitchFamily="18" charset="0"/>
              </a:rPr>
              <a:t>cascade</a:t>
            </a:r>
            <a:r>
              <a:rPr lang="fr-FR" sz="2000" dirty="0">
                <a:solidFill>
                  <a:schemeClr val="tx1"/>
                </a:solidFill>
                <a:latin typeface="Times New Roman" panose="02020603050405020304" pitchFamily="18" charset="0"/>
                <a:cs typeface="Times New Roman" panose="02020603050405020304" pitchFamily="18" charset="0"/>
              </a:rPr>
              <a:t> à la place de </a:t>
            </a:r>
            <a:r>
              <a:rPr lang="fr-FR" sz="2000" b="1" dirty="0" err="1">
                <a:solidFill>
                  <a:schemeClr val="tx1"/>
                </a:solidFill>
                <a:latin typeface="Times New Roman" panose="02020603050405020304" pitchFamily="18" charset="0"/>
                <a:cs typeface="Times New Roman" panose="02020603050405020304" pitchFamily="18" charset="0"/>
              </a:rPr>
              <a:t>restrict</a:t>
            </a:r>
            <a:r>
              <a:rPr lang="fr-FR" sz="2000" dirty="0">
                <a:solidFill>
                  <a:schemeClr val="tx1"/>
                </a:solidFill>
                <a:latin typeface="Times New Roman" panose="02020603050405020304" pitchFamily="18" charset="0"/>
                <a:cs typeface="Times New Roman" panose="02020603050405020304" pitchFamily="18" charset="0"/>
              </a:rPr>
              <a:t>. </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Dans ce cas si vous supprimez une catégorie ça supprimera en cascade les films de cette catégorie.</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1614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Gestion de Migration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Créer des clés étrangères à l'aide de migrations</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Les migrations sont effectuées dans l’ordre alphabétique, ce qui peut générer un problème avec les clés étrangères. Si la table référencée est créée après.</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C’est pour cette raison que j’ai ajouté cette ligne dans la migration :</a:t>
            </a:r>
          </a:p>
          <a:p>
            <a:pPr marL="400050" lvl="1" indent="0">
              <a:buNone/>
            </a:pPr>
            <a:r>
              <a:rPr lang="fr-FR" sz="2000" b="1" dirty="0" err="1">
                <a:solidFill>
                  <a:srgbClr val="7A3E9D"/>
                </a:solidFill>
                <a:latin typeface="Consolas" panose="020B0609020204030204" pitchFamily="49" charset="0"/>
              </a:rPr>
              <a:t>Schema</a:t>
            </a:r>
            <a:r>
              <a:rPr lang="fr-FR" sz="2000" dirty="0">
                <a:solidFill>
                  <a:srgbClr val="777777"/>
                </a:solidFill>
                <a:latin typeface="Consolas" panose="020B0609020204030204" pitchFamily="49" charset="0"/>
              </a:rPr>
              <a:t>::</a:t>
            </a:r>
            <a:r>
              <a:rPr lang="fr-FR" sz="2000" b="1" dirty="0" err="1">
                <a:solidFill>
                  <a:srgbClr val="AA3731"/>
                </a:solidFill>
                <a:latin typeface="Consolas" panose="020B0609020204030204" pitchFamily="49" charset="0"/>
              </a:rPr>
              <a:t>disableForeignKeyConstraints</a:t>
            </a:r>
            <a:r>
              <a:rPr lang="fr-FR" sz="2000" dirty="0">
                <a:solidFill>
                  <a:srgbClr val="777777"/>
                </a:solidFill>
                <a:latin typeface="Consolas" panose="020B0609020204030204" pitchFamily="49" charset="0"/>
              </a:rPr>
              <a:t>();</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On désactive temporairement le contrôle référentiel le temps de créer les tables.</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354918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2229</TotalTime>
  <Words>1790</Words>
  <Application>Microsoft Office PowerPoint</Application>
  <PresentationFormat>Affichage à l'écran (4:3)</PresentationFormat>
  <Paragraphs>270</Paragraphs>
  <Slides>18</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18</vt:i4>
      </vt:variant>
    </vt:vector>
  </HeadingPairs>
  <TitlesOfParts>
    <vt:vector size="27" baseType="lpstr">
      <vt:lpstr>Angsana New</vt:lpstr>
      <vt:lpstr>Arial</vt:lpstr>
      <vt:lpstr>Calibri</vt:lpstr>
      <vt:lpstr>Consolas</vt:lpstr>
      <vt:lpstr>inherit</vt:lpstr>
      <vt:lpstr>Source Code Pro</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252</cp:revision>
  <dcterms:created xsi:type="dcterms:W3CDTF">2011-10-01T12:57:10Z</dcterms:created>
  <dcterms:modified xsi:type="dcterms:W3CDTF">2025-12-20T07:57:03Z</dcterms:modified>
</cp:coreProperties>
</file>